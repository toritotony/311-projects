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Tree Biomass Prediction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b="1" i="1">
                <a:solidFill>
                  <a:srgbClr val="60A0B0"/>
                </a:solidFill>
                <a:latin typeface="Courier"/>
              </a:rPr>
              <a:t>```{r}</a:t>
            </a:r>
            <a:br/>
            <a:r>
              <a:rPr i="1">
                <a:solidFill>
                  <a:srgbClr val="60A0B0"/>
                </a:solidFill>
                <a:latin typeface="Courier"/>
              </a:rPr>
              <a:t># This is a Python-based analysis; set engine via knitr/quarto options if needed</a:t>
            </a:r>
            <a:br/>
            <a:r>
              <a:rPr b="1" i="1">
                <a:solidFill>
                  <a:srgbClr val="60A0B0"/>
                </a:solidFill>
                <a:latin typeface="Courier"/>
              </a:rPr>
              <a:t>```</a:t>
            </a:r>
          </a:p>
          <a:p>
            <a:pPr lvl="0" indent="0" marL="0">
              <a:spcBef>
                <a:spcPts val="3000"/>
              </a:spcBef>
              <a:buNone/>
            </a:pPr>
            <a:r>
              <a:rPr b="1"/>
              <a:t>Overview</a:t>
            </a:r>
          </a:p>
          <a:p>
            <a:pPr lvl="0" indent="0" marL="0">
              <a:buNone/>
            </a:pPr>
            <a:r>
              <a:rPr/>
              <a:t>This document implements </a:t>
            </a:r>
            <a:r>
              <a:rPr b="1"/>
              <a:t>only the LR3 linear regression model</a:t>
            </a:r>
            <a:r>
              <a:rPr/>
              <a:t> for predicting tree dry wood biomass (TT_DW_CRM) from diameter at breast height (DO_BH), total height (HT_TOT), and species (SPCD).</a:t>
            </a:r>
          </a:p>
          <a:p>
            <a:pPr lvl="0" indent="0" marL="0">
              <a:buNone/>
            </a:pPr>
            <a:r>
              <a:rPr/>
              <a:t>Key LR3 design choices:</a:t>
            </a:r>
          </a:p>
          <a:p>
            <a:pPr lvl="0"/>
            <a:r>
              <a:rPr/>
              <a:t>Response: TT_DW_CRM centered and scaled (z-score)</a:t>
            </a:r>
          </a:p>
          <a:p>
            <a:pPr lvl="0"/>
            <a:r>
              <a:rPr/>
              <a:t>Predictors: DO_BH, HT_TOT, DO_BH^2, DO_BH^3, and one-hot encoded species</a:t>
            </a:r>
          </a:p>
          <a:p>
            <a:pPr lvl="0"/>
            <a:r>
              <a:rPr/>
              <a:t>Scaling: Standardization of numerical predictors</a:t>
            </a:r>
          </a:p>
          <a:p>
            <a:pPr lvl="0"/>
            <a:r>
              <a:rPr/>
              <a:t>Model: Ordinary Least Squares (no regularization)</a:t>
            </a:r>
          </a:p>
          <a:p>
            <a:pPr lvl="0" indent="0" marL="0">
              <a:spcBef>
                <a:spcPts val="3000"/>
              </a:spcBef>
              <a:buNone/>
            </a:pPr>
            <a:r>
              <a:rPr b="1"/>
              <a:t>Setup</a:t>
            </a:r>
          </a:p>
          <a:p>
            <a:pPr lvl="0" indent="0">
              <a:buNone/>
            </a:pPr>
            <a:r>
              <a:rPr b="1">
                <a:solidFill>
                  <a:srgbClr val="008000"/>
                </a:solidFill>
                <a:latin typeface="Courier"/>
              </a:rPr>
              <a:t>import</a:t>
            </a:r>
            <a:r>
              <a:rPr>
                <a:latin typeface="Courier"/>
              </a:rPr>
              <a:t> pandas </a:t>
            </a:r>
            <a:r>
              <a:rPr b="1">
                <a:solidFill>
                  <a:srgbClr val="008000"/>
                </a:solidFill>
                <a:latin typeface="Courier"/>
              </a:rPr>
              <a:t>as</a:t>
            </a:r>
            <a:r>
              <a:rPr>
                <a:latin typeface="Courier"/>
              </a:rPr>
              <a:t> pd</a:t>
            </a:r>
            <a:b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from</a:t>
            </a:r>
            <a:r>
              <a:rPr>
                <a:latin typeface="Courier"/>
              </a:rPr>
              <a:t> pathlib </a:t>
            </a:r>
            <a:r>
              <a:rPr b="1">
                <a:solidFill>
                  <a:srgbClr val="008000"/>
                </a:solidFill>
                <a:latin typeface="Courier"/>
              </a:rPr>
              <a:t>import</a:t>
            </a:r>
            <a:r>
              <a:rPr>
                <a:latin typeface="Courier"/>
              </a:rPr>
              <a:t> Path</a:t>
            </a:r>
            <a:br/>
            <a:r>
              <a:rPr b="1">
                <a:solidFill>
                  <a:srgbClr val="008000"/>
                </a:solidFill>
                <a:latin typeface="Courier"/>
              </a:rPr>
              <a:t>from</a:t>
            </a:r>
            <a:r>
              <a:rPr>
                <a:latin typeface="Courier"/>
              </a:rPr>
              <a:t> sklearn.preprocessing </a:t>
            </a:r>
            <a:r>
              <a:rPr b="1">
                <a:solidFill>
                  <a:srgbClr val="008000"/>
                </a:solidFill>
                <a:latin typeface="Courier"/>
              </a:rPr>
              <a:t>import</a:t>
            </a:r>
            <a:r>
              <a:rPr>
                <a:latin typeface="Courier"/>
              </a:rPr>
              <a:t> StandardScaler</a:t>
            </a:r>
            <a:br/>
            <a:r>
              <a:rPr b="1">
                <a:solidFill>
                  <a:srgbClr val="008000"/>
                </a:solidFill>
                <a:latin typeface="Courier"/>
              </a:rPr>
              <a:t>from</a:t>
            </a:r>
            <a:r>
              <a:rPr>
                <a:latin typeface="Courier"/>
              </a:rPr>
              <a:t> sklearn.linear_model </a:t>
            </a:r>
            <a:r>
              <a:rPr b="1">
                <a:solidFill>
                  <a:srgbClr val="008000"/>
                </a:solidFill>
                <a:latin typeface="Courier"/>
              </a:rPr>
              <a:t>import</a:t>
            </a:r>
            <a:r>
              <a:rPr>
                <a:latin typeface="Courier"/>
              </a:rPr>
              <a:t> LinearRegression</a:t>
            </a:r>
            <a:br/>
            <a:r>
              <a:rPr b="1">
                <a:solidFill>
                  <a:srgbClr val="008000"/>
                </a:solidFill>
                <a:latin typeface="Courier"/>
              </a:rPr>
              <a:t>from</a:t>
            </a:r>
            <a:r>
              <a:rPr>
                <a:latin typeface="Courier"/>
              </a:rPr>
              <a:t> sklearn.metrics </a:t>
            </a:r>
            <a:r>
              <a:rPr b="1">
                <a:solidFill>
                  <a:srgbClr val="008000"/>
                </a:solidFill>
                <a:latin typeface="Courier"/>
              </a:rPr>
              <a:t>import</a:t>
            </a:r>
            <a:r>
              <a:rPr>
                <a:latin typeface="Courier"/>
              </a:rPr>
              <a:t> mean_squared_error, r2_score, mean_absolute_error</a:t>
            </a:r>
            <a:br/>
            <a:br/>
            <a:r>
              <a:rPr>
                <a:latin typeface="Courier"/>
              </a:rPr>
              <a:t>DATA_DIR </a:t>
            </a:r>
            <a:r>
              <a:rPr>
                <a:solidFill>
                  <a:srgbClr val="666666"/>
                </a:solidFill>
                <a:latin typeface="Courier"/>
              </a:rPr>
              <a:t>=</a:t>
            </a:r>
            <a:r>
              <a:rPr>
                <a:latin typeface="Courier"/>
              </a:rPr>
              <a:t> Path(</a:t>
            </a:r>
            <a:r>
              <a:rPr>
                <a:solidFill>
                  <a:srgbClr val="4070A0"/>
                </a:solidFill>
                <a:latin typeface="Courier"/>
              </a:rPr>
              <a:t>"C:\\Users\\aiden\\OneDrive\\Desktop\\Main folder\\School\\Data Science\\411"</a:t>
            </a:r>
            <a:r>
              <a:rPr>
                <a:latin typeface="Courier"/>
              </a:rPr>
              <a:t>)  </a:t>
            </a:r>
            <a:r>
              <a:rPr i="1">
                <a:solidFill>
                  <a:srgbClr val="60A0B0"/>
                </a:solidFill>
                <a:latin typeface="Courier"/>
              </a:rPr>
              <a:t># adjust if needed</a:t>
            </a:r>
          </a:p>
          <a:p>
            <a:pPr lvl="0" indent="0" marL="0">
              <a:spcBef>
                <a:spcPts val="3000"/>
              </a:spcBef>
              <a:buNone/>
            </a:pPr>
            <a:r>
              <a:rPr b="1"/>
              <a:t>Load Data</a:t>
            </a:r>
          </a:p>
          <a:p>
            <a:pPr lvl="0" indent="0" marL="0">
              <a:buNone/>
            </a:pPr>
            <a:r>
              <a:rPr/>
              <a:t>Assumes three CSV files are present in the working directory:</a:t>
            </a:r>
          </a:p>
          <a:p>
            <a:pPr lvl="0"/>
            <a:r>
              <a:rPr>
                <a:latin typeface="Courier"/>
              </a:rPr>
              <a:t>train_biomass.csv</a:t>
            </a:r>
          </a:p>
          <a:p>
            <a:pPr lvl="0"/>
            <a:r>
              <a:rPr>
                <a:latin typeface="Courier"/>
              </a:rPr>
              <a:t>validate_biomass.csv</a:t>
            </a:r>
          </a:p>
          <a:p>
            <a:pPr lvl="0"/>
            <a:r>
              <a:rPr>
                <a:latin typeface="Courier"/>
              </a:rPr>
              <a:t>test_biomass.csv</a:t>
            </a:r>
          </a:p>
          <a:p>
            <a:pPr lvl="0" indent="0">
              <a:buNone/>
            </a:pPr>
            <a:r>
              <a:rPr>
                <a:latin typeface="Courier"/>
              </a:rPr>
              <a:t>train_df </a:t>
            </a:r>
            <a:r>
              <a:rPr>
                <a:solidFill>
                  <a:srgbClr val="666666"/>
                </a:solidFill>
                <a:latin typeface="Courier"/>
              </a:rPr>
              <a:t>=</a:t>
            </a:r>
            <a:r>
              <a:rPr>
                <a:latin typeface="Courier"/>
              </a:rPr>
              <a:t> pd.read_csv(DATA_DIR </a:t>
            </a:r>
            <a:r>
              <a:rPr>
                <a:solidFill>
                  <a:srgbClr val="666666"/>
                </a:solidFill>
                <a:latin typeface="Courier"/>
              </a:rPr>
              <a:t>/</a:t>
            </a:r>
            <a:r>
              <a:rPr>
                <a:latin typeface="Courier"/>
              </a:rPr>
              <a:t> </a:t>
            </a:r>
            <a:r>
              <a:rPr>
                <a:solidFill>
                  <a:srgbClr val="4070A0"/>
                </a:solidFill>
                <a:latin typeface="Courier"/>
              </a:rPr>
              <a:t>'train_biomass.csv'</a:t>
            </a:r>
            <a:r>
              <a:rPr>
                <a:latin typeface="Courier"/>
              </a:rPr>
              <a:t>)</a:t>
            </a:r>
            <a:br/>
            <a:r>
              <a:rPr>
                <a:latin typeface="Courier"/>
              </a:rPr>
              <a:t>val_df   </a:t>
            </a:r>
            <a:r>
              <a:rPr>
                <a:solidFill>
                  <a:srgbClr val="666666"/>
                </a:solidFill>
                <a:latin typeface="Courier"/>
              </a:rPr>
              <a:t>=</a:t>
            </a:r>
            <a:r>
              <a:rPr>
                <a:latin typeface="Courier"/>
              </a:rPr>
              <a:t> pd.read_csv(DATA_DIR </a:t>
            </a:r>
            <a:r>
              <a:rPr>
                <a:solidFill>
                  <a:srgbClr val="666666"/>
                </a:solidFill>
                <a:latin typeface="Courier"/>
              </a:rPr>
              <a:t>/</a:t>
            </a:r>
            <a:r>
              <a:rPr>
                <a:latin typeface="Courier"/>
              </a:rPr>
              <a:t> </a:t>
            </a:r>
            <a:r>
              <a:rPr>
                <a:solidFill>
                  <a:srgbClr val="4070A0"/>
                </a:solidFill>
                <a:latin typeface="Courier"/>
              </a:rPr>
              <a:t>'validate_biomass.csv'</a:t>
            </a:r>
            <a:r>
              <a:rPr>
                <a:latin typeface="Courier"/>
              </a:rPr>
              <a:t>)</a:t>
            </a:r>
            <a:br/>
            <a:r>
              <a:rPr>
                <a:latin typeface="Courier"/>
              </a:rPr>
              <a:t>test_df  </a:t>
            </a:r>
            <a:r>
              <a:rPr>
                <a:solidFill>
                  <a:srgbClr val="666666"/>
                </a:solidFill>
                <a:latin typeface="Courier"/>
              </a:rPr>
              <a:t>=</a:t>
            </a:r>
            <a:r>
              <a:rPr>
                <a:latin typeface="Courier"/>
              </a:rPr>
              <a:t> pd.read_csv(DATA_DIR </a:t>
            </a:r>
            <a:r>
              <a:rPr>
                <a:solidFill>
                  <a:srgbClr val="666666"/>
                </a:solidFill>
                <a:latin typeface="Courier"/>
              </a:rPr>
              <a:t>/</a:t>
            </a:r>
            <a:r>
              <a:rPr>
                <a:latin typeface="Courier"/>
              </a:rPr>
              <a:t> </a:t>
            </a:r>
            <a:r>
              <a:rPr>
                <a:solidFill>
                  <a:srgbClr val="4070A0"/>
                </a:solidFill>
                <a:latin typeface="Courier"/>
              </a:rPr>
              <a:t>'test_biomass.csv'</a:t>
            </a:r>
            <a:r>
              <a:rPr>
                <a:latin typeface="Courier"/>
              </a:rPr>
              <a:t>)</a:t>
            </a:r>
            <a:br/>
            <a:br/>
            <a:r>
              <a:rPr i="1">
                <a:solidFill>
                  <a:srgbClr val="60A0B0"/>
                </a:solidFill>
                <a:latin typeface="Courier"/>
              </a:rPr>
              <a:t># Drop index column if present</a:t>
            </a:r>
            <a:br/>
            <a:r>
              <a:rPr b="1">
                <a:solidFill>
                  <a:srgbClr val="007020"/>
                </a:solidFill>
                <a:latin typeface="Courier"/>
              </a:rPr>
              <a:t>for</a:t>
            </a:r>
            <a:r>
              <a:rPr>
                <a:latin typeface="Courier"/>
              </a:rPr>
              <a:t> df </a:t>
            </a:r>
            <a:r>
              <a:rPr b="1">
                <a:solidFill>
                  <a:srgbClr val="007020"/>
                </a:solidFill>
                <a:latin typeface="Courier"/>
              </a:rPr>
              <a:t>in</a:t>
            </a:r>
            <a:r>
              <a:rPr>
                <a:latin typeface="Courier"/>
              </a:rPr>
              <a:t> (train_df, val_df, test_df):</a:t>
            </a:r>
            <a:br/>
            <a:r>
              <a:rPr>
                <a:latin typeface="Courier"/>
              </a:rPr>
              <a:t>    </a:t>
            </a:r>
            <a:r>
              <a:rPr b="1">
                <a:solidFill>
                  <a:srgbClr val="007020"/>
                </a:solidFill>
                <a:latin typeface="Courier"/>
              </a:rPr>
              <a:t>if</a:t>
            </a:r>
            <a:r>
              <a:rPr>
                <a:latin typeface="Courier"/>
              </a:rPr>
              <a:t> </a:t>
            </a:r>
            <a:r>
              <a:rPr>
                <a:solidFill>
                  <a:srgbClr val="4070A0"/>
                </a:solidFill>
                <a:latin typeface="Courier"/>
              </a:rPr>
              <a:t>'Unnamed: 0'</a:t>
            </a:r>
            <a:r>
              <a:rPr>
                <a:latin typeface="Courier"/>
              </a:rPr>
              <a:t> </a:t>
            </a:r>
            <a:r>
              <a:rPr b="1">
                <a:solidFill>
                  <a:srgbClr val="007020"/>
                </a:solidFill>
                <a:latin typeface="Courier"/>
              </a:rPr>
              <a:t>in</a:t>
            </a:r>
            <a:r>
              <a:rPr>
                <a:latin typeface="Courier"/>
              </a:rPr>
              <a:t> df.columns:</a:t>
            </a:r>
            <a:br/>
            <a:r>
              <a:rPr>
                <a:latin typeface="Courier"/>
              </a:rPr>
              <a:t>        df.drop(columns</a:t>
            </a:r>
            <a:r>
              <a:rPr>
                <a:solidFill>
                  <a:srgbClr val="666666"/>
                </a:solidFill>
                <a:latin typeface="Courier"/>
              </a:rPr>
              <a:t>=</a:t>
            </a:r>
            <a:r>
              <a:rPr>
                <a:latin typeface="Courier"/>
              </a:rPr>
              <a:t>[</a:t>
            </a:r>
            <a:r>
              <a:rPr>
                <a:solidFill>
                  <a:srgbClr val="4070A0"/>
                </a:solidFill>
                <a:latin typeface="Courier"/>
              </a:rPr>
              <a:t>'Unnamed: 0'</a:t>
            </a:r>
            <a:r>
              <a:rPr>
                <a:latin typeface="Courier"/>
              </a:rPr>
              <a:t>], inplace</a:t>
            </a:r>
            <a:r>
              <a:rPr>
                <a:solidFill>
                  <a:srgbClr val="666666"/>
                </a:solidFill>
                <a:latin typeface="Courier"/>
              </a:rPr>
              <a:t>=</a:t>
            </a:r>
            <a:r>
              <a:rPr>
                <a:solidFill>
                  <a:srgbClr val="19177C"/>
                </a:solidFill>
                <a:latin typeface="Courier"/>
              </a:rPr>
              <a:t>True</a:t>
            </a:r>
            <a:r>
              <a:rPr>
                <a:latin typeface="Courier"/>
              </a:rPr>
              <a:t>)</a:t>
            </a:r>
            <a:br/>
            <a:br/>
            <a:r>
              <a:rPr>
                <a:latin typeface="Courier"/>
              </a:rPr>
              <a:t>train_df.head()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endParaRPr/>
                    </a:p>
                  </a:txBody>
                  <a:tcPr/>
                </a:tc>
                <a:tc>
                  <a:txBody>
                    <a:bodyPr/>
                    <a:lstStyle/>
                    <a:p>
                      <a:pPr lvl="0" indent="0" marL="0">
                        <a:buNone/>
                      </a:pPr>
                      <a:r>
                        <a:rPr/>
                        <a:t>SPCD</a:t>
                      </a:r>
                    </a:p>
                  </a:txBody>
                  <a:tcPr/>
                </a:tc>
                <a:tc>
                  <a:txBody>
                    <a:bodyPr/>
                    <a:lstStyle/>
                    <a:p>
                      <a:pPr lvl="0" indent="0" marL="0">
                        <a:buNone/>
                      </a:pPr>
                      <a:r>
                        <a:rPr/>
                        <a:t>DO_BH</a:t>
                      </a:r>
                    </a:p>
                  </a:txBody>
                  <a:tcPr/>
                </a:tc>
                <a:tc>
                  <a:txBody>
                    <a:bodyPr/>
                    <a:lstStyle/>
                    <a:p>
                      <a:pPr lvl="0" indent="0" marL="0">
                        <a:buNone/>
                      </a:pPr>
                      <a:r>
                        <a:rPr/>
                        <a:t>HT_TOT</a:t>
                      </a:r>
                    </a:p>
                  </a:txBody>
                  <a:tcPr/>
                </a:tc>
                <a:tc>
                  <a:txBody>
                    <a:bodyPr/>
                    <a:lstStyle/>
                    <a:p>
                      <a:pPr lvl="0" indent="0" marL="0">
                        <a:buNone/>
                      </a:pPr>
                      <a:r>
                        <a:rPr/>
                        <a:t>TT_DW_CRM</a:t>
                      </a:r>
                    </a:p>
                  </a:txBody>
                  <a:tcPr/>
                </a:tc>
              </a:tr>
              <a:tr h="0">
                <a:tc>
                  <a:txBody>
                    <a:bodyPr/>
                    <a:lstStyle/>
                    <a:p>
                      <a:pPr lvl="0" indent="0" marL="0">
                        <a:buNone/>
                      </a:pPr>
                      <a:r>
                        <a:rPr/>
                        <a:t>0</a:t>
                      </a:r>
                    </a:p>
                  </a:txBody>
                </a:tc>
                <a:tc>
                  <a:txBody>
                    <a:bodyPr/>
                    <a:lstStyle/>
                    <a:p>
                      <a:pPr lvl="0" indent="0" marL="0">
                        <a:buNone/>
                      </a:pPr>
                      <a:r>
                        <a:rPr/>
                        <a:t>121</a:t>
                      </a:r>
                    </a:p>
                  </a:txBody>
                </a:tc>
                <a:tc>
                  <a:txBody>
                    <a:bodyPr/>
                    <a:lstStyle/>
                    <a:p>
                      <a:pPr lvl="0" indent="0" marL="0">
                        <a:buNone/>
                      </a:pPr>
                      <a:r>
                        <a:rPr/>
                        <a:t>6.4</a:t>
                      </a:r>
                    </a:p>
                  </a:txBody>
                </a:tc>
                <a:tc>
                  <a:txBody>
                    <a:bodyPr/>
                    <a:lstStyle/>
                    <a:p>
                      <a:pPr lvl="0" indent="0" marL="0">
                        <a:buNone/>
                      </a:pPr>
                      <a:r>
                        <a:rPr/>
                        <a:t>46.8</a:t>
                      </a:r>
                    </a:p>
                  </a:txBody>
                </a:tc>
                <a:tc>
                  <a:txBody>
                    <a:bodyPr/>
                    <a:lstStyle/>
                    <a:p>
                      <a:pPr lvl="0" indent="0" marL="0">
                        <a:buNone/>
                      </a:pPr>
                      <a:r>
                        <a:rPr/>
                        <a:t>173.72</a:t>
                      </a:r>
                    </a:p>
                  </a:txBody>
                </a:tc>
              </a:tr>
              <a:tr h="0">
                <a:tc>
                  <a:txBody>
                    <a:bodyPr/>
                    <a:lstStyle/>
                    <a:p>
                      <a:pPr lvl="0" indent="0" marL="0">
                        <a:buNone/>
                      </a:pPr>
                      <a:r>
                        <a:rPr/>
                        <a:t>1</a:t>
                      </a:r>
                    </a:p>
                  </a:txBody>
                </a:tc>
                <a:tc>
                  <a:txBody>
                    <a:bodyPr/>
                    <a:lstStyle/>
                    <a:p>
                      <a:pPr lvl="0" indent="0" marL="0">
                        <a:buNone/>
                      </a:pPr>
                      <a:r>
                        <a:rPr/>
                        <a:t>131</a:t>
                      </a:r>
                    </a:p>
                  </a:txBody>
                </a:tc>
                <a:tc>
                  <a:txBody>
                    <a:bodyPr/>
                    <a:lstStyle/>
                    <a:p>
                      <a:pPr lvl="0" indent="0" marL="0">
                        <a:buNone/>
                      </a:pPr>
                      <a:r>
                        <a:rPr/>
                        <a:t>4.7</a:t>
                      </a:r>
                    </a:p>
                  </a:txBody>
                </a:tc>
                <a:tc>
                  <a:txBody>
                    <a:bodyPr/>
                    <a:lstStyle/>
                    <a:p>
                      <a:pPr lvl="0" indent="0" marL="0">
                        <a:buNone/>
                      </a:pPr>
                      <a:r>
                        <a:rPr/>
                        <a:t>37.5</a:t>
                      </a:r>
                    </a:p>
                  </a:txBody>
                </a:tc>
                <a:tc>
                  <a:txBody>
                    <a:bodyPr/>
                    <a:lstStyle/>
                    <a:p>
                      <a:pPr lvl="0" indent="0" marL="0">
                        <a:buNone/>
                      </a:pPr>
                      <a:r>
                        <a:rPr/>
                        <a:t>57.16</a:t>
                      </a:r>
                    </a:p>
                  </a:txBody>
                </a:tc>
              </a:tr>
              <a:tr h="0">
                <a:tc>
                  <a:txBody>
                    <a:bodyPr/>
                    <a:lstStyle/>
                    <a:p>
                      <a:pPr lvl="0" indent="0" marL="0">
                        <a:buNone/>
                      </a:pPr>
                      <a:r>
                        <a:rPr/>
                        <a:t>2</a:t>
                      </a:r>
                    </a:p>
                  </a:txBody>
                </a:tc>
                <a:tc>
                  <a:txBody>
                    <a:bodyPr/>
                    <a:lstStyle/>
                    <a:p>
                      <a:pPr lvl="0" indent="0" marL="0">
                        <a:buNone/>
                      </a:pPr>
                      <a:r>
                        <a:rPr/>
                        <a:t>121</a:t>
                      </a:r>
                    </a:p>
                  </a:txBody>
                </a:tc>
                <a:tc>
                  <a:txBody>
                    <a:bodyPr/>
                    <a:lstStyle/>
                    <a:p>
                      <a:pPr lvl="0" indent="0" marL="0">
                        <a:buNone/>
                      </a:pPr>
                      <a:r>
                        <a:rPr/>
                        <a:t>8.4</a:t>
                      </a:r>
                    </a:p>
                  </a:txBody>
                </a:tc>
                <a:tc>
                  <a:txBody>
                    <a:bodyPr/>
                    <a:lstStyle/>
                    <a:p>
                      <a:pPr lvl="0" indent="0" marL="0">
                        <a:buNone/>
                      </a:pPr>
                      <a:r>
                        <a:rPr/>
                        <a:t>43.0</a:t>
                      </a:r>
                    </a:p>
                  </a:txBody>
                </a:tc>
                <a:tc>
                  <a:txBody>
                    <a:bodyPr/>
                    <a:lstStyle/>
                    <a:p>
                      <a:pPr lvl="0" indent="0" marL="0">
                        <a:buNone/>
                      </a:pPr>
                      <a:r>
                        <a:rPr/>
                        <a:t>298.13</a:t>
                      </a:r>
                    </a:p>
                  </a:txBody>
                </a:tc>
              </a:tr>
              <a:tr h="0">
                <a:tc>
                  <a:txBody>
                    <a:bodyPr/>
                    <a:lstStyle/>
                    <a:p>
                      <a:pPr lvl="0" indent="0" marL="0">
                        <a:buNone/>
                      </a:pPr>
                      <a:r>
                        <a:rPr/>
                        <a:t>3</a:t>
                      </a:r>
                    </a:p>
                  </a:txBody>
                </a:tc>
                <a:tc>
                  <a:txBody>
                    <a:bodyPr/>
                    <a:lstStyle/>
                    <a:p>
                      <a:pPr lvl="0" indent="0" marL="0">
                        <a:buNone/>
                      </a:pPr>
                      <a:r>
                        <a:rPr/>
                        <a:t>999</a:t>
                      </a:r>
                    </a:p>
                  </a:txBody>
                </a:tc>
                <a:tc>
                  <a:txBody>
                    <a:bodyPr/>
                    <a:lstStyle/>
                    <a:p>
                      <a:pPr lvl="0" indent="0" marL="0">
                        <a:buNone/>
                      </a:pPr>
                      <a:r>
                        <a:rPr/>
                        <a:t>1.1</a:t>
                      </a:r>
                    </a:p>
                  </a:txBody>
                </a:tc>
                <a:tc>
                  <a:txBody>
                    <a:bodyPr/>
                    <a:lstStyle/>
                    <a:p>
                      <a:pPr lvl="0" indent="0" marL="0">
                        <a:buNone/>
                      </a:pPr>
                      <a:r>
                        <a:rPr/>
                        <a:t>10.8</a:t>
                      </a:r>
                    </a:p>
                  </a:txBody>
                </a:tc>
                <a:tc>
                  <a:txBody>
                    <a:bodyPr/>
                    <a:lstStyle/>
                    <a:p>
                      <a:pPr lvl="0" indent="0" marL="0">
                        <a:buNone/>
                      </a:pPr>
                      <a:r>
                        <a:rPr/>
                        <a:t>2.04</a:t>
                      </a:r>
                    </a:p>
                  </a:txBody>
                </a:tc>
              </a:tr>
              <a:tr h="0">
                <a:tc>
                  <a:txBody>
                    <a:bodyPr/>
                    <a:lstStyle/>
                    <a:p>
                      <a:pPr lvl="0" indent="0" marL="0">
                        <a:buNone/>
                      </a:pPr>
                      <a:r>
                        <a:rPr/>
                        <a:t>4</a:t>
                      </a:r>
                    </a:p>
                  </a:txBody>
                </a:tc>
                <a:tc>
                  <a:txBody>
                    <a:bodyPr/>
                    <a:lstStyle/>
                    <a:p>
                      <a:pPr lvl="0" indent="0" marL="0">
                        <a:buNone/>
                      </a:pPr>
                      <a:r>
                        <a:rPr/>
                        <a:t>131</a:t>
                      </a:r>
                    </a:p>
                  </a:txBody>
                </a:tc>
                <a:tc>
                  <a:txBody>
                    <a:bodyPr/>
                    <a:lstStyle/>
                    <a:p>
                      <a:pPr lvl="0" indent="0" marL="0">
                        <a:buNone/>
                      </a:pPr>
                      <a:r>
                        <a:rPr/>
                        <a:t>14.6</a:t>
                      </a:r>
                    </a:p>
                  </a:txBody>
                </a:tc>
                <a:tc>
                  <a:txBody>
                    <a:bodyPr/>
                    <a:lstStyle/>
                    <a:p>
                      <a:pPr lvl="0" indent="0" marL="0">
                        <a:buNone/>
                      </a:pPr>
                      <a:r>
                        <a:rPr/>
                        <a:t>77.6</a:t>
                      </a:r>
                    </a:p>
                  </a:txBody>
                </a:tc>
                <a:tc>
                  <a:txBody>
                    <a:bodyPr/>
                    <a:lstStyle/>
                    <a:p>
                      <a:pPr lvl="0" indent="0" marL="0">
                        <a:buNone/>
                      </a:pPr>
                      <a:r>
                        <a:rPr/>
                        <a:t>1428.85</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Feature Engineering (LR3)</a:t>
            </a:r>
          </a:p>
          <a:p>
            <a:pPr lvl="0" indent="0" marL="0">
              <a:spcBef>
                <a:spcPts val="3000"/>
              </a:spcBef>
              <a:buNone/>
            </a:pPr>
            <a:r>
              <a:rPr b="1"/>
              <a:t>1. Define response and base predictors</a:t>
            </a:r>
          </a:p>
          <a:p>
            <a:pPr lvl="0" indent="0">
              <a:buNone/>
            </a:pPr>
            <a:r>
              <a:rPr>
                <a:latin typeface="Courier"/>
              </a:rPr>
              <a:t>response_col </a:t>
            </a:r>
            <a:r>
              <a:rPr>
                <a:solidFill>
                  <a:srgbClr val="666666"/>
                </a:solidFill>
                <a:latin typeface="Courier"/>
              </a:rPr>
              <a:t>=</a:t>
            </a:r>
            <a:r>
              <a:rPr>
                <a:latin typeface="Courier"/>
              </a:rPr>
              <a:t> </a:t>
            </a:r>
            <a:r>
              <a:rPr>
                <a:solidFill>
                  <a:srgbClr val="4070A0"/>
                </a:solidFill>
                <a:latin typeface="Courier"/>
              </a:rPr>
              <a:t>'TT_DW_CRM'</a:t>
            </a:r>
            <a:br/>
            <a:r>
              <a:rPr>
                <a:latin typeface="Courier"/>
              </a:rPr>
              <a:t>num_cols </a:t>
            </a:r>
            <a:r>
              <a:rPr>
                <a:solidFill>
                  <a:srgbClr val="666666"/>
                </a:solidFill>
                <a:latin typeface="Courier"/>
              </a:rPr>
              <a:t>=</a:t>
            </a:r>
            <a:r>
              <a:rPr>
                <a:latin typeface="Courier"/>
              </a:rPr>
              <a:t> [</a:t>
            </a:r>
            <a:r>
              <a:rPr>
                <a:solidFill>
                  <a:srgbClr val="4070A0"/>
                </a:solidFill>
                <a:latin typeface="Courier"/>
              </a:rPr>
              <a:t>'DO_BH'</a:t>
            </a:r>
            <a:r>
              <a:rPr>
                <a:latin typeface="Courier"/>
              </a:rPr>
              <a:t>, </a:t>
            </a:r>
            <a:r>
              <a:rPr>
                <a:solidFill>
                  <a:srgbClr val="4070A0"/>
                </a:solidFill>
                <a:latin typeface="Courier"/>
              </a:rPr>
              <a:t>'HT_TOT'</a:t>
            </a:r>
            <a:r>
              <a:rPr>
                <a:latin typeface="Courier"/>
              </a:rPr>
              <a:t>]</a:t>
            </a:r>
            <a:br/>
            <a:r>
              <a:rPr>
                <a:latin typeface="Courier"/>
              </a:rPr>
              <a:t>cat_col </a:t>
            </a:r>
            <a:r>
              <a:rPr>
                <a:solidFill>
                  <a:srgbClr val="666666"/>
                </a:solidFill>
                <a:latin typeface="Courier"/>
              </a:rPr>
              <a:t>=</a:t>
            </a:r>
            <a:r>
              <a:rPr>
                <a:latin typeface="Courier"/>
              </a:rPr>
              <a:t> </a:t>
            </a:r>
            <a:r>
              <a:rPr>
                <a:solidFill>
                  <a:srgbClr val="4070A0"/>
                </a:solidFill>
                <a:latin typeface="Courier"/>
              </a:rPr>
              <a:t>'SPCD'</a:t>
            </a:r>
            <a:br/>
            <a:br/>
            <a:r>
              <a:rPr i="1">
                <a:solidFill>
                  <a:srgbClr val="60A0B0"/>
                </a:solidFill>
                <a:latin typeface="Courier"/>
              </a:rPr>
              <a:t># Split into X, y</a:t>
            </a:r>
            <a:br/>
            <a:r>
              <a:rPr>
                <a:latin typeface="Courier"/>
              </a:rPr>
              <a:t>X_train_base </a:t>
            </a:r>
            <a:r>
              <a:rPr>
                <a:solidFill>
                  <a:srgbClr val="666666"/>
                </a:solidFill>
                <a:latin typeface="Courier"/>
              </a:rPr>
              <a:t>=</a:t>
            </a:r>
            <a:r>
              <a:rPr>
                <a:latin typeface="Courier"/>
              </a:rPr>
              <a:t> train_df[[</a:t>
            </a:r>
            <a:r>
              <a:rPr>
                <a:solidFill>
                  <a:srgbClr val="666666"/>
                </a:solidFill>
                <a:latin typeface="Courier"/>
              </a:rPr>
              <a:t>*</a:t>
            </a:r>
            <a:r>
              <a:rPr>
                <a:latin typeface="Courier"/>
              </a:rPr>
              <a:t>num_cols, cat_col]].copy()</a:t>
            </a:r>
            <a:br/>
            <a:r>
              <a:rPr>
                <a:latin typeface="Courier"/>
              </a:rPr>
              <a:t>y_train </a:t>
            </a:r>
            <a:r>
              <a:rPr>
                <a:solidFill>
                  <a:srgbClr val="666666"/>
                </a:solidFill>
                <a:latin typeface="Courier"/>
              </a:rPr>
              <a:t>=</a:t>
            </a:r>
            <a:r>
              <a:rPr>
                <a:latin typeface="Courier"/>
              </a:rPr>
              <a:t> train_df[response_col].astype(</a:t>
            </a:r>
            <a:r>
              <a:rPr>
                <a:solidFill>
                  <a:srgbClr val="008000"/>
                </a:solidFill>
                <a:latin typeface="Courier"/>
              </a:rPr>
              <a:t>float</a:t>
            </a:r>
            <a:r>
              <a:rPr>
                <a:latin typeface="Courier"/>
              </a:rPr>
              <a:t>).copy()</a:t>
            </a:r>
            <a:br/>
            <a:br/>
            <a:r>
              <a:rPr>
                <a:latin typeface="Courier"/>
              </a:rPr>
              <a:t>X_val_base </a:t>
            </a:r>
            <a:r>
              <a:rPr>
                <a:solidFill>
                  <a:srgbClr val="666666"/>
                </a:solidFill>
                <a:latin typeface="Courier"/>
              </a:rPr>
              <a:t>=</a:t>
            </a:r>
            <a:r>
              <a:rPr>
                <a:latin typeface="Courier"/>
              </a:rPr>
              <a:t> val_df[[</a:t>
            </a:r>
            <a:r>
              <a:rPr>
                <a:solidFill>
                  <a:srgbClr val="666666"/>
                </a:solidFill>
                <a:latin typeface="Courier"/>
              </a:rPr>
              <a:t>*</a:t>
            </a:r>
            <a:r>
              <a:rPr>
                <a:latin typeface="Courier"/>
              </a:rPr>
              <a:t>num_cols, cat_col]].copy()</a:t>
            </a:r>
            <a:br/>
            <a:r>
              <a:rPr>
                <a:latin typeface="Courier"/>
              </a:rPr>
              <a:t>y_val </a:t>
            </a:r>
            <a:r>
              <a:rPr>
                <a:solidFill>
                  <a:srgbClr val="666666"/>
                </a:solidFill>
                <a:latin typeface="Courier"/>
              </a:rPr>
              <a:t>=</a:t>
            </a:r>
            <a:r>
              <a:rPr>
                <a:latin typeface="Courier"/>
              </a:rPr>
              <a:t> val_df[response_col].astype(</a:t>
            </a:r>
            <a:r>
              <a:rPr>
                <a:solidFill>
                  <a:srgbClr val="008000"/>
                </a:solidFill>
                <a:latin typeface="Courier"/>
              </a:rPr>
              <a:t>float</a:t>
            </a:r>
            <a:r>
              <a:rPr>
                <a:latin typeface="Courier"/>
              </a:rPr>
              <a:t>).copy()</a:t>
            </a:r>
            <a:br/>
            <a:br/>
            <a:r>
              <a:rPr>
                <a:latin typeface="Courier"/>
              </a:rPr>
              <a:t>X_test_base </a:t>
            </a:r>
            <a:r>
              <a:rPr>
                <a:solidFill>
                  <a:srgbClr val="666666"/>
                </a:solidFill>
                <a:latin typeface="Courier"/>
              </a:rPr>
              <a:t>=</a:t>
            </a:r>
            <a:r>
              <a:rPr>
                <a:latin typeface="Courier"/>
              </a:rPr>
              <a:t> test_df[[</a:t>
            </a:r>
            <a:r>
              <a:rPr>
                <a:solidFill>
                  <a:srgbClr val="666666"/>
                </a:solidFill>
                <a:latin typeface="Courier"/>
              </a:rPr>
              <a:t>*</a:t>
            </a:r>
            <a:r>
              <a:rPr>
                <a:latin typeface="Courier"/>
              </a:rPr>
              <a:t>num_cols, cat_col]].copy()</a:t>
            </a:r>
            <a:br/>
            <a:r>
              <a:rPr>
                <a:latin typeface="Courier"/>
              </a:rPr>
              <a:t>y_test </a:t>
            </a:r>
            <a:r>
              <a:rPr>
                <a:solidFill>
                  <a:srgbClr val="666666"/>
                </a:solidFill>
                <a:latin typeface="Courier"/>
              </a:rPr>
              <a:t>=</a:t>
            </a:r>
            <a:r>
              <a:rPr>
                <a:latin typeface="Courier"/>
              </a:rPr>
              <a:t> test_df[response_col].astype(</a:t>
            </a:r>
            <a:r>
              <a:rPr>
                <a:solidFill>
                  <a:srgbClr val="008000"/>
                </a:solidFill>
                <a:latin typeface="Courier"/>
              </a:rPr>
              <a:t>float</a:t>
            </a:r>
            <a:r>
              <a:rPr>
                <a:latin typeface="Courier"/>
              </a:rPr>
              <a:t>).copy()</a:t>
            </a:r>
          </a:p>
          <a:p>
            <a:pPr lvl="0" indent="0" marL="0">
              <a:spcBef>
                <a:spcPts val="3000"/>
              </a:spcBef>
              <a:buNone/>
            </a:pPr>
            <a:r>
              <a:rPr b="1"/>
              <a:t>2. Response transformation: centering and scaling</a:t>
            </a:r>
          </a:p>
          <a:p>
            <a:pPr lvl="0" indent="0">
              <a:buNone/>
            </a:pPr>
            <a:r>
              <a:rPr i="1">
                <a:solidFill>
                  <a:srgbClr val="60A0B0"/>
                </a:solidFill>
                <a:latin typeface="Courier"/>
              </a:rPr>
              <a:t># Compute mean and std on training response</a:t>
            </a:r>
            <a:br/>
            <a:r>
              <a:rPr>
                <a:latin typeface="Courier"/>
              </a:rPr>
              <a:t>y_mean </a:t>
            </a:r>
            <a:r>
              <a:rPr>
                <a:solidFill>
                  <a:srgbClr val="666666"/>
                </a:solidFill>
                <a:latin typeface="Courier"/>
              </a:rPr>
              <a:t>=</a:t>
            </a:r>
            <a:r>
              <a:rPr>
                <a:latin typeface="Courier"/>
              </a:rPr>
              <a:t> y_train.mean()</a:t>
            </a:r>
            <a:br/>
            <a:r>
              <a:rPr>
                <a:latin typeface="Courier"/>
              </a:rPr>
              <a:t>y_std </a:t>
            </a:r>
            <a:r>
              <a:rPr>
                <a:solidFill>
                  <a:srgbClr val="666666"/>
                </a:solidFill>
                <a:latin typeface="Courier"/>
              </a:rPr>
              <a:t>=</a:t>
            </a:r>
            <a:r>
              <a:rPr>
                <a:latin typeface="Courier"/>
              </a:rPr>
              <a:t> y_train.std(ddof</a:t>
            </a:r>
            <a:r>
              <a:rPr>
                <a:solidFill>
                  <a:srgbClr val="666666"/>
                </a:solidFill>
                <a:latin typeface="Courier"/>
              </a:rPr>
              <a:t>=</a:t>
            </a:r>
            <a:r>
              <a:rPr>
                <a:solidFill>
                  <a:srgbClr val="40A070"/>
                </a:solidFill>
                <a:latin typeface="Courier"/>
              </a:rPr>
              <a:t>0</a:t>
            </a:r>
            <a:r>
              <a:rPr>
                <a:latin typeface="Courier"/>
              </a:rPr>
              <a:t>)</a:t>
            </a:r>
            <a:br/>
            <a:br/>
            <a:r>
              <a:rPr>
                <a:solidFill>
                  <a:srgbClr val="008000"/>
                </a:solidFill>
                <a:latin typeface="Courier"/>
              </a:rPr>
              <a:t>print</a:t>
            </a:r>
            <a:r>
              <a:rPr>
                <a:latin typeface="Courier"/>
              </a:rPr>
              <a:t>(</a:t>
            </a:r>
            <a:r>
              <a:rPr>
                <a:solidFill>
                  <a:srgbClr val="BB6688"/>
                </a:solidFill>
                <a:latin typeface="Courier"/>
              </a:rPr>
              <a:t>f"Training response mean: </a:t>
            </a:r>
            <a:r>
              <a:rPr>
                <a:solidFill>
                  <a:srgbClr val="4070A0"/>
                </a:solidFill>
                <a:latin typeface="Courier"/>
              </a:rPr>
              <a:t>{</a:t>
            </a:r>
            <a:r>
              <a:rPr>
                <a:latin typeface="Courier"/>
              </a:rPr>
              <a:t>y_mean</a:t>
            </a:r>
            <a:r>
              <a:rPr>
                <a:solidFill>
                  <a:srgbClr val="4070A0"/>
                </a:solidFill>
                <a:latin typeface="Courier"/>
              </a:rPr>
              <a:t>:,.2f}</a:t>
            </a:r>
            <a:r>
              <a:rPr>
                <a:solidFill>
                  <a:srgbClr val="BB6688"/>
                </a:solidFill>
                <a:latin typeface="Courier"/>
              </a:rPr>
              <a:t> kg"</a:t>
            </a:r>
            <a:r>
              <a:rPr>
                <a:latin typeface="Courier"/>
              </a:rPr>
              <a:t>)</a:t>
            </a:r>
            <a:br/>
            <a:r>
              <a:rPr>
                <a:solidFill>
                  <a:srgbClr val="008000"/>
                </a:solidFill>
                <a:latin typeface="Courier"/>
              </a:rPr>
              <a:t>print</a:t>
            </a:r>
            <a:r>
              <a:rPr>
                <a:latin typeface="Courier"/>
              </a:rPr>
              <a:t>(</a:t>
            </a:r>
            <a:r>
              <a:rPr>
                <a:solidFill>
                  <a:srgbClr val="BB6688"/>
                </a:solidFill>
                <a:latin typeface="Courier"/>
              </a:rPr>
              <a:t>f"Training response std : </a:t>
            </a:r>
            <a:r>
              <a:rPr>
                <a:solidFill>
                  <a:srgbClr val="4070A0"/>
                </a:solidFill>
                <a:latin typeface="Courier"/>
              </a:rPr>
              <a:t>{</a:t>
            </a:r>
            <a:r>
              <a:rPr>
                <a:latin typeface="Courier"/>
              </a:rPr>
              <a:t>y_std</a:t>
            </a:r>
            <a:r>
              <a:rPr>
                <a:solidFill>
                  <a:srgbClr val="4070A0"/>
                </a:solidFill>
                <a:latin typeface="Courier"/>
              </a:rPr>
              <a:t>:,.2f}</a:t>
            </a:r>
            <a:r>
              <a:rPr>
                <a:solidFill>
                  <a:srgbClr val="BB6688"/>
                </a:solidFill>
                <a:latin typeface="Courier"/>
              </a:rPr>
              <a:t> kg"</a:t>
            </a:r>
            <a:r>
              <a:rPr>
                <a:latin typeface="Courier"/>
              </a:rPr>
              <a:t>)</a:t>
            </a:r>
            <a:br/>
            <a:br/>
            <a:r>
              <a:rPr i="1">
                <a:solidFill>
                  <a:srgbClr val="60A0B0"/>
                </a:solidFill>
                <a:latin typeface="Courier"/>
              </a:rPr>
              <a:t># Standardized response</a:t>
            </a:r>
            <a:br/>
            <a:r>
              <a:rPr>
                <a:latin typeface="Courier"/>
              </a:rPr>
              <a:t>z_train </a:t>
            </a:r>
            <a:r>
              <a:rPr>
                <a:solidFill>
                  <a:srgbClr val="666666"/>
                </a:solidFill>
                <a:latin typeface="Courier"/>
              </a:rPr>
              <a:t>=</a:t>
            </a:r>
            <a:r>
              <a:rPr>
                <a:latin typeface="Courier"/>
              </a:rPr>
              <a:t> (y_train </a:t>
            </a:r>
            <a:r>
              <a:rPr>
                <a:solidFill>
                  <a:srgbClr val="666666"/>
                </a:solidFill>
                <a:latin typeface="Courier"/>
              </a:rPr>
              <a:t>-</a:t>
            </a:r>
            <a:r>
              <a:rPr>
                <a:latin typeface="Courier"/>
              </a:rPr>
              <a:t> y_mean) </a:t>
            </a:r>
            <a:r>
              <a:rPr>
                <a:solidFill>
                  <a:srgbClr val="666666"/>
                </a:solidFill>
                <a:latin typeface="Courier"/>
              </a:rPr>
              <a:t>/</a:t>
            </a:r>
            <a:r>
              <a:rPr>
                <a:latin typeface="Courier"/>
              </a:rPr>
              <a:t> y_std</a:t>
            </a:r>
            <a:br/>
            <a:r>
              <a:rPr>
                <a:latin typeface="Courier"/>
              </a:rPr>
              <a:t>z_val   </a:t>
            </a:r>
            <a:r>
              <a:rPr>
                <a:solidFill>
                  <a:srgbClr val="666666"/>
                </a:solidFill>
                <a:latin typeface="Courier"/>
              </a:rPr>
              <a:t>=</a:t>
            </a:r>
            <a:r>
              <a:rPr>
                <a:latin typeface="Courier"/>
              </a:rPr>
              <a:t> (y_val   </a:t>
            </a:r>
            <a:r>
              <a:rPr>
                <a:solidFill>
                  <a:srgbClr val="666666"/>
                </a:solidFill>
                <a:latin typeface="Courier"/>
              </a:rPr>
              <a:t>-</a:t>
            </a:r>
            <a:r>
              <a:rPr>
                <a:latin typeface="Courier"/>
              </a:rPr>
              <a:t> y_mean) </a:t>
            </a:r>
            <a:r>
              <a:rPr>
                <a:solidFill>
                  <a:srgbClr val="666666"/>
                </a:solidFill>
                <a:latin typeface="Courier"/>
              </a:rPr>
              <a:t>/</a:t>
            </a:r>
            <a:r>
              <a:rPr>
                <a:latin typeface="Courier"/>
              </a:rPr>
              <a:t> y_std</a:t>
            </a:r>
            <a:br/>
            <a:r>
              <a:rPr>
                <a:latin typeface="Courier"/>
              </a:rPr>
              <a:t>z_test  </a:t>
            </a:r>
            <a:r>
              <a:rPr>
                <a:solidFill>
                  <a:srgbClr val="666666"/>
                </a:solidFill>
                <a:latin typeface="Courier"/>
              </a:rPr>
              <a:t>=</a:t>
            </a:r>
            <a:r>
              <a:rPr>
                <a:latin typeface="Courier"/>
              </a:rPr>
              <a:t> (y_test  </a:t>
            </a:r>
            <a:r>
              <a:rPr>
                <a:solidFill>
                  <a:srgbClr val="666666"/>
                </a:solidFill>
                <a:latin typeface="Courier"/>
              </a:rPr>
              <a:t>-</a:t>
            </a:r>
            <a:r>
              <a:rPr>
                <a:latin typeface="Courier"/>
              </a:rPr>
              <a:t> y_mean) </a:t>
            </a:r>
            <a:r>
              <a:rPr>
                <a:solidFill>
                  <a:srgbClr val="666666"/>
                </a:solidFill>
                <a:latin typeface="Courier"/>
              </a:rPr>
              <a:t>/</a:t>
            </a:r>
            <a:r>
              <a:rPr>
                <a:latin typeface="Courier"/>
              </a:rPr>
              <a:t> y_std</a:t>
            </a:r>
          </a:p>
          <a:p>
            <a:pPr lvl="0" indent="0">
              <a:buNone/>
            </a:pPr>
            <a:r>
              <a:rPr>
                <a:latin typeface="Courier"/>
              </a:rPr>
              <a:t>Training response mean: 1,444.75 kg
Training response std : 14,384.37 kg</a:t>
            </a:r>
          </a:p>
          <a:p>
            <a:pPr lvl="0" indent="0" marL="0">
              <a:spcBef>
                <a:spcPts val="3000"/>
              </a:spcBef>
              <a:buNone/>
            </a:pPr>
            <a:r>
              <a:rPr b="1"/>
              <a:t>3. Numerical features: DBH, Height, DBH^2, DBH^3</a:t>
            </a:r>
          </a:p>
          <a:p>
            <a:pPr lvl="0" indent="0">
              <a:buNone/>
            </a:pPr>
            <a:r>
              <a:rPr b="1">
                <a:solidFill>
                  <a:srgbClr val="007020"/>
                </a:solidFill>
                <a:latin typeface="Courier"/>
              </a:rPr>
              <a:t>def</a:t>
            </a:r>
            <a:r>
              <a:rPr>
                <a:latin typeface="Courier"/>
              </a:rPr>
              <a:t> add_dbh_polynomials(df, dbh_col</a:t>
            </a:r>
            <a:r>
              <a:rPr>
                <a:solidFill>
                  <a:srgbClr val="666666"/>
                </a:solidFill>
                <a:latin typeface="Courier"/>
              </a:rPr>
              <a:t>=</a:t>
            </a:r>
            <a:r>
              <a:rPr>
                <a:solidFill>
                  <a:srgbClr val="4070A0"/>
                </a:solidFill>
                <a:latin typeface="Courier"/>
              </a:rPr>
              <a:t>'DO_BH'</a:t>
            </a:r>
            <a:r>
              <a:rPr>
                <a:latin typeface="Courier"/>
              </a:rPr>
              <a:t>):</a:t>
            </a:r>
            <a:br/>
            <a:r>
              <a:rPr>
                <a:latin typeface="Courier"/>
              </a:rPr>
              <a:t>    out </a:t>
            </a:r>
            <a:r>
              <a:rPr>
                <a:solidFill>
                  <a:srgbClr val="666666"/>
                </a:solidFill>
                <a:latin typeface="Courier"/>
              </a:rPr>
              <a:t>=</a:t>
            </a:r>
            <a:r>
              <a:rPr>
                <a:latin typeface="Courier"/>
              </a:rPr>
              <a:t> df.copy()</a:t>
            </a:r>
            <a:br/>
            <a:r>
              <a:rPr>
                <a:latin typeface="Courier"/>
              </a:rPr>
              <a:t>    out[</a:t>
            </a:r>
            <a:r>
              <a:rPr>
                <a:solidFill>
                  <a:srgbClr val="4070A0"/>
                </a:solidFill>
                <a:latin typeface="Courier"/>
              </a:rPr>
              <a:t>'DBH_sq'</a:t>
            </a:r>
            <a:r>
              <a:rPr>
                <a:latin typeface="Courier"/>
              </a:rPr>
              <a:t>] </a:t>
            </a:r>
            <a:r>
              <a:rPr>
                <a:solidFill>
                  <a:srgbClr val="666666"/>
                </a:solidFill>
                <a:latin typeface="Courier"/>
              </a:rPr>
              <a:t>=</a:t>
            </a:r>
            <a:r>
              <a:rPr>
                <a:latin typeface="Courier"/>
              </a:rPr>
              <a:t> out[dbh_col] </a:t>
            </a:r>
            <a:r>
              <a:rPr>
                <a:solidFill>
                  <a:srgbClr val="666666"/>
                </a:solidFill>
                <a:latin typeface="Courier"/>
              </a:rPr>
              <a:t>**</a:t>
            </a:r>
            <a:r>
              <a:rPr>
                <a:latin typeface="Courier"/>
              </a:rPr>
              <a:t> </a:t>
            </a:r>
            <a:r>
              <a:rPr>
                <a:solidFill>
                  <a:srgbClr val="40A070"/>
                </a:solidFill>
                <a:latin typeface="Courier"/>
              </a:rPr>
              <a:t>2</a:t>
            </a:r>
            <a:br/>
            <a:r>
              <a:rPr>
                <a:latin typeface="Courier"/>
              </a:rPr>
              <a:t>    out[</a:t>
            </a:r>
            <a:r>
              <a:rPr>
                <a:solidFill>
                  <a:srgbClr val="4070A0"/>
                </a:solidFill>
                <a:latin typeface="Courier"/>
              </a:rPr>
              <a:t>'DBH_cb'</a:t>
            </a:r>
            <a:r>
              <a:rPr>
                <a:latin typeface="Courier"/>
              </a:rPr>
              <a:t>] </a:t>
            </a:r>
            <a:r>
              <a:rPr>
                <a:solidFill>
                  <a:srgbClr val="666666"/>
                </a:solidFill>
                <a:latin typeface="Courier"/>
              </a:rPr>
              <a:t>=</a:t>
            </a:r>
            <a:r>
              <a:rPr>
                <a:latin typeface="Courier"/>
              </a:rPr>
              <a:t> out[dbh_col] </a:t>
            </a:r>
            <a:r>
              <a:rPr>
                <a:solidFill>
                  <a:srgbClr val="666666"/>
                </a:solidFill>
                <a:latin typeface="Courier"/>
              </a:rPr>
              <a:t>**</a:t>
            </a:r>
            <a:r>
              <a:rPr>
                <a:latin typeface="Courier"/>
              </a:rPr>
              <a:t> </a:t>
            </a:r>
            <a:r>
              <a:rPr>
                <a:solidFill>
                  <a:srgbClr val="40A070"/>
                </a:solidFill>
                <a:latin typeface="Courier"/>
              </a:rPr>
              <a:t>3</a:t>
            </a:r>
            <a:br/>
            <a:r>
              <a:rPr>
                <a:latin typeface="Courier"/>
              </a:rPr>
              <a:t>    </a:t>
            </a:r>
            <a:r>
              <a:rPr b="1">
                <a:solidFill>
                  <a:srgbClr val="007020"/>
                </a:solidFill>
                <a:latin typeface="Courier"/>
              </a:rPr>
              <a:t>return</a:t>
            </a:r>
            <a:r>
              <a:rPr>
                <a:latin typeface="Courier"/>
              </a:rPr>
              <a:t> out</a:t>
            </a:r>
            <a:br/>
            <a:br/>
            <a:r>
              <a:rPr>
                <a:latin typeface="Courier"/>
              </a:rPr>
              <a:t>X_train_num </a:t>
            </a:r>
            <a:r>
              <a:rPr>
                <a:solidFill>
                  <a:srgbClr val="666666"/>
                </a:solidFill>
                <a:latin typeface="Courier"/>
              </a:rPr>
              <a:t>=</a:t>
            </a:r>
            <a:r>
              <a:rPr>
                <a:latin typeface="Courier"/>
              </a:rPr>
              <a:t> add_dbh_polynomials(X_train_base[num_cols])</a:t>
            </a:r>
            <a:br/>
            <a:r>
              <a:rPr>
                <a:latin typeface="Courier"/>
              </a:rPr>
              <a:t>X_val_num   </a:t>
            </a:r>
            <a:r>
              <a:rPr>
                <a:solidFill>
                  <a:srgbClr val="666666"/>
                </a:solidFill>
                <a:latin typeface="Courier"/>
              </a:rPr>
              <a:t>=</a:t>
            </a:r>
            <a:r>
              <a:rPr>
                <a:latin typeface="Courier"/>
              </a:rPr>
              <a:t> add_dbh_polynomials(X_val_base[num_cols])</a:t>
            </a:r>
            <a:br/>
            <a:r>
              <a:rPr>
                <a:latin typeface="Courier"/>
              </a:rPr>
              <a:t>X_test_num  </a:t>
            </a:r>
            <a:r>
              <a:rPr>
                <a:solidFill>
                  <a:srgbClr val="666666"/>
                </a:solidFill>
                <a:latin typeface="Courier"/>
              </a:rPr>
              <a:t>=</a:t>
            </a:r>
            <a:r>
              <a:rPr>
                <a:latin typeface="Courier"/>
              </a:rPr>
              <a:t> add_dbh_polynomials(X_test_base[num_cols])</a:t>
            </a:r>
            <a:br/>
            <a:br/>
            <a:r>
              <a:rPr>
                <a:latin typeface="Courier"/>
              </a:rPr>
              <a:t>num_poly_cols </a:t>
            </a:r>
            <a:r>
              <a:rPr>
                <a:solidFill>
                  <a:srgbClr val="666666"/>
                </a:solidFill>
                <a:latin typeface="Courier"/>
              </a:rPr>
              <a:t>=</a:t>
            </a:r>
            <a:r>
              <a:rPr>
                <a:latin typeface="Courier"/>
              </a:rPr>
              <a:t> </a:t>
            </a:r>
            <a:r>
              <a:rPr>
                <a:solidFill>
                  <a:srgbClr val="008000"/>
                </a:solidFill>
                <a:latin typeface="Courier"/>
              </a:rPr>
              <a:t>list</a:t>
            </a:r>
            <a:r>
              <a:rPr>
                <a:latin typeface="Courier"/>
              </a:rPr>
              <a:t>(X_train_num.columns)</a:t>
            </a:r>
            <a:br/>
            <a:r>
              <a:rPr>
                <a:latin typeface="Courier"/>
              </a:rPr>
              <a:t>num_poly_cols</a:t>
            </a:r>
          </a:p>
          <a:p>
            <a:pPr lvl="0" indent="0">
              <a:buNone/>
            </a:pPr>
            <a:r>
              <a:rPr>
                <a:latin typeface="Courier"/>
              </a:rPr>
              <a:t>['DO_BH', 'HT_TOT', 'DBH_sq', 'DBH_cb']</a:t>
            </a:r>
          </a:p>
          <a:p>
            <a:pPr lvl="0" indent="0" marL="0">
              <a:spcBef>
                <a:spcPts val="3000"/>
              </a:spcBef>
              <a:buNone/>
            </a:pPr>
            <a:r>
              <a:rPr b="1"/>
              <a:t>4. Scale numerical predictors</a:t>
            </a:r>
          </a:p>
          <a:p>
            <a:pPr lvl="0" indent="0">
              <a:buNone/>
            </a:pPr>
            <a:r>
              <a:rPr>
                <a:latin typeface="Courier"/>
              </a:rPr>
              <a:t>num_scaler </a:t>
            </a:r>
            <a:r>
              <a:rPr>
                <a:solidFill>
                  <a:srgbClr val="666666"/>
                </a:solidFill>
                <a:latin typeface="Courier"/>
              </a:rPr>
              <a:t>=</a:t>
            </a:r>
            <a:r>
              <a:rPr>
                <a:latin typeface="Courier"/>
              </a:rPr>
              <a:t> StandardScaler()</a:t>
            </a:r>
            <a:br/>
            <a:br/>
            <a:r>
              <a:rPr>
                <a:latin typeface="Courier"/>
              </a:rPr>
              <a:t>X_train_num_scaled </a:t>
            </a:r>
            <a:r>
              <a:rPr>
                <a:solidFill>
                  <a:srgbClr val="666666"/>
                </a:solidFill>
                <a:latin typeface="Courier"/>
              </a:rPr>
              <a:t>=</a:t>
            </a:r>
            <a:r>
              <a:rPr>
                <a:latin typeface="Courier"/>
              </a:rPr>
              <a:t> pd.DataFrame(</a:t>
            </a:r>
            <a:br/>
            <a:r>
              <a:rPr>
                <a:latin typeface="Courier"/>
              </a:rPr>
              <a:t>    num_scaler.fit_transform(X_train_num),</a:t>
            </a:r>
            <a:br/>
            <a:r>
              <a:rPr>
                <a:latin typeface="Courier"/>
              </a:rPr>
              <a:t>    columns</a:t>
            </a:r>
            <a:r>
              <a:rPr>
                <a:solidFill>
                  <a:srgbClr val="666666"/>
                </a:solidFill>
                <a:latin typeface="Courier"/>
              </a:rPr>
              <a:t>=</a:t>
            </a:r>
            <a:r>
              <a:rPr>
                <a:latin typeface="Courier"/>
              </a:rPr>
              <a:t>num_poly_cols,</a:t>
            </a:r>
            <a:br/>
            <a:r>
              <a:rPr>
                <a:latin typeface="Courier"/>
              </a:rPr>
              <a:t>)</a:t>
            </a:r>
            <a:br/>
            <a:br/>
            <a:r>
              <a:rPr>
                <a:latin typeface="Courier"/>
              </a:rPr>
              <a:t>X_val_num_scaled </a:t>
            </a:r>
            <a:r>
              <a:rPr>
                <a:solidFill>
                  <a:srgbClr val="666666"/>
                </a:solidFill>
                <a:latin typeface="Courier"/>
              </a:rPr>
              <a:t>=</a:t>
            </a:r>
            <a:r>
              <a:rPr>
                <a:latin typeface="Courier"/>
              </a:rPr>
              <a:t> pd.DataFrame(</a:t>
            </a:r>
            <a:br/>
            <a:r>
              <a:rPr>
                <a:latin typeface="Courier"/>
              </a:rPr>
              <a:t>    num_scaler.transform(X_val_num),</a:t>
            </a:r>
            <a:br/>
            <a:r>
              <a:rPr>
                <a:latin typeface="Courier"/>
              </a:rPr>
              <a:t>    columns</a:t>
            </a:r>
            <a:r>
              <a:rPr>
                <a:solidFill>
                  <a:srgbClr val="666666"/>
                </a:solidFill>
                <a:latin typeface="Courier"/>
              </a:rPr>
              <a:t>=</a:t>
            </a:r>
            <a:r>
              <a:rPr>
                <a:latin typeface="Courier"/>
              </a:rPr>
              <a:t>num_poly_cols,</a:t>
            </a:r>
            <a:br/>
            <a:r>
              <a:rPr>
                <a:latin typeface="Courier"/>
              </a:rPr>
              <a:t>)</a:t>
            </a:r>
            <a:br/>
            <a:br/>
            <a:r>
              <a:rPr>
                <a:latin typeface="Courier"/>
              </a:rPr>
              <a:t>X_test_num_scaled </a:t>
            </a:r>
            <a:r>
              <a:rPr>
                <a:solidFill>
                  <a:srgbClr val="666666"/>
                </a:solidFill>
                <a:latin typeface="Courier"/>
              </a:rPr>
              <a:t>=</a:t>
            </a:r>
            <a:r>
              <a:rPr>
                <a:latin typeface="Courier"/>
              </a:rPr>
              <a:t> pd.DataFrame(</a:t>
            </a:r>
            <a:br/>
            <a:r>
              <a:rPr>
                <a:latin typeface="Courier"/>
              </a:rPr>
              <a:t>    num_scaler.transform(X_test_num),</a:t>
            </a:r>
            <a:br/>
            <a:r>
              <a:rPr>
                <a:latin typeface="Courier"/>
              </a:rPr>
              <a:t>    columns</a:t>
            </a:r>
            <a:r>
              <a:rPr>
                <a:solidFill>
                  <a:srgbClr val="666666"/>
                </a:solidFill>
                <a:latin typeface="Courier"/>
              </a:rPr>
              <a:t>=</a:t>
            </a:r>
            <a:r>
              <a:rPr>
                <a:latin typeface="Courier"/>
              </a:rPr>
              <a:t>num_poly_cols,</a:t>
            </a:r>
            <a:br/>
            <a:r>
              <a:rPr>
                <a:latin typeface="Courier"/>
              </a:rPr>
              <a:t>)</a:t>
            </a:r>
            <a:br/>
            <a:br/>
            <a:r>
              <a:rPr>
                <a:latin typeface="Courier"/>
              </a:rPr>
              <a:t>X_train_num_scaled.describe().T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58800"/>
                <a:gridCol w="558800"/>
                <a:gridCol w="558800"/>
                <a:gridCol w="558800"/>
                <a:gridCol w="558800"/>
                <a:gridCol w="558800"/>
                <a:gridCol w="558800"/>
                <a:gridCol w="558800"/>
                <a:gridCol w="558800"/>
              </a:tblGrid>
              <a:tr h="0">
                <a:tc>
                  <a:txBody>
                    <a:bodyPr/>
                    <a:lstStyle/>
                    <a:p>
                      <a:endParaRPr/>
                    </a:p>
                  </a:txBody>
                  <a:tcPr/>
                </a:tc>
                <a:tc>
                  <a:txBody>
                    <a:bodyPr/>
                    <a:lstStyle/>
                    <a:p>
                      <a:pPr lvl="0" indent="0" marL="0">
                        <a:buNone/>
                      </a:pPr>
                      <a:r>
                        <a:rPr/>
                        <a:t>count</a:t>
                      </a:r>
                    </a:p>
                  </a:txBody>
                  <a:tcPr/>
                </a:tc>
                <a:tc>
                  <a:txBody>
                    <a:bodyPr/>
                    <a:lstStyle/>
                    <a:p>
                      <a:pPr lvl="0" indent="0" marL="0">
                        <a:buNone/>
                      </a:pPr>
                      <a:r>
                        <a:rPr/>
                        <a:t>mean</a:t>
                      </a:r>
                    </a:p>
                  </a:txBody>
                  <a:tcPr/>
                </a:tc>
                <a:tc>
                  <a:txBody>
                    <a:bodyPr/>
                    <a:lstStyle/>
                    <a:p>
                      <a:pPr lvl="0" indent="0" marL="0">
                        <a:buNone/>
                      </a:pPr>
                      <a:r>
                        <a:rPr/>
                        <a:t>std</a:t>
                      </a:r>
                    </a:p>
                  </a:txBody>
                  <a:tcPr/>
                </a:tc>
                <a:tc>
                  <a:txBody>
                    <a:bodyPr/>
                    <a:lstStyle/>
                    <a:p>
                      <a:pPr lvl="0" indent="0" marL="0">
                        <a:buNone/>
                      </a:pPr>
                      <a:r>
                        <a:rPr/>
                        <a:t>min</a:t>
                      </a:r>
                    </a:p>
                  </a:txBody>
                  <a:tcPr/>
                </a:tc>
                <a:tc>
                  <a:txBody>
                    <a:bodyPr/>
                    <a:lstStyle/>
                    <a:p>
                      <a:pPr lvl="0" indent="0" marL="0">
                        <a:buNone/>
                      </a:pPr>
                      <a:r>
                        <a:rPr/>
                        <a:t>25%</a:t>
                      </a:r>
                    </a:p>
                  </a:txBody>
                  <a:tcPr/>
                </a:tc>
                <a:tc>
                  <a:txBody>
                    <a:bodyPr/>
                    <a:lstStyle/>
                    <a:p>
                      <a:pPr lvl="0" indent="0" marL="0">
                        <a:buNone/>
                      </a:pPr>
                      <a:r>
                        <a:rPr/>
                        <a:t>50%</a:t>
                      </a:r>
                    </a:p>
                  </a:txBody>
                  <a:tcPr/>
                </a:tc>
                <a:tc>
                  <a:txBody>
                    <a:bodyPr/>
                    <a:lstStyle/>
                    <a:p>
                      <a:pPr lvl="0" indent="0" marL="0">
                        <a:buNone/>
                      </a:pPr>
                      <a:r>
                        <a:rPr/>
                        <a:t>75%</a:t>
                      </a:r>
                    </a:p>
                  </a:txBody>
                  <a:tcPr/>
                </a:tc>
                <a:tc>
                  <a:txBody>
                    <a:bodyPr/>
                    <a:lstStyle/>
                    <a:p>
                      <a:pPr lvl="0" indent="0" marL="0">
                        <a:buNone/>
                      </a:pPr>
                      <a:r>
                        <a:rPr/>
                        <a:t>max</a:t>
                      </a:r>
                    </a:p>
                  </a:txBody>
                  <a:tcPr/>
                </a:tc>
              </a:tr>
              <a:tr h="0">
                <a:tc>
                  <a:txBody>
                    <a:bodyPr/>
                    <a:lstStyle/>
                    <a:p>
                      <a:pPr lvl="0" indent="0" marL="0">
                        <a:buNone/>
                      </a:pPr>
                      <a:r>
                        <a:rPr/>
                        <a:t>DO_BH</a:t>
                      </a:r>
                    </a:p>
                  </a:txBody>
                </a:tc>
                <a:tc>
                  <a:txBody>
                    <a:bodyPr/>
                    <a:lstStyle/>
                    <a:p>
                      <a:pPr lvl="0" indent="0" marL="0">
                        <a:buNone/>
                      </a:pPr>
                      <a:r>
                        <a:rPr/>
                        <a:t>45693.0</a:t>
                      </a:r>
                    </a:p>
                  </a:txBody>
                </a:tc>
                <a:tc>
                  <a:txBody>
                    <a:bodyPr/>
                    <a:lstStyle/>
                    <a:p>
                      <a:pPr lvl="0" indent="0" marL="0">
                        <a:buNone/>
                      </a:pPr>
                      <a:r>
                        <a:rPr/>
                        <a:t>2.029322e-16</a:t>
                      </a:r>
                    </a:p>
                  </a:txBody>
                </a:tc>
                <a:tc>
                  <a:txBody>
                    <a:bodyPr/>
                    <a:lstStyle/>
                    <a:p>
                      <a:pPr lvl="0" indent="0" marL="0">
                        <a:buNone/>
                      </a:pPr>
                      <a:r>
                        <a:rPr/>
                        <a:t>1.000011</a:t>
                      </a:r>
                    </a:p>
                  </a:txBody>
                </a:tc>
                <a:tc>
                  <a:txBody>
                    <a:bodyPr/>
                    <a:lstStyle/>
                    <a:p>
                      <a:pPr lvl="0" indent="0" marL="0">
                        <a:buNone/>
                      </a:pPr>
                      <a:r>
                        <a:rPr/>
                        <a:t>-1.300564</a:t>
                      </a:r>
                    </a:p>
                  </a:txBody>
                </a:tc>
                <a:tc>
                  <a:txBody>
                    <a:bodyPr/>
                    <a:lstStyle/>
                    <a:p>
                      <a:pPr lvl="0" indent="0" marL="0">
                        <a:buNone/>
                      </a:pPr>
                      <a:r>
                        <a:rPr/>
                        <a:t>-0.588629</a:t>
                      </a:r>
                    </a:p>
                  </a:txBody>
                </a:tc>
                <a:tc>
                  <a:txBody>
                    <a:bodyPr/>
                    <a:lstStyle/>
                    <a:p>
                      <a:pPr lvl="0" indent="0" marL="0">
                        <a:buNone/>
                      </a:pPr>
                      <a:r>
                        <a:rPr/>
                        <a:t>-0.148524</a:t>
                      </a:r>
                    </a:p>
                  </a:txBody>
                </a:tc>
                <a:tc>
                  <a:txBody>
                    <a:bodyPr/>
                    <a:lstStyle/>
                    <a:p>
                      <a:pPr lvl="0" indent="0" marL="0">
                        <a:buNone/>
                      </a:pPr>
                      <a:r>
                        <a:rPr/>
                        <a:t>0.408080</a:t>
                      </a:r>
                    </a:p>
                  </a:txBody>
                </a:tc>
                <a:tc>
                  <a:txBody>
                    <a:bodyPr/>
                    <a:lstStyle/>
                    <a:p>
                      <a:pPr lvl="0" indent="0" marL="0">
                        <a:buNone/>
                      </a:pPr>
                      <a:r>
                        <a:rPr/>
                        <a:t>35.978947</a:t>
                      </a:r>
                    </a:p>
                  </a:txBody>
                </a:tc>
              </a:tr>
              <a:tr h="0">
                <a:tc>
                  <a:txBody>
                    <a:bodyPr/>
                    <a:lstStyle/>
                    <a:p>
                      <a:pPr lvl="0" indent="0" marL="0">
                        <a:buNone/>
                      </a:pPr>
                      <a:r>
                        <a:rPr/>
                        <a:t>HT_TOT</a:t>
                      </a:r>
                    </a:p>
                  </a:txBody>
                </a:tc>
                <a:tc>
                  <a:txBody>
                    <a:bodyPr/>
                    <a:lstStyle/>
                    <a:p>
                      <a:pPr lvl="0" indent="0" marL="0">
                        <a:buNone/>
                      </a:pPr>
                      <a:r>
                        <a:rPr/>
                        <a:t>45693.0</a:t>
                      </a:r>
                    </a:p>
                  </a:txBody>
                </a:tc>
                <a:tc>
                  <a:txBody>
                    <a:bodyPr/>
                    <a:lstStyle/>
                    <a:p>
                      <a:pPr lvl="0" indent="0" marL="0">
                        <a:buNone/>
                      </a:pPr>
                      <a:r>
                        <a:rPr/>
                        <a:t>-5.165831e-16</a:t>
                      </a:r>
                    </a:p>
                  </a:txBody>
                </a:tc>
                <a:tc>
                  <a:txBody>
                    <a:bodyPr/>
                    <a:lstStyle/>
                    <a:p>
                      <a:pPr lvl="0" indent="0" marL="0">
                        <a:buNone/>
                      </a:pPr>
                      <a:r>
                        <a:rPr/>
                        <a:t>1.000011</a:t>
                      </a:r>
                    </a:p>
                  </a:txBody>
                </a:tc>
                <a:tc>
                  <a:txBody>
                    <a:bodyPr/>
                    <a:lstStyle/>
                    <a:p>
                      <a:pPr lvl="0" indent="0" marL="0">
                        <a:buNone/>
                      </a:pPr>
                      <a:r>
                        <a:rPr/>
                        <a:t>-2.316805</a:t>
                      </a:r>
                    </a:p>
                  </a:txBody>
                </a:tc>
                <a:tc>
                  <a:txBody>
                    <a:bodyPr/>
                    <a:lstStyle/>
                    <a:p>
                      <a:pPr lvl="0" indent="0" marL="0">
                        <a:buNone/>
                      </a:pPr>
                      <a:r>
                        <a:rPr/>
                        <a:t>-0.659978</a:t>
                      </a:r>
                    </a:p>
                  </a:txBody>
                </a:tc>
                <a:tc>
                  <a:txBody>
                    <a:bodyPr/>
                    <a:lstStyle/>
                    <a:p>
                      <a:pPr lvl="0" indent="0" marL="0">
                        <a:buNone/>
                      </a:pPr>
                      <a:r>
                        <a:rPr/>
                        <a:t>-0.036231</a:t>
                      </a:r>
                    </a:p>
                  </a:txBody>
                </a:tc>
                <a:tc>
                  <a:txBody>
                    <a:bodyPr/>
                    <a:lstStyle/>
                    <a:p>
                      <a:pPr lvl="0" indent="0" marL="0">
                        <a:buNone/>
                      </a:pPr>
                      <a:r>
                        <a:rPr/>
                        <a:t>0.568023</a:t>
                      </a:r>
                    </a:p>
                  </a:txBody>
                </a:tc>
                <a:tc>
                  <a:txBody>
                    <a:bodyPr/>
                    <a:lstStyle/>
                    <a:p>
                      <a:pPr lvl="0" indent="0" marL="0">
                        <a:buNone/>
                      </a:pPr>
                      <a:r>
                        <a:rPr/>
                        <a:t>12.372427</a:t>
                      </a:r>
                    </a:p>
                  </a:txBody>
                </a:tc>
              </a:tr>
              <a:tr h="0">
                <a:tc>
                  <a:txBody>
                    <a:bodyPr/>
                    <a:lstStyle/>
                    <a:p>
                      <a:pPr lvl="0" indent="0" marL="0">
                        <a:buNone/>
                      </a:pPr>
                      <a:r>
                        <a:rPr/>
                        <a:t>DBH_sq</a:t>
                      </a:r>
                    </a:p>
                  </a:txBody>
                </a:tc>
                <a:tc>
                  <a:txBody>
                    <a:bodyPr/>
                    <a:lstStyle/>
                    <a:p>
                      <a:pPr lvl="0" indent="0" marL="0">
                        <a:buNone/>
                      </a:pPr>
                      <a:r>
                        <a:rPr/>
                        <a:t>45693.0</a:t>
                      </a:r>
                    </a:p>
                  </a:txBody>
                </a:tc>
                <a:tc>
                  <a:txBody>
                    <a:bodyPr/>
                    <a:lstStyle/>
                    <a:p>
                      <a:pPr lvl="0" indent="0" marL="0">
                        <a:buNone/>
                      </a:pPr>
                      <a:r>
                        <a:rPr/>
                        <a:t>-2.923468e-17</a:t>
                      </a:r>
                    </a:p>
                  </a:txBody>
                </a:tc>
                <a:tc>
                  <a:txBody>
                    <a:bodyPr/>
                    <a:lstStyle/>
                    <a:p>
                      <a:pPr lvl="0" indent="0" marL="0">
                        <a:buNone/>
                      </a:pPr>
                      <a:r>
                        <a:rPr/>
                        <a:t>1.000011</a:t>
                      </a:r>
                    </a:p>
                  </a:txBody>
                </a:tc>
                <a:tc>
                  <a:txBody>
                    <a:bodyPr/>
                    <a:lstStyle/>
                    <a:p>
                      <a:pPr lvl="0" indent="0" marL="0">
                        <a:buNone/>
                      </a:pPr>
                      <a:r>
                        <a:rPr/>
                        <a:t>-0.178237</a:t>
                      </a:r>
                    </a:p>
                  </a:txBody>
                </a:tc>
                <a:tc>
                  <a:txBody>
                    <a:bodyPr/>
                    <a:lstStyle/>
                    <a:p>
                      <a:pPr lvl="0" indent="0" marL="0">
                        <a:buNone/>
                      </a:pPr>
                      <a:r>
                        <a:rPr/>
                        <a:t>-0.137556</a:t>
                      </a:r>
                    </a:p>
                  </a:txBody>
                </a:tc>
                <a:tc>
                  <a:txBody>
                    <a:bodyPr/>
                    <a:lstStyle/>
                    <a:p>
                      <a:pPr lvl="0" indent="0" marL="0">
                        <a:buNone/>
                      </a:pPr>
                      <a:r>
                        <a:rPr/>
                        <a:t>-0.082564</a:t>
                      </a:r>
                    </a:p>
                  </a:txBody>
                </a:tc>
                <a:tc>
                  <a:txBody>
                    <a:bodyPr/>
                    <a:lstStyle/>
                    <a:p>
                      <a:pPr lvl="0" indent="0" marL="0">
                        <a:buNone/>
                      </a:pPr>
                      <a:r>
                        <a:rPr/>
                        <a:t>0.019638</a:t>
                      </a:r>
                    </a:p>
                  </a:txBody>
                </a:tc>
                <a:tc>
                  <a:txBody>
                    <a:bodyPr/>
                    <a:lstStyle/>
                    <a:p>
                      <a:pPr lvl="0" indent="0" marL="0">
                        <a:buNone/>
                      </a:pPr>
                      <a:r>
                        <a:rPr/>
                        <a:t>82.190974</a:t>
                      </a:r>
                    </a:p>
                  </a:txBody>
                </a:tc>
              </a:tr>
              <a:tr h="0">
                <a:tc>
                  <a:txBody>
                    <a:bodyPr/>
                    <a:lstStyle/>
                    <a:p>
                      <a:pPr lvl="0" indent="0" marL="0">
                        <a:buNone/>
                      </a:pPr>
                      <a:r>
                        <a:rPr/>
                        <a:t>DBH_cb</a:t>
                      </a:r>
                    </a:p>
                  </a:txBody>
                </a:tc>
                <a:tc>
                  <a:txBody>
                    <a:bodyPr/>
                    <a:lstStyle/>
                    <a:p>
                      <a:pPr lvl="0" indent="0" marL="0">
                        <a:buNone/>
                      </a:pPr>
                      <a:r>
                        <a:rPr/>
                        <a:t>45693.0</a:t>
                      </a:r>
                    </a:p>
                  </a:txBody>
                </a:tc>
                <a:tc>
                  <a:txBody>
                    <a:bodyPr/>
                    <a:lstStyle/>
                    <a:p>
                      <a:pPr lvl="0" indent="0" marL="0">
                        <a:buNone/>
                      </a:pPr>
                      <a:r>
                        <a:rPr/>
                        <a:t>-7.464174e-18</a:t>
                      </a:r>
                    </a:p>
                  </a:txBody>
                </a:tc>
                <a:tc>
                  <a:txBody>
                    <a:bodyPr/>
                    <a:lstStyle/>
                    <a:p>
                      <a:pPr lvl="0" indent="0" marL="0">
                        <a:buNone/>
                      </a:pPr>
                      <a:r>
                        <a:rPr/>
                        <a:t>1.000011</a:t>
                      </a:r>
                    </a:p>
                  </a:txBody>
                </a:tc>
                <a:tc>
                  <a:txBody>
                    <a:bodyPr/>
                    <a:lstStyle/>
                    <a:p>
                      <a:pPr lvl="0" indent="0" marL="0">
                        <a:buNone/>
                      </a:pPr>
                      <a:r>
                        <a:rPr/>
                        <a:t>-0.032147</a:t>
                      </a:r>
                    </a:p>
                  </a:txBody>
                </a:tc>
                <a:tc>
                  <a:txBody>
                    <a:bodyPr/>
                    <a:lstStyle/>
                    <a:p>
                      <a:pPr lvl="0" indent="0" marL="0">
                        <a:buNone/>
                      </a:pPr>
                      <a:r>
                        <a:rPr/>
                        <a:t>-0.030978</a:t>
                      </a:r>
                    </a:p>
                  </a:txBody>
                </a:tc>
                <a:tc>
                  <a:txBody>
                    <a:bodyPr/>
                    <a:lstStyle/>
                    <a:p>
                      <a:pPr lvl="0" indent="0" marL="0">
                        <a:buNone/>
                      </a:pPr>
                      <a:r>
                        <a:rPr/>
                        <a:t>-0.028006</a:t>
                      </a:r>
                    </a:p>
                  </a:txBody>
                </a:tc>
                <a:tc>
                  <a:txBody>
                    <a:bodyPr/>
                    <a:lstStyle/>
                    <a:p>
                      <a:pPr lvl="0" indent="0" marL="0">
                        <a:buNone/>
                      </a:pPr>
                      <a:r>
                        <a:rPr/>
                        <a:t>-0.019919</a:t>
                      </a:r>
                    </a:p>
                  </a:txBody>
                </a:tc>
                <a:tc>
                  <a:txBody>
                    <a:bodyPr/>
                    <a:lstStyle/>
                    <a:p>
                      <a:pPr lvl="0" indent="0" marL="0">
                        <a:buNone/>
                      </a:pPr>
                      <a:r>
                        <a:rPr/>
                        <a:t>103.081686</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 One-hot encode species</a:t>
            </a:r>
          </a:p>
          <a:p>
            <a:pPr lvl="0" indent="0">
              <a:buNone/>
            </a:pPr>
            <a:r>
              <a:rPr>
                <a:latin typeface="Courier"/>
              </a:rPr>
              <a:t>X_train_sp </a:t>
            </a:r>
            <a:r>
              <a:rPr>
                <a:solidFill>
                  <a:srgbClr val="666666"/>
                </a:solidFill>
                <a:latin typeface="Courier"/>
              </a:rPr>
              <a:t>=</a:t>
            </a:r>
            <a:r>
              <a:rPr>
                <a:latin typeface="Courier"/>
              </a:rPr>
              <a:t> pd.get_dummies(X_train_base[[cat_col]], prefix</a:t>
            </a:r>
            <a:r>
              <a:rPr>
                <a:solidFill>
                  <a:srgbClr val="666666"/>
                </a:solidFill>
                <a:latin typeface="Courier"/>
              </a:rPr>
              <a:t>=</a:t>
            </a:r>
            <a:r>
              <a:rPr>
                <a:solidFill>
                  <a:srgbClr val="4070A0"/>
                </a:solidFill>
                <a:latin typeface="Courier"/>
              </a:rPr>
              <a:t>'sp'</a:t>
            </a:r>
            <a:r>
              <a:rPr>
                <a:latin typeface="Courier"/>
              </a:rPr>
              <a:t>, drop_first</a:t>
            </a:r>
            <a:r>
              <a:rPr>
                <a:solidFill>
                  <a:srgbClr val="666666"/>
                </a:solidFill>
                <a:latin typeface="Courier"/>
              </a:rPr>
              <a:t>=</a:t>
            </a:r>
            <a:r>
              <a:rPr>
                <a:solidFill>
                  <a:srgbClr val="19177C"/>
                </a:solidFill>
                <a:latin typeface="Courier"/>
              </a:rPr>
              <a:t>False</a:t>
            </a:r>
            <a:r>
              <a:rPr>
                <a:latin typeface="Courier"/>
              </a:rPr>
              <a:t>)</a:t>
            </a:r>
            <a:br/>
            <a:r>
              <a:rPr>
                <a:latin typeface="Courier"/>
              </a:rPr>
              <a:t>X_val_sp   </a:t>
            </a:r>
            <a:r>
              <a:rPr>
                <a:solidFill>
                  <a:srgbClr val="666666"/>
                </a:solidFill>
                <a:latin typeface="Courier"/>
              </a:rPr>
              <a:t>=</a:t>
            </a:r>
            <a:r>
              <a:rPr>
                <a:latin typeface="Courier"/>
              </a:rPr>
              <a:t> pd.get_dummies(X_val_base[[cat_col]],   prefix</a:t>
            </a:r>
            <a:r>
              <a:rPr>
                <a:solidFill>
                  <a:srgbClr val="666666"/>
                </a:solidFill>
                <a:latin typeface="Courier"/>
              </a:rPr>
              <a:t>=</a:t>
            </a:r>
            <a:r>
              <a:rPr>
                <a:solidFill>
                  <a:srgbClr val="4070A0"/>
                </a:solidFill>
                <a:latin typeface="Courier"/>
              </a:rPr>
              <a:t>'sp'</a:t>
            </a:r>
            <a:r>
              <a:rPr>
                <a:latin typeface="Courier"/>
              </a:rPr>
              <a:t>, drop_first</a:t>
            </a:r>
            <a:r>
              <a:rPr>
                <a:solidFill>
                  <a:srgbClr val="666666"/>
                </a:solidFill>
                <a:latin typeface="Courier"/>
              </a:rPr>
              <a:t>=</a:t>
            </a:r>
            <a:r>
              <a:rPr>
                <a:solidFill>
                  <a:srgbClr val="19177C"/>
                </a:solidFill>
                <a:latin typeface="Courier"/>
              </a:rPr>
              <a:t>False</a:t>
            </a:r>
            <a:r>
              <a:rPr>
                <a:latin typeface="Courier"/>
              </a:rPr>
              <a:t>)</a:t>
            </a:r>
            <a:br/>
            <a:r>
              <a:rPr>
                <a:latin typeface="Courier"/>
              </a:rPr>
              <a:t>X_test_sp  </a:t>
            </a:r>
            <a:r>
              <a:rPr>
                <a:solidFill>
                  <a:srgbClr val="666666"/>
                </a:solidFill>
                <a:latin typeface="Courier"/>
              </a:rPr>
              <a:t>=</a:t>
            </a:r>
            <a:r>
              <a:rPr>
                <a:latin typeface="Courier"/>
              </a:rPr>
              <a:t> pd.get_dummies(X_test_base[[cat_col]],  prefix</a:t>
            </a:r>
            <a:r>
              <a:rPr>
                <a:solidFill>
                  <a:srgbClr val="666666"/>
                </a:solidFill>
                <a:latin typeface="Courier"/>
              </a:rPr>
              <a:t>=</a:t>
            </a:r>
            <a:r>
              <a:rPr>
                <a:solidFill>
                  <a:srgbClr val="4070A0"/>
                </a:solidFill>
                <a:latin typeface="Courier"/>
              </a:rPr>
              <a:t>'sp'</a:t>
            </a:r>
            <a:r>
              <a:rPr>
                <a:latin typeface="Courier"/>
              </a:rPr>
              <a:t>, drop_first</a:t>
            </a:r>
            <a:r>
              <a:rPr>
                <a:solidFill>
                  <a:srgbClr val="666666"/>
                </a:solidFill>
                <a:latin typeface="Courier"/>
              </a:rPr>
              <a:t>=</a:t>
            </a:r>
            <a:r>
              <a:rPr>
                <a:solidFill>
                  <a:srgbClr val="19177C"/>
                </a:solidFill>
                <a:latin typeface="Courier"/>
              </a:rPr>
              <a:t>False</a:t>
            </a:r>
            <a:r>
              <a:rPr>
                <a:latin typeface="Courier"/>
              </a:rPr>
              <a:t>)</a:t>
            </a:r>
            <a:br/>
            <a:br/>
            <a:r>
              <a:rPr i="1">
                <a:solidFill>
                  <a:srgbClr val="60A0B0"/>
                </a:solidFill>
                <a:latin typeface="Courier"/>
              </a:rPr>
              <a:t># Align columns across splits</a:t>
            </a:r>
            <a:br/>
            <a:r>
              <a:rPr>
                <a:latin typeface="Courier"/>
              </a:rPr>
              <a:t>all_sp_cols </a:t>
            </a:r>
            <a:r>
              <a:rPr>
                <a:solidFill>
                  <a:srgbClr val="666666"/>
                </a:solidFill>
                <a:latin typeface="Courier"/>
              </a:rPr>
              <a:t>=</a:t>
            </a:r>
            <a:r>
              <a:rPr>
                <a:latin typeface="Courier"/>
              </a:rPr>
              <a:t> </a:t>
            </a:r>
            <a:r>
              <a:rPr>
                <a:solidFill>
                  <a:srgbClr val="008000"/>
                </a:solidFill>
                <a:latin typeface="Courier"/>
              </a:rPr>
              <a:t>sorted</a:t>
            </a:r>
            <a:r>
              <a:rPr>
                <a:latin typeface="Courier"/>
              </a:rPr>
              <a:t>(</a:t>
            </a:r>
            <a:r>
              <a:rPr>
                <a:solidFill>
                  <a:srgbClr val="008000"/>
                </a:solidFill>
                <a:latin typeface="Courier"/>
              </a:rPr>
              <a:t>set</a:t>
            </a:r>
            <a:r>
              <a:rPr>
                <a:latin typeface="Courier"/>
              </a:rPr>
              <a:t>(X_train_sp.columns) </a:t>
            </a:r>
            <a:r>
              <a:rPr>
                <a:solidFill>
                  <a:srgbClr val="666666"/>
                </a:solidFill>
                <a:latin typeface="Courier"/>
              </a:rPr>
              <a:t>|</a:t>
            </a:r>
            <a:r>
              <a:rPr>
                <a:latin typeface="Courier"/>
              </a:rPr>
              <a:t> </a:t>
            </a:r>
            <a:r>
              <a:rPr>
                <a:solidFill>
                  <a:srgbClr val="008000"/>
                </a:solidFill>
                <a:latin typeface="Courier"/>
              </a:rPr>
              <a:t>set</a:t>
            </a:r>
            <a:r>
              <a:rPr>
                <a:latin typeface="Courier"/>
              </a:rPr>
              <a:t>(X_val_sp.columns) </a:t>
            </a:r>
            <a:r>
              <a:rPr>
                <a:solidFill>
                  <a:srgbClr val="666666"/>
                </a:solidFill>
                <a:latin typeface="Courier"/>
              </a:rPr>
              <a:t>|</a:t>
            </a:r>
            <a:r>
              <a:rPr>
                <a:latin typeface="Courier"/>
              </a:rPr>
              <a:t> </a:t>
            </a:r>
            <a:r>
              <a:rPr>
                <a:solidFill>
                  <a:srgbClr val="008000"/>
                </a:solidFill>
                <a:latin typeface="Courier"/>
              </a:rPr>
              <a:t>set</a:t>
            </a:r>
            <a:r>
              <a:rPr>
                <a:latin typeface="Courier"/>
              </a:rPr>
              <a:t>(X_test_sp.columns))</a:t>
            </a:r>
            <a:br/>
            <a:br/>
            <a:r>
              <a:rPr b="1">
                <a:solidFill>
                  <a:srgbClr val="007020"/>
                </a:solidFill>
                <a:latin typeface="Courier"/>
              </a:rPr>
              <a:t>for</a:t>
            </a:r>
            <a:r>
              <a:rPr>
                <a:latin typeface="Courier"/>
              </a:rPr>
              <a:t> df </a:t>
            </a:r>
            <a:r>
              <a:rPr b="1">
                <a:solidFill>
                  <a:srgbClr val="007020"/>
                </a:solidFill>
                <a:latin typeface="Courier"/>
              </a:rPr>
              <a:t>in</a:t>
            </a:r>
            <a:r>
              <a:rPr>
                <a:latin typeface="Courier"/>
              </a:rPr>
              <a:t> (X_train_sp, X_val_sp, X_test_sp):</a:t>
            </a:r>
            <a:br/>
            <a:r>
              <a:rPr>
                <a:latin typeface="Courier"/>
              </a:rPr>
              <a:t>    </a:t>
            </a:r>
            <a:r>
              <a:rPr b="1">
                <a:solidFill>
                  <a:srgbClr val="007020"/>
                </a:solidFill>
                <a:latin typeface="Courier"/>
              </a:rPr>
              <a:t>for</a:t>
            </a:r>
            <a:r>
              <a:rPr>
                <a:latin typeface="Courier"/>
              </a:rPr>
              <a:t> c </a:t>
            </a:r>
            <a:r>
              <a:rPr b="1">
                <a:solidFill>
                  <a:srgbClr val="007020"/>
                </a:solidFill>
                <a:latin typeface="Courier"/>
              </a:rPr>
              <a:t>in</a:t>
            </a:r>
            <a:r>
              <a:rPr>
                <a:latin typeface="Courier"/>
              </a:rPr>
              <a:t> all_sp_cols:</a:t>
            </a:r>
            <a:br/>
            <a:r>
              <a:rPr>
                <a:latin typeface="Courier"/>
              </a:rPr>
              <a:t>        </a:t>
            </a:r>
            <a:r>
              <a:rPr b="1">
                <a:solidFill>
                  <a:srgbClr val="007020"/>
                </a:solidFill>
                <a:latin typeface="Courier"/>
              </a:rPr>
              <a:t>if</a:t>
            </a:r>
            <a:r>
              <a:rPr>
                <a:latin typeface="Courier"/>
              </a:rPr>
              <a:t> c </a:t>
            </a:r>
            <a:r>
              <a:rPr b="1">
                <a:solidFill>
                  <a:srgbClr val="007020"/>
                </a:solidFill>
                <a:latin typeface="Courier"/>
              </a:rPr>
              <a:t>not</a:t>
            </a:r>
            <a:r>
              <a:rPr>
                <a:latin typeface="Courier"/>
              </a:rPr>
              <a:t> </a:t>
            </a:r>
            <a:r>
              <a:rPr b="1">
                <a:solidFill>
                  <a:srgbClr val="007020"/>
                </a:solidFill>
                <a:latin typeface="Courier"/>
              </a:rPr>
              <a:t>in</a:t>
            </a:r>
            <a:r>
              <a:rPr>
                <a:latin typeface="Courier"/>
              </a:rPr>
              <a:t> df.columns:</a:t>
            </a:r>
            <a:br/>
            <a:r>
              <a:rPr>
                <a:latin typeface="Courier"/>
              </a:rPr>
              <a:t>            df[c] </a:t>
            </a:r>
            <a:r>
              <a:rPr>
                <a:solidFill>
                  <a:srgbClr val="666666"/>
                </a:solidFill>
                <a:latin typeface="Courier"/>
              </a:rPr>
              <a:t>=</a:t>
            </a:r>
            <a:r>
              <a:rPr>
                <a:latin typeface="Courier"/>
              </a:rPr>
              <a:t> </a:t>
            </a:r>
            <a:r>
              <a:rPr>
                <a:solidFill>
                  <a:srgbClr val="40A070"/>
                </a:solidFill>
                <a:latin typeface="Courier"/>
              </a:rPr>
              <a:t>0</a:t>
            </a:r>
            <a:br/>
            <a:br/>
            <a:r>
              <a:rPr>
                <a:latin typeface="Courier"/>
              </a:rPr>
              <a:t>X_train_sp </a:t>
            </a:r>
            <a:r>
              <a:rPr>
                <a:solidFill>
                  <a:srgbClr val="666666"/>
                </a:solidFill>
                <a:latin typeface="Courier"/>
              </a:rPr>
              <a:t>=</a:t>
            </a:r>
            <a:r>
              <a:rPr>
                <a:latin typeface="Courier"/>
              </a:rPr>
              <a:t> X_train_sp[all_sp_cols]</a:t>
            </a:r>
            <a:br/>
            <a:r>
              <a:rPr>
                <a:latin typeface="Courier"/>
              </a:rPr>
              <a:t>X_val_sp   </a:t>
            </a:r>
            <a:r>
              <a:rPr>
                <a:solidFill>
                  <a:srgbClr val="666666"/>
                </a:solidFill>
                <a:latin typeface="Courier"/>
              </a:rPr>
              <a:t>=</a:t>
            </a:r>
            <a:r>
              <a:rPr>
                <a:latin typeface="Courier"/>
              </a:rPr>
              <a:t> X_val_sp[all_sp_cols]</a:t>
            </a:r>
            <a:br/>
            <a:r>
              <a:rPr>
                <a:latin typeface="Courier"/>
              </a:rPr>
              <a:t>X_test_sp  </a:t>
            </a:r>
            <a:r>
              <a:rPr>
                <a:solidFill>
                  <a:srgbClr val="666666"/>
                </a:solidFill>
                <a:latin typeface="Courier"/>
              </a:rPr>
              <a:t>=</a:t>
            </a:r>
            <a:r>
              <a:rPr>
                <a:latin typeface="Courier"/>
              </a:rPr>
              <a:t> X_test_sp[all_sp_cols]</a:t>
            </a:r>
            <a:br/>
            <a:br/>
            <a:r>
              <a:rPr>
                <a:solidFill>
                  <a:srgbClr val="008000"/>
                </a:solidFill>
                <a:latin typeface="Courier"/>
              </a:rPr>
              <a:t>len</a:t>
            </a:r>
            <a:r>
              <a:rPr>
                <a:latin typeface="Courier"/>
              </a:rPr>
              <a:t>(all_sp_cols), all_sp_cols[:</a:t>
            </a:r>
            <a:r>
              <a:rPr>
                <a:solidFill>
                  <a:srgbClr val="40A070"/>
                </a:solidFill>
                <a:latin typeface="Courier"/>
              </a:rPr>
              <a:t>10</a:t>
            </a:r>
            <a:r>
              <a:rPr>
                <a:latin typeface="Courier"/>
              </a:rPr>
              <a:t>]</a:t>
            </a:r>
          </a:p>
          <a:p>
            <a:pPr lvl="0" indent="0">
              <a:buNone/>
            </a:pPr>
            <a:r>
              <a:rPr>
                <a:latin typeface="Courier"/>
              </a:rPr>
              <a:t>(1, ['SPCD'])</a:t>
            </a:r>
          </a:p>
          <a:p>
            <a:pPr lvl="0" indent="0" marL="0">
              <a:spcBef>
                <a:spcPts val="3000"/>
              </a:spcBef>
              <a:buNone/>
            </a:pPr>
            <a:r>
              <a:rPr b="1"/>
              <a:t>6. Final LR3 design matrix</a:t>
            </a:r>
          </a:p>
          <a:p>
            <a:pPr lvl="0" indent="0">
              <a:buNone/>
            </a:pPr>
            <a:r>
              <a:rPr>
                <a:latin typeface="Courier"/>
              </a:rPr>
              <a:t>X_train_lr3 </a:t>
            </a:r>
            <a:r>
              <a:rPr>
                <a:solidFill>
                  <a:srgbClr val="666666"/>
                </a:solidFill>
                <a:latin typeface="Courier"/>
              </a:rPr>
              <a:t>=</a:t>
            </a:r>
            <a:r>
              <a:rPr>
                <a:latin typeface="Courier"/>
              </a:rPr>
              <a:t> pd.concat([X_train_num_scaled, X_train_sp], axis</a:t>
            </a:r>
            <a:r>
              <a:rPr>
                <a:solidFill>
                  <a:srgbClr val="666666"/>
                </a:solidFill>
                <a:latin typeface="Courier"/>
              </a:rPr>
              <a:t>=</a:t>
            </a:r>
            <a:r>
              <a:rPr>
                <a:solidFill>
                  <a:srgbClr val="40A070"/>
                </a:solidFill>
                <a:latin typeface="Courier"/>
              </a:rPr>
              <a:t>1</a:t>
            </a:r>
            <a:r>
              <a:rPr>
                <a:latin typeface="Courier"/>
              </a:rPr>
              <a:t>)</a:t>
            </a:r>
            <a:br/>
            <a:r>
              <a:rPr>
                <a:latin typeface="Courier"/>
              </a:rPr>
              <a:t>X_val_lr3   </a:t>
            </a:r>
            <a:r>
              <a:rPr>
                <a:solidFill>
                  <a:srgbClr val="666666"/>
                </a:solidFill>
                <a:latin typeface="Courier"/>
              </a:rPr>
              <a:t>=</a:t>
            </a:r>
            <a:r>
              <a:rPr>
                <a:latin typeface="Courier"/>
              </a:rPr>
              <a:t> pd.concat([X_val_num_scaled,   X_val_sp],   axis</a:t>
            </a:r>
            <a:r>
              <a:rPr>
                <a:solidFill>
                  <a:srgbClr val="666666"/>
                </a:solidFill>
                <a:latin typeface="Courier"/>
              </a:rPr>
              <a:t>=</a:t>
            </a:r>
            <a:r>
              <a:rPr>
                <a:solidFill>
                  <a:srgbClr val="40A070"/>
                </a:solidFill>
                <a:latin typeface="Courier"/>
              </a:rPr>
              <a:t>1</a:t>
            </a:r>
            <a:r>
              <a:rPr>
                <a:latin typeface="Courier"/>
              </a:rPr>
              <a:t>)</a:t>
            </a:r>
            <a:br/>
            <a:r>
              <a:rPr>
                <a:latin typeface="Courier"/>
              </a:rPr>
              <a:t>X_test_lr3  </a:t>
            </a:r>
            <a:r>
              <a:rPr>
                <a:solidFill>
                  <a:srgbClr val="666666"/>
                </a:solidFill>
                <a:latin typeface="Courier"/>
              </a:rPr>
              <a:t>=</a:t>
            </a:r>
            <a:r>
              <a:rPr>
                <a:latin typeface="Courier"/>
              </a:rPr>
              <a:t> pd.concat([X_test_num_scaled,  X_test_sp],  axis</a:t>
            </a:r>
            <a:r>
              <a:rPr>
                <a:solidFill>
                  <a:srgbClr val="666666"/>
                </a:solidFill>
                <a:latin typeface="Courier"/>
              </a:rPr>
              <a:t>=</a:t>
            </a:r>
            <a:r>
              <a:rPr>
                <a:solidFill>
                  <a:srgbClr val="40A070"/>
                </a:solidFill>
                <a:latin typeface="Courier"/>
              </a:rPr>
              <a:t>1</a:t>
            </a:r>
            <a:r>
              <a:rPr>
                <a:latin typeface="Courier"/>
              </a:rPr>
              <a:t>)</a:t>
            </a:r>
            <a:br/>
            <a:br/>
            <a:r>
              <a:rPr>
                <a:latin typeface="Courier"/>
              </a:rPr>
              <a:t>X_train_lr3.shape, X_val_lr3.shape, X_test_lr3.shape</a:t>
            </a:r>
          </a:p>
          <a:p>
            <a:pPr lvl="0" indent="0">
              <a:buNone/>
            </a:pPr>
            <a:r>
              <a:rPr>
                <a:latin typeface="Courier"/>
              </a:rPr>
              <a:t>((45693, 5), (45693, 5), (45693, 5))</a:t>
            </a:r>
          </a:p>
          <a:p>
            <a:pPr lvl="0" indent="0" marL="0">
              <a:spcBef>
                <a:spcPts val="3000"/>
              </a:spcBef>
              <a:buNone/>
            </a:pPr>
            <a:r>
              <a:rPr b="1"/>
              <a:t>Fit LR3 Model</a:t>
            </a:r>
          </a:p>
          <a:p>
            <a:pPr lvl="0" indent="0">
              <a:buNone/>
            </a:pPr>
            <a:r>
              <a:rPr>
                <a:latin typeface="Courier"/>
              </a:rPr>
              <a:t>lr3 </a:t>
            </a:r>
            <a:r>
              <a:rPr>
                <a:solidFill>
                  <a:srgbClr val="666666"/>
                </a:solidFill>
                <a:latin typeface="Courier"/>
              </a:rPr>
              <a:t>=</a:t>
            </a:r>
            <a:r>
              <a:rPr>
                <a:latin typeface="Courier"/>
              </a:rPr>
              <a:t> LinearRegression(fit_intercept</a:t>
            </a:r>
            <a:r>
              <a:rPr>
                <a:solidFill>
                  <a:srgbClr val="666666"/>
                </a:solidFill>
                <a:latin typeface="Courier"/>
              </a:rPr>
              <a:t>=</a:t>
            </a:r>
            <a:r>
              <a:rPr>
                <a:solidFill>
                  <a:srgbClr val="19177C"/>
                </a:solidFill>
                <a:latin typeface="Courier"/>
              </a:rPr>
              <a:t>True</a:t>
            </a:r>
            <a:r>
              <a:rPr>
                <a:latin typeface="Courier"/>
              </a:rPr>
              <a:t>)</a:t>
            </a:r>
            <a:br/>
            <a:r>
              <a:rPr>
                <a:latin typeface="Courier"/>
              </a:rPr>
              <a:t>lr3.fit(X_train_lr3, z_train)</a:t>
            </a:r>
            <a:br/>
            <a:br/>
            <a:r>
              <a:rPr>
                <a:latin typeface="Courier"/>
              </a:rPr>
              <a:t>coef_series </a:t>
            </a:r>
            <a:r>
              <a:rPr>
                <a:solidFill>
                  <a:srgbClr val="666666"/>
                </a:solidFill>
                <a:latin typeface="Courier"/>
              </a:rPr>
              <a:t>=</a:t>
            </a:r>
            <a:r>
              <a:rPr>
                <a:latin typeface="Courier"/>
              </a:rPr>
              <a:t> pd.Series(lr3.coef_, index</a:t>
            </a:r>
            <a:r>
              <a:rPr>
                <a:solidFill>
                  <a:srgbClr val="666666"/>
                </a:solidFill>
                <a:latin typeface="Courier"/>
              </a:rPr>
              <a:t>=</a:t>
            </a:r>
            <a:r>
              <a:rPr>
                <a:latin typeface="Courier"/>
              </a:rPr>
              <a:t>X_train_lr3.columns).sort_values(ascending</a:t>
            </a:r>
            <a:r>
              <a:rPr>
                <a:solidFill>
                  <a:srgbClr val="666666"/>
                </a:solidFill>
                <a:latin typeface="Courier"/>
              </a:rPr>
              <a:t>=</a:t>
            </a:r>
            <a:r>
              <a:rPr>
                <a:solidFill>
                  <a:srgbClr val="19177C"/>
                </a:solidFill>
                <a:latin typeface="Courier"/>
              </a:rPr>
              <a:t>False</a:t>
            </a:r>
            <a:r>
              <a:rPr>
                <a:latin typeface="Courier"/>
              </a:rPr>
              <a:t>)</a:t>
            </a:r>
            <a:br/>
            <a:br/>
            <a:r>
              <a:rPr>
                <a:solidFill>
                  <a:srgbClr val="008000"/>
                </a:solidFill>
                <a:latin typeface="Courier"/>
              </a:rPr>
              <a:t>print</a:t>
            </a:r>
            <a:r>
              <a:rPr>
                <a:latin typeface="Courier"/>
              </a:rPr>
              <a:t>(</a:t>
            </a:r>
            <a:r>
              <a:rPr>
                <a:solidFill>
                  <a:srgbClr val="BB6688"/>
                </a:solidFill>
                <a:latin typeface="Courier"/>
              </a:rPr>
              <a:t>f"Intercept (standardized space): </a:t>
            </a:r>
            <a:r>
              <a:rPr>
                <a:solidFill>
                  <a:srgbClr val="4070A0"/>
                </a:solidFill>
                <a:latin typeface="Courier"/>
              </a:rPr>
              <a:t>{</a:t>
            </a:r>
            <a:r>
              <a:rPr>
                <a:latin typeface="Courier"/>
              </a:rPr>
              <a:t>lr3</a:t>
            </a:r>
            <a:r>
              <a:rPr>
                <a:solidFill>
                  <a:srgbClr val="4070A0"/>
                </a:solidFill>
                <a:latin typeface="Courier"/>
              </a:rPr>
              <a:t>.</a:t>
            </a:r>
            <a:r>
              <a:rPr>
                <a:latin typeface="Courier"/>
              </a:rPr>
              <a:t>intercept_</a:t>
            </a:r>
            <a:r>
              <a:rPr>
                <a:solidFill>
                  <a:srgbClr val="4070A0"/>
                </a:solidFill>
                <a:latin typeface="Courier"/>
              </a:rPr>
              <a:t>:.6f}</a:t>
            </a:r>
            <a:r>
              <a:rPr>
                <a:solidFill>
                  <a:srgbClr val="BB6688"/>
                </a:solidFill>
                <a:latin typeface="Courier"/>
              </a:rPr>
              <a:t>"</a:t>
            </a:r>
            <a:r>
              <a:rPr>
                <a:latin typeface="Courier"/>
              </a:rPr>
              <a:t>)</a:t>
            </a:r>
            <a:br/>
            <a:r>
              <a:rPr>
                <a:latin typeface="Courier"/>
              </a:rPr>
              <a:t>coef_series.head(</a:t>
            </a:r>
            <a:r>
              <a:rPr>
                <a:solidFill>
                  <a:srgbClr val="40A070"/>
                </a:solidFill>
                <a:latin typeface="Courier"/>
              </a:rPr>
              <a:t>10</a:t>
            </a:r>
            <a:r>
              <a:rPr>
                <a:latin typeface="Courier"/>
              </a:rPr>
              <a:t>)</a:t>
            </a:r>
          </a:p>
          <a:p>
            <a:pPr lvl="0" indent="0">
              <a:buNone/>
            </a:pPr>
            <a:r>
              <a:rPr>
                <a:latin typeface="Courier"/>
              </a:rPr>
              <a:t>Intercept (standardized space): -0.001959</a:t>
            </a:r>
          </a:p>
          <a:p>
            <a:pPr lvl="0" indent="0">
              <a:buNone/>
            </a:pPr>
            <a:r>
              <a:rPr>
                <a:latin typeface="Courier"/>
              </a:rPr>
              <a:t>DBH_sq    1.576643
HT_TOT    0.064651
SPCD      0.000006
DO_BH    -0.272291
DBH_cb   -0.439152
dtype: float64</a:t>
            </a:r>
          </a:p>
          <a:p>
            <a:pPr lvl="0" indent="0" marL="0">
              <a:spcBef>
                <a:spcPts val="3000"/>
              </a:spcBef>
              <a:buNone/>
            </a:pPr>
            <a:r>
              <a:rPr b="1"/>
              <a:t>Validation and Test Performance</a:t>
            </a:r>
          </a:p>
          <a:p>
            <a:pPr lvl="0" indent="0" marL="0">
              <a:spcBef>
                <a:spcPts val="3000"/>
              </a:spcBef>
              <a:buNone/>
            </a:pPr>
            <a:r>
              <a:rPr b="1"/>
              <a:t>1. Validation set</a:t>
            </a:r>
          </a:p>
          <a:p>
            <a:pPr lvl="0" indent="0">
              <a:buNone/>
            </a:pPr>
            <a:r>
              <a:rPr i="1">
                <a:solidFill>
                  <a:srgbClr val="60A0B0"/>
                </a:solidFill>
                <a:latin typeface="Courier"/>
              </a:rPr>
              <a:t># Predict standardized response</a:t>
            </a:r>
            <a:br/>
            <a:r>
              <a:rPr>
                <a:latin typeface="Courier"/>
              </a:rPr>
              <a:t>z_val_pred </a:t>
            </a:r>
            <a:r>
              <a:rPr>
                <a:solidFill>
                  <a:srgbClr val="666666"/>
                </a:solidFill>
                <a:latin typeface="Courier"/>
              </a:rPr>
              <a:t>=</a:t>
            </a:r>
            <a:r>
              <a:rPr>
                <a:latin typeface="Courier"/>
              </a:rPr>
              <a:t> lr3.predict(X_val_lr3)</a:t>
            </a:r>
            <a:br/>
            <a:br/>
            <a:r>
              <a:rPr i="1">
                <a:solidFill>
                  <a:srgbClr val="60A0B0"/>
                </a:solidFill>
                <a:latin typeface="Courier"/>
              </a:rPr>
              <a:t># Back-transform to original units</a:t>
            </a:r>
            <a:br/>
            <a:r>
              <a:rPr>
                <a:latin typeface="Courier"/>
              </a:rPr>
              <a:t>y_val_pred </a:t>
            </a:r>
            <a:r>
              <a:rPr>
                <a:solidFill>
                  <a:srgbClr val="666666"/>
                </a:solidFill>
                <a:latin typeface="Courier"/>
              </a:rPr>
              <a:t>=</a:t>
            </a:r>
            <a:r>
              <a:rPr>
                <a:latin typeface="Courier"/>
              </a:rPr>
              <a:t> z_val_pred </a:t>
            </a:r>
            <a:r>
              <a:rPr>
                <a:solidFill>
                  <a:srgbClr val="666666"/>
                </a:solidFill>
                <a:latin typeface="Courier"/>
              </a:rPr>
              <a:t>*</a:t>
            </a:r>
            <a:r>
              <a:rPr>
                <a:latin typeface="Courier"/>
              </a:rPr>
              <a:t> y_std </a:t>
            </a:r>
            <a:r>
              <a:rPr>
                <a:solidFill>
                  <a:srgbClr val="666666"/>
                </a:solidFill>
                <a:latin typeface="Courier"/>
              </a:rPr>
              <a:t>+</a:t>
            </a:r>
            <a:r>
              <a:rPr>
                <a:latin typeface="Courier"/>
              </a:rPr>
              <a:t> y_mean</a:t>
            </a:r>
            <a:br/>
            <a:br/>
            <a:r>
              <a:rPr>
                <a:latin typeface="Courier"/>
              </a:rPr>
              <a:t>val_rmse </a:t>
            </a:r>
            <a:r>
              <a:rPr>
                <a:solidFill>
                  <a:srgbClr val="666666"/>
                </a:solidFill>
                <a:latin typeface="Courier"/>
              </a:rPr>
              <a:t>=</a:t>
            </a:r>
            <a:r>
              <a:rPr>
                <a:latin typeface="Courier"/>
              </a:rPr>
              <a:t> np.sqrt(mean_squared_error(y_val, y_val_pred))</a:t>
            </a:r>
            <a:br/>
            <a:r>
              <a:rPr>
                <a:latin typeface="Courier"/>
              </a:rPr>
              <a:t>val_r2   </a:t>
            </a:r>
            <a:r>
              <a:rPr>
                <a:solidFill>
                  <a:srgbClr val="666666"/>
                </a:solidFill>
                <a:latin typeface="Courier"/>
              </a:rPr>
              <a:t>=</a:t>
            </a:r>
            <a:r>
              <a:rPr>
                <a:latin typeface="Courier"/>
              </a:rPr>
              <a:t> r2_score(y_val, y_val_pred)</a:t>
            </a:r>
            <a:br/>
            <a:r>
              <a:rPr>
                <a:latin typeface="Courier"/>
              </a:rPr>
              <a:t>val_mae  </a:t>
            </a:r>
            <a:r>
              <a:rPr>
                <a:solidFill>
                  <a:srgbClr val="666666"/>
                </a:solidFill>
                <a:latin typeface="Courier"/>
              </a:rPr>
              <a:t>=</a:t>
            </a:r>
            <a:r>
              <a:rPr>
                <a:latin typeface="Courier"/>
              </a:rPr>
              <a:t> mean_absolute_error(y_val, y_val_pred)</a:t>
            </a:r>
            <a:br/>
            <a:br/>
            <a:r>
              <a:rPr>
                <a:latin typeface="Courier"/>
              </a:rPr>
              <a:t>val_rmse, val_r2, val_mae</a:t>
            </a:r>
          </a:p>
          <a:p>
            <a:pPr lvl="0" indent="0">
              <a:buNone/>
            </a:pPr>
            <a:r>
              <a:rPr>
                <a:latin typeface="Courier"/>
              </a:rPr>
              <a:t>(np.float64(2396.5473311251117), 0.9834523097658114, 546.7363158689777)</a:t>
            </a:r>
          </a:p>
          <a:p>
            <a:pPr lvl="0" indent="0" marL="0">
              <a:spcBef>
                <a:spcPts val="3000"/>
              </a:spcBef>
              <a:buNone/>
            </a:pPr>
            <a:r>
              <a:rPr b="1"/>
              <a:t>2. Test set</a:t>
            </a:r>
          </a:p>
          <a:p>
            <a:pPr lvl="0" indent="0">
              <a:buNone/>
            </a:pPr>
            <a:r>
              <a:rPr>
                <a:latin typeface="Courier"/>
              </a:rPr>
              <a:t>z_test_pred </a:t>
            </a:r>
            <a:r>
              <a:rPr>
                <a:solidFill>
                  <a:srgbClr val="666666"/>
                </a:solidFill>
                <a:latin typeface="Courier"/>
              </a:rPr>
              <a:t>=</a:t>
            </a:r>
            <a:r>
              <a:rPr>
                <a:latin typeface="Courier"/>
              </a:rPr>
              <a:t> lr3.predict(X_test_lr3)</a:t>
            </a:r>
            <a:br/>
            <a:r>
              <a:rPr>
                <a:latin typeface="Courier"/>
              </a:rPr>
              <a:t>y_test_pred </a:t>
            </a:r>
            <a:r>
              <a:rPr>
                <a:solidFill>
                  <a:srgbClr val="666666"/>
                </a:solidFill>
                <a:latin typeface="Courier"/>
              </a:rPr>
              <a:t>=</a:t>
            </a:r>
            <a:r>
              <a:rPr>
                <a:latin typeface="Courier"/>
              </a:rPr>
              <a:t> z_test_pred </a:t>
            </a:r>
            <a:r>
              <a:rPr>
                <a:solidFill>
                  <a:srgbClr val="666666"/>
                </a:solidFill>
                <a:latin typeface="Courier"/>
              </a:rPr>
              <a:t>*</a:t>
            </a:r>
            <a:r>
              <a:rPr>
                <a:latin typeface="Courier"/>
              </a:rPr>
              <a:t> y_std </a:t>
            </a:r>
            <a:r>
              <a:rPr>
                <a:solidFill>
                  <a:srgbClr val="666666"/>
                </a:solidFill>
                <a:latin typeface="Courier"/>
              </a:rPr>
              <a:t>+</a:t>
            </a:r>
            <a:r>
              <a:rPr>
                <a:latin typeface="Courier"/>
              </a:rPr>
              <a:t> y_mean</a:t>
            </a:r>
            <a:br/>
            <a:br/>
            <a:r>
              <a:rPr>
                <a:latin typeface="Courier"/>
              </a:rPr>
              <a:t>test_rmse </a:t>
            </a:r>
            <a:r>
              <a:rPr>
                <a:solidFill>
                  <a:srgbClr val="666666"/>
                </a:solidFill>
                <a:latin typeface="Courier"/>
              </a:rPr>
              <a:t>=</a:t>
            </a:r>
            <a:r>
              <a:rPr>
                <a:latin typeface="Courier"/>
              </a:rPr>
              <a:t> np.sqrt(mean_squared_error(y_test, y_test_pred))</a:t>
            </a:r>
            <a:br/>
            <a:r>
              <a:rPr>
                <a:latin typeface="Courier"/>
              </a:rPr>
              <a:t>test_r2   </a:t>
            </a:r>
            <a:r>
              <a:rPr>
                <a:solidFill>
                  <a:srgbClr val="666666"/>
                </a:solidFill>
                <a:latin typeface="Courier"/>
              </a:rPr>
              <a:t>=</a:t>
            </a:r>
            <a:r>
              <a:rPr>
                <a:latin typeface="Courier"/>
              </a:rPr>
              <a:t> r2_score(y_test, y_test_pred)</a:t>
            </a:r>
            <a:br/>
            <a:r>
              <a:rPr>
                <a:latin typeface="Courier"/>
              </a:rPr>
              <a:t>test_mae  </a:t>
            </a:r>
            <a:r>
              <a:rPr>
                <a:solidFill>
                  <a:srgbClr val="666666"/>
                </a:solidFill>
                <a:latin typeface="Courier"/>
              </a:rPr>
              <a:t>=</a:t>
            </a:r>
            <a:r>
              <a:rPr>
                <a:latin typeface="Courier"/>
              </a:rPr>
              <a:t> mean_absolute_error(y_test, y_test_pred)</a:t>
            </a:r>
            <a:br/>
            <a:br/>
            <a:r>
              <a:rPr>
                <a:latin typeface="Courier"/>
              </a:rPr>
              <a:t>(test_rmse, test_r2, test_mae)</a:t>
            </a:r>
          </a:p>
          <a:p>
            <a:pPr lvl="0" indent="0">
              <a:buNone/>
            </a:pPr>
            <a:r>
              <a:rPr>
                <a:latin typeface="Courier"/>
              </a:rPr>
              <a:t>(np.float64(2393.397830351887), 0.9815958056142883, 556.2881048443929)</a:t>
            </a:r>
          </a:p>
          <a:p>
            <a:pPr lvl="0" indent="0" marL="0">
              <a:spcBef>
                <a:spcPts val="3000"/>
              </a:spcBef>
              <a:buNone/>
            </a:pPr>
            <a:r>
              <a:rPr b="1"/>
              <a:t>Coefficient Summary</a:t>
            </a:r>
          </a:p>
          <a:p>
            <a:pPr lvl="0" indent="0">
              <a:buNone/>
            </a:pPr>
            <a:r>
              <a:rPr>
                <a:latin typeface="Courier"/>
              </a:rPr>
              <a:t>coef_df </a:t>
            </a:r>
            <a:r>
              <a:rPr>
                <a:solidFill>
                  <a:srgbClr val="666666"/>
                </a:solidFill>
                <a:latin typeface="Courier"/>
              </a:rPr>
              <a:t>=</a:t>
            </a:r>
            <a:r>
              <a:rPr>
                <a:latin typeface="Courier"/>
              </a:rPr>
              <a:t> (</a:t>
            </a:r>
            <a:br/>
            <a:r>
              <a:rPr>
                <a:latin typeface="Courier"/>
              </a:rPr>
              <a:t>    pd.DataFrame({</a:t>
            </a:r>
            <a:br/>
            <a:r>
              <a:rPr>
                <a:latin typeface="Courier"/>
              </a:rPr>
              <a:t>        </a:t>
            </a:r>
            <a:r>
              <a:rPr>
                <a:solidFill>
                  <a:srgbClr val="4070A0"/>
                </a:solidFill>
                <a:latin typeface="Courier"/>
              </a:rPr>
              <a:t>'feature'</a:t>
            </a:r>
            <a:r>
              <a:rPr>
                <a:latin typeface="Courier"/>
              </a:rPr>
              <a:t>: X_train_lr3.columns,</a:t>
            </a:r>
            <a:br/>
            <a:r>
              <a:rPr>
                <a:latin typeface="Courier"/>
              </a:rPr>
              <a:t>        </a:t>
            </a:r>
            <a:r>
              <a:rPr>
                <a:solidFill>
                  <a:srgbClr val="4070A0"/>
                </a:solidFill>
                <a:latin typeface="Courier"/>
              </a:rPr>
              <a:t>'coef_standardized'</a:t>
            </a:r>
            <a:r>
              <a:rPr>
                <a:latin typeface="Courier"/>
              </a:rPr>
              <a:t>: lr3.coef_,</a:t>
            </a:r>
            <a:br/>
            <a:r>
              <a:rPr>
                <a:latin typeface="Courier"/>
              </a:rPr>
              <a:t>    })</a:t>
            </a:r>
            <a:br/>
            <a:r>
              <a:rPr>
                <a:latin typeface="Courier"/>
              </a:rPr>
              <a:t>    .sort_values(</a:t>
            </a:r>
            <a:r>
              <a:rPr>
                <a:solidFill>
                  <a:srgbClr val="4070A0"/>
                </a:solidFill>
                <a:latin typeface="Courier"/>
              </a:rPr>
              <a:t>'coef_standardized'</a:t>
            </a:r>
            <a:r>
              <a:rPr>
                <a:latin typeface="Courier"/>
              </a:rPr>
              <a:t>, key</a:t>
            </a:r>
            <a:r>
              <a:rPr>
                <a:solidFill>
                  <a:srgbClr val="666666"/>
                </a:solidFill>
                <a:latin typeface="Courier"/>
              </a:rPr>
              <a:t>=</a:t>
            </a:r>
            <a:r>
              <a:rPr b="1">
                <a:solidFill>
                  <a:srgbClr val="007020"/>
                </a:solidFill>
                <a:latin typeface="Courier"/>
              </a:rPr>
              <a:t>lambda</a:t>
            </a:r>
            <a:r>
              <a:rPr>
                <a:latin typeface="Courier"/>
              </a:rPr>
              <a:t> s: s.</a:t>
            </a:r>
            <a:r>
              <a:rPr>
                <a:solidFill>
                  <a:srgbClr val="008000"/>
                </a:solidFill>
                <a:latin typeface="Courier"/>
              </a:rPr>
              <a:t>abs</a:t>
            </a:r>
            <a:r>
              <a:rPr>
                <a:latin typeface="Courier"/>
              </a:rPr>
              <a:t>(), ascending</a:t>
            </a:r>
            <a:r>
              <a:rPr>
                <a:solidFill>
                  <a:srgbClr val="666666"/>
                </a:solidFill>
                <a:latin typeface="Courier"/>
              </a:rPr>
              <a:t>=</a:t>
            </a:r>
            <a:r>
              <a:rPr>
                <a:solidFill>
                  <a:srgbClr val="19177C"/>
                </a:solidFill>
                <a:latin typeface="Courier"/>
              </a:rPr>
              <a:t>False</a:t>
            </a:r>
            <a:r>
              <a:rPr>
                <a:latin typeface="Courier"/>
              </a:rPr>
              <a:t>)</a:t>
            </a:r>
            <a:br/>
            <a:r>
              <a:rPr>
                <a:latin typeface="Courier"/>
              </a:rPr>
              <a:t>    .reset_index(drop</a:t>
            </a:r>
            <a:r>
              <a:rPr>
                <a:solidFill>
                  <a:srgbClr val="666666"/>
                </a:solidFill>
                <a:latin typeface="Courier"/>
              </a:rPr>
              <a:t>=</a:t>
            </a:r>
            <a:r>
              <a:rPr>
                <a:solidFill>
                  <a:srgbClr val="19177C"/>
                </a:solidFill>
                <a:latin typeface="Courier"/>
              </a:rPr>
              <a:t>True</a:t>
            </a:r>
            <a:r>
              <a:rPr>
                <a:latin typeface="Courier"/>
              </a:rPr>
              <a:t>)</a:t>
            </a:r>
            <a:br/>
            <a:r>
              <a:rPr>
                <a:latin typeface="Courier"/>
              </a:rPr>
              <a:t>)</a:t>
            </a:r>
            <a:br/>
            <a:br/>
            <a:r>
              <a:rPr>
                <a:latin typeface="Courier"/>
              </a:rPr>
              <a:t>coef_df.head(</a:t>
            </a:r>
            <a:r>
              <a:rPr>
                <a:solidFill>
                  <a:srgbClr val="40A070"/>
                </a:solidFill>
                <a:latin typeface="Courier"/>
              </a:rPr>
              <a:t>20</a:t>
            </a:r>
            <a:r>
              <a:rPr>
                <a:latin typeface="Courier"/>
              </a:rPr>
              <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buNone/>
                      </a:pPr>
                      <a:r>
                        <a:rPr/>
                        <a:t>feature</a:t>
                      </a:r>
                    </a:p>
                  </a:txBody>
                  <a:tcPr/>
                </a:tc>
                <a:tc>
                  <a:txBody>
                    <a:bodyPr/>
                    <a:lstStyle/>
                    <a:p>
                      <a:pPr lvl="0" indent="0" marL="0">
                        <a:buNone/>
                      </a:pPr>
                      <a:r>
                        <a:rPr/>
                        <a:t>coef_standardized</a:t>
                      </a:r>
                    </a:p>
                  </a:txBody>
                  <a:tcPr/>
                </a:tc>
              </a:tr>
              <a:tr h="0">
                <a:tc>
                  <a:txBody>
                    <a:bodyPr/>
                    <a:lstStyle/>
                    <a:p>
                      <a:pPr lvl="0" indent="0" marL="0">
                        <a:buNone/>
                      </a:pPr>
                      <a:r>
                        <a:rPr/>
                        <a:t>0</a:t>
                      </a:r>
                    </a:p>
                  </a:txBody>
                </a:tc>
                <a:tc>
                  <a:txBody>
                    <a:bodyPr/>
                    <a:lstStyle/>
                    <a:p>
                      <a:pPr lvl="0" indent="0" marL="0">
                        <a:buNone/>
                      </a:pPr>
                      <a:r>
                        <a:rPr/>
                        <a:t>DBH_sq</a:t>
                      </a:r>
                    </a:p>
                  </a:txBody>
                </a:tc>
                <a:tc>
                  <a:txBody>
                    <a:bodyPr/>
                    <a:lstStyle/>
                    <a:p>
                      <a:pPr lvl="0" indent="0" marL="0">
                        <a:buNone/>
                      </a:pPr>
                      <a:r>
                        <a:rPr/>
                        <a:t>1.576643</a:t>
                      </a:r>
                    </a:p>
                  </a:txBody>
                </a:tc>
              </a:tr>
              <a:tr h="0">
                <a:tc>
                  <a:txBody>
                    <a:bodyPr/>
                    <a:lstStyle/>
                    <a:p>
                      <a:pPr lvl="0" indent="0" marL="0">
                        <a:buNone/>
                      </a:pPr>
                      <a:r>
                        <a:rPr/>
                        <a:t>1</a:t>
                      </a:r>
                    </a:p>
                  </a:txBody>
                </a:tc>
                <a:tc>
                  <a:txBody>
                    <a:bodyPr/>
                    <a:lstStyle/>
                    <a:p>
                      <a:pPr lvl="0" indent="0" marL="0">
                        <a:buNone/>
                      </a:pPr>
                      <a:r>
                        <a:rPr/>
                        <a:t>DBH_cb</a:t>
                      </a:r>
                    </a:p>
                  </a:txBody>
                </a:tc>
                <a:tc>
                  <a:txBody>
                    <a:bodyPr/>
                    <a:lstStyle/>
                    <a:p>
                      <a:pPr lvl="0" indent="0" marL="0">
                        <a:buNone/>
                      </a:pPr>
                      <a:r>
                        <a:rPr/>
                        <a:t>-0.439152</a:t>
                      </a:r>
                    </a:p>
                  </a:txBody>
                </a:tc>
              </a:tr>
              <a:tr h="0">
                <a:tc>
                  <a:txBody>
                    <a:bodyPr/>
                    <a:lstStyle/>
                    <a:p>
                      <a:pPr lvl="0" indent="0" marL="0">
                        <a:buNone/>
                      </a:pPr>
                      <a:r>
                        <a:rPr/>
                        <a:t>2</a:t>
                      </a:r>
                    </a:p>
                  </a:txBody>
                </a:tc>
                <a:tc>
                  <a:txBody>
                    <a:bodyPr/>
                    <a:lstStyle/>
                    <a:p>
                      <a:pPr lvl="0" indent="0" marL="0">
                        <a:buNone/>
                      </a:pPr>
                      <a:r>
                        <a:rPr/>
                        <a:t>DO_BH</a:t>
                      </a:r>
                    </a:p>
                  </a:txBody>
                </a:tc>
                <a:tc>
                  <a:txBody>
                    <a:bodyPr/>
                    <a:lstStyle/>
                    <a:p>
                      <a:pPr lvl="0" indent="0" marL="0">
                        <a:buNone/>
                      </a:pPr>
                      <a:r>
                        <a:rPr/>
                        <a:t>-0.272291</a:t>
                      </a:r>
                    </a:p>
                  </a:txBody>
                </a:tc>
              </a:tr>
              <a:tr h="0">
                <a:tc>
                  <a:txBody>
                    <a:bodyPr/>
                    <a:lstStyle/>
                    <a:p>
                      <a:pPr lvl="0" indent="0" marL="0">
                        <a:buNone/>
                      </a:pPr>
                      <a:r>
                        <a:rPr/>
                        <a:t>3</a:t>
                      </a:r>
                    </a:p>
                  </a:txBody>
                </a:tc>
                <a:tc>
                  <a:txBody>
                    <a:bodyPr/>
                    <a:lstStyle/>
                    <a:p>
                      <a:pPr lvl="0" indent="0" marL="0">
                        <a:buNone/>
                      </a:pPr>
                      <a:r>
                        <a:rPr/>
                        <a:t>HT_TOT</a:t>
                      </a:r>
                    </a:p>
                  </a:txBody>
                </a:tc>
                <a:tc>
                  <a:txBody>
                    <a:bodyPr/>
                    <a:lstStyle/>
                    <a:p>
                      <a:pPr lvl="0" indent="0" marL="0">
                        <a:buNone/>
                      </a:pPr>
                      <a:r>
                        <a:rPr/>
                        <a:t>0.064651</a:t>
                      </a:r>
                    </a:p>
                  </a:txBody>
                </a:tc>
              </a:tr>
              <a:tr h="0">
                <a:tc>
                  <a:txBody>
                    <a:bodyPr/>
                    <a:lstStyle/>
                    <a:p>
                      <a:pPr lvl="0" indent="0" marL="0">
                        <a:buNone/>
                      </a:pPr>
                      <a:r>
                        <a:rPr/>
                        <a:t>4</a:t>
                      </a:r>
                    </a:p>
                  </a:txBody>
                </a:tc>
                <a:tc>
                  <a:txBody>
                    <a:bodyPr/>
                    <a:lstStyle/>
                    <a:p>
                      <a:pPr lvl="0" indent="0" marL="0">
                        <a:buNone/>
                      </a:pPr>
                      <a:r>
                        <a:rPr/>
                        <a:t>SPCD</a:t>
                      </a:r>
                    </a:p>
                  </a:txBody>
                </a:tc>
                <a:tc>
                  <a:txBody>
                    <a:bodyPr/>
                    <a:lstStyle/>
                    <a:p>
                      <a:pPr lvl="0" indent="0" marL="0">
                        <a:buNone/>
                      </a:pPr>
                      <a:r>
                        <a:rPr/>
                        <a:t>0.000006</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Prediction Helper Function</a:t>
            </a:r>
          </a:p>
          <a:p>
            <a:pPr lvl="0" indent="0" marL="0">
              <a:buNone/>
            </a:pPr>
            <a:r>
              <a:rPr/>
              <a:t>This helper takes a DataFrame with columns </a:t>
            </a:r>
            <a:r>
              <a:rPr>
                <a:latin typeface="Courier"/>
              </a:rPr>
              <a:t>DO_BH</a:t>
            </a:r>
            <a:r>
              <a:rPr/>
              <a:t>, </a:t>
            </a:r>
            <a:r>
              <a:rPr>
                <a:latin typeface="Courier"/>
              </a:rPr>
              <a:t>HT_TOT</a:t>
            </a:r>
            <a:r>
              <a:rPr/>
              <a:t>, and </a:t>
            </a:r>
            <a:r>
              <a:rPr>
                <a:latin typeface="Courier"/>
              </a:rPr>
              <a:t>SPCD</a:t>
            </a:r>
            <a:r>
              <a:rPr/>
              <a:t> and returns biomass predictions in kg using the fitted LR3 model.</a:t>
            </a:r>
          </a:p>
          <a:p>
            <a:pPr lvl="0" indent="0">
              <a:buNone/>
            </a:pPr>
            <a:r>
              <a:rPr b="1">
                <a:solidFill>
                  <a:srgbClr val="007020"/>
                </a:solidFill>
                <a:latin typeface="Courier"/>
              </a:rPr>
              <a:t>def</a:t>
            </a:r>
            <a:r>
              <a:rPr>
                <a:latin typeface="Courier"/>
              </a:rPr>
              <a:t> predict_biomass_lr3(df_new: pd.DataFrame) </a:t>
            </a:r>
            <a:r>
              <a:rPr>
                <a:solidFill>
                  <a:srgbClr val="666666"/>
                </a:solidFill>
                <a:latin typeface="Courier"/>
              </a:rPr>
              <a:t>-&gt;</a:t>
            </a:r>
            <a:r>
              <a:rPr>
                <a:latin typeface="Courier"/>
              </a:rPr>
              <a:t> pd.Series:</a:t>
            </a:r>
            <a:br/>
            <a:r>
              <a:rPr>
                <a:latin typeface="Courier"/>
              </a:rPr>
              <a:t>    </a:t>
            </a:r>
            <a:r>
              <a:rPr i="1">
                <a:solidFill>
                  <a:srgbClr val="60A0B0"/>
                </a:solidFill>
                <a:latin typeface="Courier"/>
              </a:rPr>
              <a:t>"""Predict TT_DW_CRM using the fitted LR3 model.</a:t>
            </a:r>
            <a:br/>
            <a:br/>
            <a:r>
              <a:rPr i="1">
                <a:solidFill>
                  <a:srgbClr val="60A0B0"/>
                </a:solidFill>
                <a:latin typeface="Courier"/>
              </a:rPr>
              <a:t>    Expects columns: DO_BH, HT_TOT, SPCD.</a:t>
            </a:r>
            <a:br/>
            <a:r>
              <a:rPr i="1">
                <a:solidFill>
                  <a:srgbClr val="60A0B0"/>
                </a:solidFill>
                <a:latin typeface="Courier"/>
              </a:rPr>
              <a:t>    """</a:t>
            </a:r>
            <a:br/>
            <a:r>
              <a:rPr>
                <a:latin typeface="Courier"/>
              </a:rPr>
              <a:t>    </a:t>
            </a:r>
            <a:r>
              <a:rPr i="1">
                <a:solidFill>
                  <a:srgbClr val="60A0B0"/>
                </a:solidFill>
                <a:latin typeface="Courier"/>
              </a:rPr>
              <a:t># 1) numeric with polynomials</a:t>
            </a:r>
            <a:br/>
            <a:r>
              <a:rPr>
                <a:latin typeface="Courier"/>
              </a:rPr>
              <a:t>    X_num </a:t>
            </a:r>
            <a:r>
              <a:rPr>
                <a:solidFill>
                  <a:srgbClr val="666666"/>
                </a:solidFill>
                <a:latin typeface="Courier"/>
              </a:rPr>
              <a:t>=</a:t>
            </a:r>
            <a:r>
              <a:rPr>
                <a:latin typeface="Courier"/>
              </a:rPr>
              <a:t> add_dbh_polynomials(df_new[num_cols])</a:t>
            </a:r>
            <a:br/>
            <a:r>
              <a:rPr>
                <a:latin typeface="Courier"/>
              </a:rPr>
              <a:t>    X_num_scaled </a:t>
            </a:r>
            <a:r>
              <a:rPr>
                <a:solidFill>
                  <a:srgbClr val="666666"/>
                </a:solidFill>
                <a:latin typeface="Courier"/>
              </a:rPr>
              <a:t>=</a:t>
            </a:r>
            <a:r>
              <a:rPr>
                <a:latin typeface="Courier"/>
              </a:rPr>
              <a:t> pd.DataFrame(num_scaler.transform(X_num), columns</a:t>
            </a:r>
            <a:r>
              <a:rPr>
                <a:solidFill>
                  <a:srgbClr val="666666"/>
                </a:solidFill>
                <a:latin typeface="Courier"/>
              </a:rPr>
              <a:t>=</a:t>
            </a:r>
            <a:r>
              <a:rPr>
                <a:latin typeface="Courier"/>
              </a:rPr>
              <a:t>num_poly_cols)</a:t>
            </a:r>
            <a:br/>
            <a:br/>
            <a:r>
              <a:rPr>
                <a:latin typeface="Courier"/>
              </a:rPr>
              <a:t>    </a:t>
            </a:r>
            <a:r>
              <a:rPr i="1">
                <a:solidFill>
                  <a:srgbClr val="60A0B0"/>
                </a:solidFill>
                <a:latin typeface="Courier"/>
              </a:rPr>
              <a:t># 2) species one-hot, aligned to training levels</a:t>
            </a:r>
            <a:br/>
            <a:r>
              <a:rPr>
                <a:latin typeface="Courier"/>
              </a:rPr>
              <a:t>    X_sp </a:t>
            </a:r>
            <a:r>
              <a:rPr>
                <a:solidFill>
                  <a:srgbClr val="666666"/>
                </a:solidFill>
                <a:latin typeface="Courier"/>
              </a:rPr>
              <a:t>=</a:t>
            </a:r>
            <a:r>
              <a:rPr>
                <a:latin typeface="Courier"/>
              </a:rPr>
              <a:t> pd.get_dummies(df_new[[cat_col]], prefix</a:t>
            </a:r>
            <a:r>
              <a:rPr>
                <a:solidFill>
                  <a:srgbClr val="666666"/>
                </a:solidFill>
                <a:latin typeface="Courier"/>
              </a:rPr>
              <a:t>=</a:t>
            </a:r>
            <a:r>
              <a:rPr>
                <a:solidFill>
                  <a:srgbClr val="4070A0"/>
                </a:solidFill>
                <a:latin typeface="Courier"/>
              </a:rPr>
              <a:t>'sp'</a:t>
            </a:r>
            <a:r>
              <a:rPr>
                <a:latin typeface="Courier"/>
              </a:rPr>
              <a:t>, drop_first</a:t>
            </a:r>
            <a:r>
              <a:rPr>
                <a:solidFill>
                  <a:srgbClr val="666666"/>
                </a:solidFill>
                <a:latin typeface="Courier"/>
              </a:rPr>
              <a:t>=</a:t>
            </a:r>
            <a:r>
              <a:rPr>
                <a:solidFill>
                  <a:srgbClr val="19177C"/>
                </a:solidFill>
                <a:latin typeface="Courier"/>
              </a:rPr>
              <a:t>False</a:t>
            </a:r>
            <a:r>
              <a:rPr>
                <a:latin typeface="Courier"/>
              </a:rPr>
              <a:t>)</a:t>
            </a:r>
            <a:br/>
            <a:r>
              <a:rPr>
                <a:latin typeface="Courier"/>
              </a:rPr>
              <a:t>    </a:t>
            </a:r>
            <a:r>
              <a:rPr b="1">
                <a:solidFill>
                  <a:srgbClr val="007020"/>
                </a:solidFill>
                <a:latin typeface="Courier"/>
              </a:rPr>
              <a:t>for</a:t>
            </a:r>
            <a:r>
              <a:rPr>
                <a:latin typeface="Courier"/>
              </a:rPr>
              <a:t> c </a:t>
            </a:r>
            <a:r>
              <a:rPr b="1">
                <a:solidFill>
                  <a:srgbClr val="007020"/>
                </a:solidFill>
                <a:latin typeface="Courier"/>
              </a:rPr>
              <a:t>in</a:t>
            </a:r>
            <a:r>
              <a:rPr>
                <a:latin typeface="Courier"/>
              </a:rPr>
              <a:t> all_sp_cols:</a:t>
            </a:r>
            <a:br/>
            <a:r>
              <a:rPr>
                <a:latin typeface="Courier"/>
              </a:rPr>
              <a:t>        </a:t>
            </a:r>
            <a:r>
              <a:rPr b="1">
                <a:solidFill>
                  <a:srgbClr val="007020"/>
                </a:solidFill>
                <a:latin typeface="Courier"/>
              </a:rPr>
              <a:t>if</a:t>
            </a:r>
            <a:r>
              <a:rPr>
                <a:latin typeface="Courier"/>
              </a:rPr>
              <a:t> c </a:t>
            </a:r>
            <a:r>
              <a:rPr b="1">
                <a:solidFill>
                  <a:srgbClr val="007020"/>
                </a:solidFill>
                <a:latin typeface="Courier"/>
              </a:rPr>
              <a:t>not</a:t>
            </a:r>
            <a:r>
              <a:rPr>
                <a:latin typeface="Courier"/>
              </a:rPr>
              <a:t> </a:t>
            </a:r>
            <a:r>
              <a:rPr b="1">
                <a:solidFill>
                  <a:srgbClr val="007020"/>
                </a:solidFill>
                <a:latin typeface="Courier"/>
              </a:rPr>
              <a:t>in</a:t>
            </a:r>
            <a:r>
              <a:rPr>
                <a:latin typeface="Courier"/>
              </a:rPr>
              <a:t> X_sp.columns:</a:t>
            </a:r>
            <a:br/>
            <a:r>
              <a:rPr>
                <a:latin typeface="Courier"/>
              </a:rPr>
              <a:t>            X_sp[c] </a:t>
            </a:r>
            <a:r>
              <a:rPr>
                <a:solidFill>
                  <a:srgbClr val="666666"/>
                </a:solidFill>
                <a:latin typeface="Courier"/>
              </a:rPr>
              <a:t>=</a:t>
            </a:r>
            <a:r>
              <a:rPr>
                <a:latin typeface="Courier"/>
              </a:rPr>
              <a:t> </a:t>
            </a:r>
            <a:r>
              <a:rPr>
                <a:solidFill>
                  <a:srgbClr val="40A070"/>
                </a:solidFill>
                <a:latin typeface="Courier"/>
              </a:rPr>
              <a:t>0</a:t>
            </a:r>
            <a:br/>
            <a:r>
              <a:rPr>
                <a:latin typeface="Courier"/>
              </a:rPr>
              <a:t>    X_sp </a:t>
            </a:r>
            <a:r>
              <a:rPr>
                <a:solidFill>
                  <a:srgbClr val="666666"/>
                </a:solidFill>
                <a:latin typeface="Courier"/>
              </a:rPr>
              <a:t>=</a:t>
            </a:r>
            <a:r>
              <a:rPr>
                <a:latin typeface="Courier"/>
              </a:rPr>
              <a:t> X_sp[all_sp_cols]</a:t>
            </a:r>
            <a:br/>
            <a:br/>
            <a:r>
              <a:rPr>
                <a:latin typeface="Courier"/>
              </a:rPr>
              <a:t>    </a:t>
            </a:r>
            <a:r>
              <a:rPr i="1">
                <a:solidFill>
                  <a:srgbClr val="60A0B0"/>
                </a:solidFill>
                <a:latin typeface="Courier"/>
              </a:rPr>
              <a:t># 3) final matrix</a:t>
            </a:r>
            <a:br/>
            <a:r>
              <a:rPr>
                <a:latin typeface="Courier"/>
              </a:rPr>
              <a:t>    X_lr3_new </a:t>
            </a:r>
            <a:r>
              <a:rPr>
                <a:solidFill>
                  <a:srgbClr val="666666"/>
                </a:solidFill>
                <a:latin typeface="Courier"/>
              </a:rPr>
              <a:t>=</a:t>
            </a:r>
            <a:r>
              <a:rPr>
                <a:latin typeface="Courier"/>
              </a:rPr>
              <a:t> pd.concat([X_num_scaled, X_sp], axis</a:t>
            </a:r>
            <a:r>
              <a:rPr>
                <a:solidFill>
                  <a:srgbClr val="666666"/>
                </a:solidFill>
                <a:latin typeface="Courier"/>
              </a:rPr>
              <a:t>=</a:t>
            </a:r>
            <a:r>
              <a:rPr>
                <a:solidFill>
                  <a:srgbClr val="40A070"/>
                </a:solidFill>
                <a:latin typeface="Courier"/>
              </a:rPr>
              <a:t>1</a:t>
            </a:r>
            <a:r>
              <a:rPr>
                <a:latin typeface="Courier"/>
              </a:rPr>
              <a:t>)</a:t>
            </a:r>
            <a:br/>
            <a:br/>
            <a:r>
              <a:rPr>
                <a:latin typeface="Courier"/>
              </a:rPr>
              <a:t>    </a:t>
            </a:r>
            <a:r>
              <a:rPr i="1">
                <a:solidFill>
                  <a:srgbClr val="60A0B0"/>
                </a:solidFill>
                <a:latin typeface="Courier"/>
              </a:rPr>
              <a:t># 4) predict standardized, then back-transform</a:t>
            </a:r>
            <a:br/>
            <a:r>
              <a:rPr>
                <a:latin typeface="Courier"/>
              </a:rPr>
              <a:t>    z_pred </a:t>
            </a:r>
            <a:r>
              <a:rPr>
                <a:solidFill>
                  <a:srgbClr val="666666"/>
                </a:solidFill>
                <a:latin typeface="Courier"/>
              </a:rPr>
              <a:t>=</a:t>
            </a:r>
            <a:r>
              <a:rPr>
                <a:latin typeface="Courier"/>
              </a:rPr>
              <a:t> lr3.predict(X_lr3_new)</a:t>
            </a:r>
            <a:br/>
            <a:r>
              <a:rPr>
                <a:latin typeface="Courier"/>
              </a:rPr>
              <a:t>    y_pred </a:t>
            </a:r>
            <a:r>
              <a:rPr>
                <a:solidFill>
                  <a:srgbClr val="666666"/>
                </a:solidFill>
                <a:latin typeface="Courier"/>
              </a:rPr>
              <a:t>=</a:t>
            </a:r>
            <a:r>
              <a:rPr>
                <a:latin typeface="Courier"/>
              </a:rPr>
              <a:t> z_pred </a:t>
            </a:r>
            <a:r>
              <a:rPr>
                <a:solidFill>
                  <a:srgbClr val="666666"/>
                </a:solidFill>
                <a:latin typeface="Courier"/>
              </a:rPr>
              <a:t>*</a:t>
            </a:r>
            <a:r>
              <a:rPr>
                <a:latin typeface="Courier"/>
              </a:rPr>
              <a:t> y_std </a:t>
            </a:r>
            <a:r>
              <a:rPr>
                <a:solidFill>
                  <a:srgbClr val="666666"/>
                </a:solidFill>
                <a:latin typeface="Courier"/>
              </a:rPr>
              <a:t>+</a:t>
            </a:r>
            <a:r>
              <a:rPr>
                <a:latin typeface="Courier"/>
              </a:rPr>
              <a:t> y_mean</a:t>
            </a:r>
            <a:br/>
            <a:r>
              <a:rPr>
                <a:latin typeface="Courier"/>
              </a:rPr>
              <a:t>    </a:t>
            </a:r>
            <a:r>
              <a:rPr b="1">
                <a:solidFill>
                  <a:srgbClr val="007020"/>
                </a:solidFill>
                <a:latin typeface="Courier"/>
              </a:rPr>
              <a:t>return</a:t>
            </a:r>
            <a:r>
              <a:rPr>
                <a:latin typeface="Courier"/>
              </a:rPr>
              <a:t> pd.Series(y_pred, index</a:t>
            </a:r>
            <a:r>
              <a:rPr>
                <a:solidFill>
                  <a:srgbClr val="666666"/>
                </a:solidFill>
                <a:latin typeface="Courier"/>
              </a:rPr>
              <a:t>=</a:t>
            </a:r>
            <a:r>
              <a:rPr>
                <a:latin typeface="Courier"/>
              </a:rPr>
              <a:t>df_new.index, name</a:t>
            </a:r>
            <a:r>
              <a:rPr>
                <a:solidFill>
                  <a:srgbClr val="666666"/>
                </a:solidFill>
                <a:latin typeface="Courier"/>
              </a:rPr>
              <a:t>=</a:t>
            </a:r>
            <a:r>
              <a:rPr>
                <a:solidFill>
                  <a:srgbClr val="4070A0"/>
                </a:solidFill>
                <a:latin typeface="Courier"/>
              </a:rPr>
              <a:t>'TT_DW_CRM_pred'</a:t>
            </a:r>
            <a:r>
              <a:rPr>
                <a:latin typeface="Courier"/>
              </a:rPr>
              <a:t>)</a:t>
            </a:r>
            <a:br/>
            <a:br/>
            <a:r>
              <a:rPr i="1">
                <a:solidFill>
                  <a:srgbClr val="60A0B0"/>
                </a:solidFill>
                <a:latin typeface="Courier"/>
              </a:rPr>
              <a:t># Example usage on first 5 validation rows</a:t>
            </a:r>
            <a:br/>
            <a:r>
              <a:rPr>
                <a:latin typeface="Courier"/>
              </a:rPr>
              <a:t>example_pred </a:t>
            </a:r>
            <a:r>
              <a:rPr>
                <a:solidFill>
                  <a:srgbClr val="666666"/>
                </a:solidFill>
                <a:latin typeface="Courier"/>
              </a:rPr>
              <a:t>=</a:t>
            </a:r>
            <a:r>
              <a:rPr>
                <a:latin typeface="Courier"/>
              </a:rPr>
              <a:t> predict_biomass_lr3(val_df.head(</a:t>
            </a:r>
            <a:r>
              <a:rPr>
                <a:solidFill>
                  <a:srgbClr val="40A070"/>
                </a:solidFill>
                <a:latin typeface="Courier"/>
              </a:rPr>
              <a:t>5</a:t>
            </a:r>
            <a:r>
              <a:rPr>
                <a:latin typeface="Courier"/>
              </a:rPr>
              <a:t>))</a:t>
            </a:r>
            <a:br/>
            <a:r>
              <a:rPr>
                <a:latin typeface="Courier"/>
              </a:rPr>
              <a:t>example_pred</a:t>
            </a:r>
          </a:p>
          <a:p>
            <a:pPr lvl="0" indent="0">
              <a:buNone/>
            </a:pPr>
            <a:r>
              <a:rPr>
                <a:latin typeface="Courier"/>
              </a:rPr>
              <a:t>0     989.191623
1     680.785736
2      88.784099
3    2535.968069
4      50.614543
Name: TT_DW_CRM_pred, dtype: float64</a:t>
            </a:r>
          </a:p>
          <a:p>
            <a:pPr lvl="0" indent="0" marL="0">
              <a:spcBef>
                <a:spcPts val="3000"/>
              </a:spcBef>
              <a:buNone/>
            </a:pPr>
            <a:r>
              <a:rPr b="1"/>
              <a:t>Notes and Limitations</a:t>
            </a:r>
          </a:p>
          <a:p>
            <a:pPr lvl="0"/>
            <a:r>
              <a:rPr/>
              <a:t>Valid input ranges should match those in the training data (e.g., DBH, HT_TOT, SPCD levels).</a:t>
            </a:r>
          </a:p>
          <a:p>
            <a:pPr lvl="0"/>
            <a:r>
              <a:rPr/>
              <a:t>Predictions for species codes not seen in training will be forced into a zero-vector species encoding and are </a:t>
            </a:r>
            <a:r>
              <a:rPr b="1"/>
              <a:t>not reliable</a:t>
            </a:r>
            <a:r>
              <a:rPr/>
              <a:t>.</a:t>
            </a:r>
          </a:p>
          <a:p>
            <a:pPr lvl="0"/>
            <a:r>
              <a:rPr/>
              <a:t>Extrapolation for extremely large DBH values should be treated with caution due to polynomial terms.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Anthony Wolfe KNN Model</a:t>
            </a:r>
          </a:p>
        </p:txBody>
      </p:sp>
      <p:sp>
        <p:nvSpPr>
          <p:cNvPr id="3" name="Content Placeholder 2"/>
          <p:cNvSpPr>
            <a:spLocks noGrp="1"/>
          </p:cNvSpPr>
          <p:nvPr>
            <p:ph idx="1"/>
          </p:nvPr>
        </p:nvSpPr>
        <p:spPr/>
        <p:txBody>
          <a:bodyPr/>
          <a:lstStyle/>
          <a:p>
            <a:pPr lvl="0" indent="0" marL="0">
              <a:buNone/>
            </a:pPr>
            <a:r>
              <a:rPr/>
              <a:t>Here we discuss the implementation of Anthony Wolfe’s KNN model, which was trained using the species column as an initial filter before computing a weighted distance between the point and k neighbors.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Predicting a Single Point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def</a:t>
            </a:r>
            <a:r>
              <a:rPr>
                <a:latin typeface="Courier"/>
              </a:rPr>
              <a:t> knn_predict_one(query_row, train_df, k, w):</a:t>
            </a:r>
            <a:br/>
            <a:r>
              <a:rPr>
                <a:latin typeface="Courier"/>
              </a:rPr>
              <a:t>    species </a:t>
            </a:r>
            <a:r>
              <a:rPr>
                <a:solidFill>
                  <a:srgbClr val="666666"/>
                </a:solidFill>
                <a:latin typeface="Courier"/>
              </a:rPr>
              <a:t>=</a:t>
            </a:r>
            <a:r>
              <a:rPr>
                <a:latin typeface="Courier"/>
              </a:rPr>
              <a:t> query_row[</a:t>
            </a:r>
            <a:r>
              <a:rPr>
                <a:solidFill>
                  <a:srgbClr val="4070A0"/>
                </a:solidFill>
                <a:latin typeface="Courier"/>
              </a:rPr>
              <a:t>"SPCD"</a:t>
            </a:r>
            <a:r>
              <a:rPr>
                <a:latin typeface="Courier"/>
              </a:rPr>
              <a:t>]</a:t>
            </a:r>
            <a:br/>
            <a:r>
              <a:rPr>
                <a:latin typeface="Courier"/>
              </a:rPr>
              <a:t>    subset </a:t>
            </a:r>
            <a:r>
              <a:rPr>
                <a:solidFill>
                  <a:srgbClr val="666666"/>
                </a:solidFill>
                <a:latin typeface="Courier"/>
              </a:rPr>
              <a:t>=</a:t>
            </a:r>
            <a:r>
              <a:rPr>
                <a:latin typeface="Courier"/>
              </a:rPr>
              <a:t> train_df[train_df[</a:t>
            </a:r>
            <a:r>
              <a:rPr>
                <a:solidFill>
                  <a:srgbClr val="4070A0"/>
                </a:solidFill>
                <a:latin typeface="Courier"/>
              </a:rPr>
              <a:t>"SPCD"</a:t>
            </a:r>
            <a:r>
              <a:rPr>
                <a:latin typeface="Courier"/>
              </a:rPr>
              <a:t>] </a:t>
            </a:r>
            <a:r>
              <a:rPr>
                <a:solidFill>
                  <a:srgbClr val="666666"/>
                </a:solidFill>
                <a:latin typeface="Courier"/>
              </a:rPr>
              <a:t>==</a:t>
            </a:r>
            <a:r>
              <a:rPr>
                <a:latin typeface="Courier"/>
              </a:rPr>
              <a:t> species]</a:t>
            </a:r>
            <a:br/>
            <a:br/>
            <a:r>
              <a:rPr>
                <a:latin typeface="Courier"/>
              </a:rPr>
              <a:t>    </a:t>
            </a:r>
            <a:r>
              <a:rPr b="1">
                <a:solidFill>
                  <a:srgbClr val="007020"/>
                </a:solidFill>
                <a:latin typeface="Courier"/>
              </a:rPr>
              <a:t>if</a:t>
            </a:r>
            <a:r>
              <a:rPr>
                <a:latin typeface="Courier"/>
              </a:rPr>
              <a:t> subset.empty:</a:t>
            </a:r>
            <a:br/>
            <a:r>
              <a:rPr>
                <a:latin typeface="Courier"/>
              </a:rPr>
              <a:t>        subset </a:t>
            </a:r>
            <a:r>
              <a:rPr>
                <a:solidFill>
                  <a:srgbClr val="666666"/>
                </a:solidFill>
                <a:latin typeface="Courier"/>
              </a:rPr>
              <a:t>=</a:t>
            </a:r>
            <a:r>
              <a:rPr>
                <a:latin typeface="Courier"/>
              </a:rPr>
              <a:t> train_df</a:t>
            </a:r>
            <a:br/>
            <a:br/>
            <a:r>
              <a:rPr>
                <a:latin typeface="Courier"/>
              </a:rPr>
              <a:t>    q </a:t>
            </a:r>
            <a:r>
              <a:rPr>
                <a:solidFill>
                  <a:srgbClr val="666666"/>
                </a:solidFill>
                <a:latin typeface="Courier"/>
              </a:rPr>
              <a:t>=</a:t>
            </a:r>
            <a:r>
              <a:rPr>
                <a:latin typeface="Courier"/>
              </a:rPr>
              <a:t> np.array([query_row[</a:t>
            </a:r>
            <a:r>
              <a:rPr>
                <a:solidFill>
                  <a:srgbClr val="4070A0"/>
                </a:solidFill>
                <a:latin typeface="Courier"/>
              </a:rPr>
              <a:t>"DO_BH"</a:t>
            </a:r>
            <a:r>
              <a:rPr>
                <a:latin typeface="Courier"/>
              </a:rPr>
              <a:t>], query_row[</a:t>
            </a:r>
            <a:r>
              <a:rPr>
                <a:solidFill>
                  <a:srgbClr val="4070A0"/>
                </a:solidFill>
                <a:latin typeface="Courier"/>
              </a:rPr>
              <a:t>"HT_TOT"</a:t>
            </a:r>
            <a:r>
              <a:rPr>
                <a:latin typeface="Courier"/>
              </a:rPr>
              <a:t>]], dtype</a:t>
            </a:r>
            <a:r>
              <a:rPr>
                <a:solidFill>
                  <a:srgbClr val="666666"/>
                </a:solidFill>
                <a:latin typeface="Courier"/>
              </a:rPr>
              <a:t>=</a:t>
            </a:r>
            <a:r>
              <a:rPr>
                <a:solidFill>
                  <a:srgbClr val="008000"/>
                </a:solidFill>
                <a:latin typeface="Courier"/>
              </a:rPr>
              <a:t>float</a:t>
            </a:r>
            <a:r>
              <a:rPr>
                <a:latin typeface="Courier"/>
              </a:rPr>
              <a:t>)</a:t>
            </a:r>
            <a:br/>
            <a:r>
              <a:rPr>
                <a:latin typeface="Courier"/>
              </a:rPr>
              <a:t>    xs </a:t>
            </a:r>
            <a:r>
              <a:rPr>
                <a:solidFill>
                  <a:srgbClr val="666666"/>
                </a:solidFill>
                <a:latin typeface="Courier"/>
              </a:rPr>
              <a:t>=</a:t>
            </a:r>
            <a:r>
              <a:rPr>
                <a:latin typeface="Courier"/>
              </a:rPr>
              <a:t> subset[[</a:t>
            </a:r>
            <a:r>
              <a:rPr>
                <a:solidFill>
                  <a:srgbClr val="4070A0"/>
                </a:solidFill>
                <a:latin typeface="Courier"/>
              </a:rPr>
              <a:t>"DO_BH"</a:t>
            </a:r>
            <a:r>
              <a:rPr>
                <a:latin typeface="Courier"/>
              </a:rPr>
              <a:t>, </a:t>
            </a:r>
            <a:r>
              <a:rPr>
                <a:solidFill>
                  <a:srgbClr val="4070A0"/>
                </a:solidFill>
                <a:latin typeface="Courier"/>
              </a:rPr>
              <a:t>"HT_TOT"</a:t>
            </a:r>
            <a:r>
              <a:rPr>
                <a:latin typeface="Courier"/>
              </a:rPr>
              <a:t>]].to_numpy(dtype</a:t>
            </a:r>
            <a:r>
              <a:rPr>
                <a:solidFill>
                  <a:srgbClr val="666666"/>
                </a:solidFill>
                <a:latin typeface="Courier"/>
              </a:rPr>
              <a:t>=</a:t>
            </a:r>
            <a:r>
              <a:rPr>
                <a:solidFill>
                  <a:srgbClr val="008000"/>
                </a:solidFill>
                <a:latin typeface="Courier"/>
              </a:rPr>
              <a:t>float</a:t>
            </a:r>
            <a:r>
              <a:rPr>
                <a:latin typeface="Courier"/>
              </a:rPr>
              <a:t>)</a:t>
            </a:r>
            <a:br/>
            <a:br/>
            <a:r>
              <a:rPr>
                <a:latin typeface="Courier"/>
              </a:rPr>
              <a:t>    distances </a:t>
            </a:r>
            <a:r>
              <a:rPr>
                <a:solidFill>
                  <a:srgbClr val="666666"/>
                </a:solidFill>
                <a:latin typeface="Courier"/>
              </a:rPr>
              <a:t>=</a:t>
            </a:r>
            <a:r>
              <a:rPr>
                <a:latin typeface="Courier"/>
              </a:rPr>
              <a:t> np.array(</a:t>
            </a:r>
            <a:br/>
            <a:r>
              <a:rPr>
                <a:latin typeface="Courier"/>
              </a:rPr>
              <a:t>        [weighted_distance_2d(q, xs[i], w) </a:t>
            </a:r>
            <a:r>
              <a:rPr b="1">
                <a:solidFill>
                  <a:srgbClr val="007020"/>
                </a:solidFill>
                <a:latin typeface="Courier"/>
              </a:rPr>
              <a:t>for</a:t>
            </a:r>
            <a:r>
              <a:rPr>
                <a:latin typeface="Courier"/>
              </a:rPr>
              <a:t> i </a:t>
            </a:r>
            <a:r>
              <a:rPr b="1">
                <a:solidFill>
                  <a:srgbClr val="007020"/>
                </a:solidFill>
                <a:latin typeface="Courier"/>
              </a:rPr>
              <a:t>in</a:t>
            </a:r>
            <a:r>
              <a:rPr>
                <a:latin typeface="Courier"/>
              </a:rPr>
              <a:t> </a:t>
            </a:r>
            <a:r>
              <a:rPr>
                <a:solidFill>
                  <a:srgbClr val="008000"/>
                </a:solidFill>
                <a:latin typeface="Courier"/>
              </a:rPr>
              <a:t>range</a:t>
            </a:r>
            <a:r>
              <a:rPr>
                <a:latin typeface="Courier"/>
              </a:rPr>
              <a:t>(</a:t>
            </a:r>
            <a:r>
              <a:rPr>
                <a:solidFill>
                  <a:srgbClr val="008000"/>
                </a:solidFill>
                <a:latin typeface="Courier"/>
              </a:rPr>
              <a:t>len</a:t>
            </a:r>
            <a:r>
              <a:rPr>
                <a:latin typeface="Courier"/>
              </a:rPr>
              <a:t>(xs))]</a:t>
            </a:r>
            <a:br/>
            <a:r>
              <a:rPr>
                <a:latin typeface="Courier"/>
              </a:rPr>
              <a:t>    )</a:t>
            </a:r>
            <a:br/>
            <a:br/>
            <a:r>
              <a:rPr>
                <a:latin typeface="Courier"/>
              </a:rPr>
              <a:t>    k_eff </a:t>
            </a:r>
            <a:r>
              <a:rPr>
                <a:solidFill>
                  <a:srgbClr val="666666"/>
                </a:solidFill>
                <a:latin typeface="Courier"/>
              </a:rPr>
              <a:t>=</a:t>
            </a:r>
            <a:r>
              <a:rPr>
                <a:latin typeface="Courier"/>
              </a:rPr>
              <a:t> </a:t>
            </a:r>
            <a:r>
              <a:rPr>
                <a:solidFill>
                  <a:srgbClr val="008000"/>
                </a:solidFill>
                <a:latin typeface="Courier"/>
              </a:rPr>
              <a:t>int</a:t>
            </a:r>
            <a:r>
              <a:rPr>
                <a:latin typeface="Courier"/>
              </a:rPr>
              <a:t>(</a:t>
            </a:r>
            <a:r>
              <a:rPr>
                <a:solidFill>
                  <a:srgbClr val="008000"/>
                </a:solidFill>
                <a:latin typeface="Courier"/>
              </a:rPr>
              <a:t>min</a:t>
            </a:r>
            <a:r>
              <a:rPr>
                <a:latin typeface="Courier"/>
              </a:rPr>
              <a:t>(k, </a:t>
            </a:r>
            <a:r>
              <a:rPr>
                <a:solidFill>
                  <a:srgbClr val="008000"/>
                </a:solidFill>
                <a:latin typeface="Courier"/>
              </a:rPr>
              <a:t>len</a:t>
            </a:r>
            <a:r>
              <a:rPr>
                <a:latin typeface="Courier"/>
              </a:rPr>
              <a:t>(distances)))</a:t>
            </a:r>
            <a:br/>
            <a:br/>
            <a:r>
              <a:rPr>
                <a:latin typeface="Courier"/>
              </a:rPr>
              <a:t>    nn_idx </a:t>
            </a:r>
            <a:r>
              <a:rPr>
                <a:solidFill>
                  <a:srgbClr val="666666"/>
                </a:solidFill>
                <a:latin typeface="Courier"/>
              </a:rPr>
              <a:t>=</a:t>
            </a:r>
            <a:r>
              <a:rPr>
                <a:latin typeface="Courier"/>
              </a:rPr>
              <a:t> np.argpartition(distances, k_eff </a:t>
            </a:r>
            <a:r>
              <a:rPr>
                <a:solidFill>
                  <a:srgbClr val="666666"/>
                </a:solidFill>
                <a:latin typeface="Courier"/>
              </a:rPr>
              <a:t>-</a:t>
            </a:r>
            <a:r>
              <a:rPr>
                <a:latin typeface="Courier"/>
              </a:rPr>
              <a:t> </a:t>
            </a:r>
            <a:r>
              <a:rPr>
                <a:solidFill>
                  <a:srgbClr val="40A070"/>
                </a:solidFill>
                <a:latin typeface="Courier"/>
              </a:rPr>
              <a:t>1</a:t>
            </a:r>
            <a:r>
              <a:rPr>
                <a:latin typeface="Courier"/>
              </a:rPr>
              <a:t>)[:k_eff]</a:t>
            </a:r>
            <a:br/>
            <a:br/>
            <a:r>
              <a:rPr>
                <a:latin typeface="Courier"/>
              </a:rPr>
              <a:t>    y_neighbors </a:t>
            </a:r>
            <a:r>
              <a:rPr>
                <a:solidFill>
                  <a:srgbClr val="666666"/>
                </a:solidFill>
                <a:latin typeface="Courier"/>
              </a:rPr>
              <a:t>=</a:t>
            </a:r>
            <a:r>
              <a:rPr>
                <a:latin typeface="Courier"/>
              </a:rPr>
              <a:t> subset.iloc[nn_idx][</a:t>
            </a:r>
            <a:r>
              <a:rPr>
                <a:solidFill>
                  <a:srgbClr val="4070A0"/>
                </a:solidFill>
                <a:latin typeface="Courier"/>
              </a:rPr>
              <a:t>"TT_DW_CRM"</a:t>
            </a:r>
            <a:r>
              <a:rPr>
                <a:latin typeface="Courier"/>
              </a:rPr>
              <a:t>].to_numpy(dtype</a:t>
            </a:r>
            <a:r>
              <a:rPr>
                <a:solidFill>
                  <a:srgbClr val="666666"/>
                </a:solidFill>
                <a:latin typeface="Courier"/>
              </a:rPr>
              <a:t>=</a:t>
            </a:r>
            <a:r>
              <a:rPr>
                <a:solidFill>
                  <a:srgbClr val="008000"/>
                </a:solidFill>
                <a:latin typeface="Courier"/>
              </a:rPr>
              <a:t>float</a:t>
            </a:r>
            <a:r>
              <a:rPr>
                <a:latin typeface="Courier"/>
              </a:rPr>
              <a:t>)</a:t>
            </a:r>
            <a:br/>
            <a:r>
              <a:rPr>
                <a:latin typeface="Courier"/>
              </a:rPr>
              <a:t>    </a:t>
            </a:r>
            <a:r>
              <a:rPr b="1">
                <a:solidFill>
                  <a:srgbClr val="007020"/>
                </a:solidFill>
                <a:latin typeface="Courier"/>
              </a:rPr>
              <a:t>return</a:t>
            </a:r>
            <a:r>
              <a:rPr>
                <a:latin typeface="Courier"/>
              </a:rPr>
              <a:t> </a:t>
            </a:r>
            <a:r>
              <a:rPr>
                <a:solidFill>
                  <a:srgbClr val="008000"/>
                </a:solidFill>
                <a:latin typeface="Courier"/>
              </a:rPr>
              <a:t>float</a:t>
            </a:r>
            <a:r>
              <a:rPr>
                <a:latin typeface="Courier"/>
              </a:rPr>
              <a:t>(y_neighbors.mean())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Weighted Distance Function</a:t>
            </a:r>
          </a:p>
        </p:txBody>
      </p:sp>
      <p:sp>
        <p:nvSpPr>
          <p:cNvPr id="3" name="Content Placeholder 2"/>
          <p:cNvSpPr>
            <a:spLocks noGrp="1"/>
          </p:cNvSpPr>
          <p:nvPr>
            <p:ph idx="1"/>
          </p:nvPr>
        </p:nvSpPr>
        <p:spPr/>
        <p:txBody>
          <a:bodyPr/>
          <a:lstStyle/>
          <a:p>
            <a:pPr lvl="0" indent="0" marL="0">
              <a:buNone/>
            </a:pPr>
            <a:r>
              <a:rPr/>
              <a:t>As shown in the function snippet below, dx1 and dx2 represent the difference between the points in both dimensions, while w1 is a parameter for our model to be optimized, since w2 is just the “complement” of w1. This was used once the training points were filtered to only the matching species, so distances computed using the function below only applied to k neighbors of its own species, otherwise any point is valid.</a:t>
            </a:r>
          </a:p>
          <a:p>
            <a:pPr lvl="0" indent="0">
              <a:buNone/>
            </a:pPr>
            <a:r>
              <a:rPr b="1">
                <a:solidFill>
                  <a:srgbClr val="007020"/>
                </a:solidFill>
                <a:latin typeface="Courier"/>
              </a:rPr>
              <a:t>def</a:t>
            </a:r>
            <a:r>
              <a:rPr>
                <a:latin typeface="Courier"/>
              </a:rPr>
              <a:t> weighted_distance_2d(p, q, w):</a:t>
            </a:r>
            <a:br/>
            <a:r>
              <a:rPr>
                <a:latin typeface="Courier"/>
              </a:rPr>
              <a:t>    p </a:t>
            </a:r>
            <a:r>
              <a:rPr>
                <a:solidFill>
                  <a:srgbClr val="666666"/>
                </a:solidFill>
                <a:latin typeface="Courier"/>
              </a:rPr>
              <a:t>=</a:t>
            </a:r>
            <a:r>
              <a:rPr>
                <a:latin typeface="Courier"/>
              </a:rPr>
              <a:t> np.asarray(p, dtype</a:t>
            </a:r>
            <a:r>
              <a:rPr>
                <a:solidFill>
                  <a:srgbClr val="666666"/>
                </a:solidFill>
                <a:latin typeface="Courier"/>
              </a:rPr>
              <a:t>=</a:t>
            </a:r>
            <a:r>
              <a:rPr>
                <a:solidFill>
                  <a:srgbClr val="008000"/>
                </a:solidFill>
                <a:latin typeface="Courier"/>
              </a:rPr>
              <a:t>float</a:t>
            </a:r>
            <a:r>
              <a:rPr>
                <a:latin typeface="Courier"/>
              </a:rPr>
              <a:t>)</a:t>
            </a:r>
            <a:br/>
            <a:r>
              <a:rPr>
                <a:latin typeface="Courier"/>
              </a:rPr>
              <a:t>    q </a:t>
            </a:r>
            <a:r>
              <a:rPr>
                <a:solidFill>
                  <a:srgbClr val="666666"/>
                </a:solidFill>
                <a:latin typeface="Courier"/>
              </a:rPr>
              <a:t>=</a:t>
            </a:r>
            <a:r>
              <a:rPr>
                <a:latin typeface="Courier"/>
              </a:rPr>
              <a:t> np.asarray(q, dtype</a:t>
            </a:r>
            <a:r>
              <a:rPr>
                <a:solidFill>
                  <a:srgbClr val="666666"/>
                </a:solidFill>
                <a:latin typeface="Courier"/>
              </a:rPr>
              <a:t>=</a:t>
            </a:r>
            <a:r>
              <a:rPr>
                <a:solidFill>
                  <a:srgbClr val="008000"/>
                </a:solidFill>
                <a:latin typeface="Courier"/>
              </a:rPr>
              <a:t>float</a:t>
            </a:r>
            <a:r>
              <a:rPr>
                <a:latin typeface="Courier"/>
              </a:rPr>
              <a:t>)</a:t>
            </a:r>
            <a:br/>
            <a:br/>
            <a:r>
              <a:rPr>
                <a:latin typeface="Courier"/>
              </a:rPr>
              <a:t>    dx1 </a:t>
            </a:r>
            <a:r>
              <a:rPr>
                <a:solidFill>
                  <a:srgbClr val="666666"/>
                </a:solidFill>
                <a:latin typeface="Courier"/>
              </a:rPr>
              <a:t>=</a:t>
            </a:r>
            <a:r>
              <a:rPr>
                <a:latin typeface="Courier"/>
              </a:rPr>
              <a:t> p[</a:t>
            </a:r>
            <a:r>
              <a:rPr>
                <a:solidFill>
                  <a:srgbClr val="40A070"/>
                </a:solidFill>
                <a:latin typeface="Courier"/>
              </a:rPr>
              <a:t>0</a:t>
            </a:r>
            <a:r>
              <a:rPr>
                <a:latin typeface="Courier"/>
              </a:rPr>
              <a:t>] </a:t>
            </a:r>
            <a:r>
              <a:rPr>
                <a:solidFill>
                  <a:srgbClr val="666666"/>
                </a:solidFill>
                <a:latin typeface="Courier"/>
              </a:rPr>
              <a:t>-</a:t>
            </a:r>
            <a:r>
              <a:rPr>
                <a:latin typeface="Courier"/>
              </a:rPr>
              <a:t> q[</a:t>
            </a:r>
            <a:r>
              <a:rPr>
                <a:solidFill>
                  <a:srgbClr val="40A070"/>
                </a:solidFill>
                <a:latin typeface="Courier"/>
              </a:rPr>
              <a:t>0</a:t>
            </a:r>
            <a:r>
              <a:rPr>
                <a:latin typeface="Courier"/>
              </a:rPr>
              <a:t>]</a:t>
            </a:r>
            <a:br/>
            <a:r>
              <a:rPr>
                <a:latin typeface="Courier"/>
              </a:rPr>
              <a:t>    dx2 </a:t>
            </a:r>
            <a:r>
              <a:rPr>
                <a:solidFill>
                  <a:srgbClr val="666666"/>
                </a:solidFill>
                <a:latin typeface="Courier"/>
              </a:rPr>
              <a:t>=</a:t>
            </a:r>
            <a:r>
              <a:rPr>
                <a:latin typeface="Courier"/>
              </a:rPr>
              <a:t> p[</a:t>
            </a:r>
            <a:r>
              <a:rPr>
                <a:solidFill>
                  <a:srgbClr val="40A070"/>
                </a:solidFill>
                <a:latin typeface="Courier"/>
              </a:rPr>
              <a:t>1</a:t>
            </a:r>
            <a:r>
              <a:rPr>
                <a:latin typeface="Courier"/>
              </a:rPr>
              <a:t>] </a:t>
            </a:r>
            <a:r>
              <a:rPr>
                <a:solidFill>
                  <a:srgbClr val="666666"/>
                </a:solidFill>
                <a:latin typeface="Courier"/>
              </a:rPr>
              <a:t>-</a:t>
            </a:r>
            <a:r>
              <a:rPr>
                <a:latin typeface="Courier"/>
              </a:rPr>
              <a:t> q[</a:t>
            </a:r>
            <a:r>
              <a:rPr>
                <a:solidFill>
                  <a:srgbClr val="40A070"/>
                </a:solidFill>
                <a:latin typeface="Courier"/>
              </a:rPr>
              <a:t>1</a:t>
            </a:r>
            <a:r>
              <a:rPr>
                <a:latin typeface="Courier"/>
              </a:rPr>
              <a:t>]</a:t>
            </a:r>
            <a:br/>
            <a:br/>
            <a:r>
              <a:rPr>
                <a:latin typeface="Courier"/>
              </a:rPr>
              <a:t>    w1 </a:t>
            </a:r>
            <a:r>
              <a:rPr>
                <a:solidFill>
                  <a:srgbClr val="666666"/>
                </a:solidFill>
                <a:latin typeface="Courier"/>
              </a:rPr>
              <a:t>=</a:t>
            </a:r>
            <a:r>
              <a:rPr>
                <a:latin typeface="Courier"/>
              </a:rPr>
              <a:t> w</a:t>
            </a:r>
            <a:br/>
            <a:r>
              <a:rPr>
                <a:latin typeface="Courier"/>
              </a:rPr>
              <a:t>    w2 </a:t>
            </a:r>
            <a:r>
              <a:rPr>
                <a:solidFill>
                  <a:srgbClr val="666666"/>
                </a:solidFill>
                <a:latin typeface="Courier"/>
              </a:rPr>
              <a:t>=</a:t>
            </a:r>
            <a:r>
              <a:rPr>
                <a:latin typeface="Courier"/>
              </a:rPr>
              <a:t> </a:t>
            </a:r>
            <a:r>
              <a:rPr>
                <a:solidFill>
                  <a:srgbClr val="40A070"/>
                </a:solidFill>
                <a:latin typeface="Courier"/>
              </a:rPr>
              <a:t>1.0</a:t>
            </a:r>
            <a:r>
              <a:rPr>
                <a:latin typeface="Courier"/>
              </a:rPr>
              <a:t> </a:t>
            </a:r>
            <a:r>
              <a:rPr>
                <a:solidFill>
                  <a:srgbClr val="666666"/>
                </a:solidFill>
                <a:latin typeface="Courier"/>
              </a:rPr>
              <a:t>-</a:t>
            </a:r>
            <a:r>
              <a:rPr>
                <a:latin typeface="Courier"/>
              </a:rPr>
              <a:t> w</a:t>
            </a:r>
            <a:br/>
            <a:br/>
            <a:r>
              <a:rPr>
                <a:latin typeface="Courier"/>
              </a:rPr>
              <a:t>    </a:t>
            </a:r>
            <a:r>
              <a:rPr b="1">
                <a:solidFill>
                  <a:srgbClr val="007020"/>
                </a:solidFill>
                <a:latin typeface="Courier"/>
              </a:rPr>
              <a:t>return</a:t>
            </a:r>
            <a:r>
              <a:rPr>
                <a:latin typeface="Courier"/>
              </a:rPr>
              <a:t> np.sqrt((w1 </a:t>
            </a:r>
            <a:r>
              <a:rPr>
                <a:solidFill>
                  <a:srgbClr val="666666"/>
                </a:solidFill>
                <a:latin typeface="Courier"/>
              </a:rPr>
              <a:t>*</a:t>
            </a:r>
            <a:r>
              <a:rPr>
                <a:latin typeface="Courier"/>
              </a:rPr>
              <a:t> dx1) </a:t>
            </a:r>
            <a:r>
              <a:rPr>
                <a:solidFill>
                  <a:srgbClr val="666666"/>
                </a:solidFill>
                <a:latin typeface="Courier"/>
              </a:rPr>
              <a: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(w2 </a:t>
            </a:r>
            <a:r>
              <a:rPr>
                <a:solidFill>
                  <a:srgbClr val="666666"/>
                </a:solidFill>
                <a:latin typeface="Courier"/>
              </a:rPr>
              <a:t>*</a:t>
            </a:r>
            <a:r>
              <a:rPr>
                <a:latin typeface="Courier"/>
              </a:rPr>
              <a:t> dx2) </a:t>
            </a:r>
            <a:r>
              <a:rPr>
                <a:solidFill>
                  <a:srgbClr val="666666"/>
                </a:solidFill>
                <a:latin typeface="Courier"/>
              </a:rPr>
              <a:t>**</a:t>
            </a:r>
            <a:r>
              <a:rPr>
                <a:latin typeface="Courier"/>
              </a:rPr>
              <a:t> </a:t>
            </a:r>
            <a:r>
              <a:rPr>
                <a:solidFill>
                  <a:srgbClr val="40A070"/>
                </a:solidFill>
                <a:latin typeface="Courier"/>
              </a:rPr>
              <a:t>2</a:t>
            </a:r>
            <a:r>
              <a:rPr>
                <a:latin typeface="Courier"/>
              </a:rPr>
              <a: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Predicting Entire Dataset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def</a:t>
            </a:r>
            <a:r>
              <a:rPr>
                <a:latin typeface="Courier"/>
              </a:rPr>
              <a:t> knn_predict_dataset(df, train_df, k, w):</a:t>
            </a:r>
            <a:br/>
            <a:r>
              <a:rPr>
                <a:latin typeface="Courier"/>
              </a:rPr>
              <a:t>    preds </a:t>
            </a:r>
            <a:r>
              <a:rPr>
                <a:solidFill>
                  <a:srgbClr val="666666"/>
                </a:solidFill>
                <a:latin typeface="Courier"/>
              </a:rPr>
              <a:t>=</a:t>
            </a:r>
            <a:r>
              <a:rPr>
                <a:latin typeface="Courier"/>
              </a:rPr>
              <a:t> []</a:t>
            </a:r>
            <a:br/>
            <a:r>
              <a:rPr>
                <a:latin typeface="Courier"/>
              </a:rPr>
              <a:t>    </a:t>
            </a:r>
            <a:r>
              <a:rPr b="1">
                <a:solidFill>
                  <a:srgbClr val="007020"/>
                </a:solidFill>
                <a:latin typeface="Courier"/>
              </a:rPr>
              <a:t>for</a:t>
            </a:r>
            <a:r>
              <a:rPr>
                <a:latin typeface="Courier"/>
              </a:rPr>
              <a:t> _, row </a:t>
            </a:r>
            <a:r>
              <a:rPr b="1">
                <a:solidFill>
                  <a:srgbClr val="007020"/>
                </a:solidFill>
                <a:latin typeface="Courier"/>
              </a:rPr>
              <a:t>in</a:t>
            </a:r>
            <a:r>
              <a:rPr>
                <a:latin typeface="Courier"/>
              </a:rPr>
              <a:t> df.iterrows():</a:t>
            </a:r>
            <a:br/>
            <a:r>
              <a:rPr>
                <a:latin typeface="Courier"/>
              </a:rPr>
              <a:t>        y_hat </a:t>
            </a:r>
            <a:r>
              <a:rPr>
                <a:solidFill>
                  <a:srgbClr val="666666"/>
                </a:solidFill>
                <a:latin typeface="Courier"/>
              </a:rPr>
              <a:t>=</a:t>
            </a:r>
            <a:r>
              <a:rPr>
                <a:latin typeface="Courier"/>
              </a:rPr>
              <a:t> knn_predict_one(row, train_df, k, w)</a:t>
            </a:r>
            <a:br/>
            <a:r>
              <a:rPr>
                <a:latin typeface="Courier"/>
              </a:rPr>
              <a:t>        preds.append(y_hat)</a:t>
            </a:r>
            <a:br/>
            <a:r>
              <a:rPr>
                <a:latin typeface="Courier"/>
              </a:rPr>
              <a:t>    </a:t>
            </a:r>
            <a:r>
              <a:rPr b="1">
                <a:solidFill>
                  <a:srgbClr val="007020"/>
                </a:solidFill>
                <a:latin typeface="Courier"/>
              </a:rPr>
              <a:t>return</a:t>
            </a:r>
            <a:r>
              <a:rPr>
                <a:latin typeface="Courier"/>
              </a:rPr>
              <a:t> np.array(preds, dtype</a:t>
            </a:r>
            <a:r>
              <a:rPr>
                <a:solidFill>
                  <a:srgbClr val="666666"/>
                </a:solidFill>
                <a:latin typeface="Courier"/>
              </a:rPr>
              <a:t>=</a:t>
            </a:r>
            <a:r>
              <a:rPr>
                <a:solidFill>
                  <a:srgbClr val="008000"/>
                </a:solidFill>
                <a:latin typeface="Courier"/>
              </a:rPr>
              <a:t>float</a:t>
            </a:r>
            <a:r>
              <a:rPr>
                <a:latin typeface="Courier"/>
              </a:rPr>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Tuning Parameters</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def</a:t>
            </a:r>
            <a:r>
              <a:rPr>
                <a:latin typeface="Courier"/>
              </a:rPr>
              <a:t> tune_knn(train_df, val_df, k_values, w_values):</a:t>
            </a:r>
            <a:br/>
            <a:r>
              <a:rPr>
                <a:latin typeface="Courier"/>
              </a:rPr>
              <a:t>    results </a:t>
            </a:r>
            <a:r>
              <a:rPr>
                <a:solidFill>
                  <a:srgbClr val="666666"/>
                </a:solidFill>
                <a:latin typeface="Courier"/>
              </a:rPr>
              <a:t>=</a:t>
            </a:r>
            <a:r>
              <a:rPr>
                <a:latin typeface="Courier"/>
              </a:rPr>
              <a:t> []</a:t>
            </a:r>
            <a:br/>
            <a:r>
              <a:rPr>
                <a:latin typeface="Courier"/>
              </a:rPr>
              <a:t>    y_val_true </a:t>
            </a:r>
            <a:r>
              <a:rPr>
                <a:solidFill>
                  <a:srgbClr val="666666"/>
                </a:solidFill>
                <a:latin typeface="Courier"/>
              </a:rPr>
              <a:t>=</a:t>
            </a:r>
            <a:r>
              <a:rPr>
                <a:latin typeface="Courier"/>
              </a:rPr>
              <a:t> val_df[</a:t>
            </a:r>
            <a:r>
              <a:rPr>
                <a:solidFill>
                  <a:srgbClr val="4070A0"/>
                </a:solidFill>
                <a:latin typeface="Courier"/>
              </a:rPr>
              <a:t>"TT_DW_CRM"</a:t>
            </a:r>
            <a:r>
              <a:rPr>
                <a:latin typeface="Courier"/>
              </a:rPr>
              <a:t>].to_numpy(dtype</a:t>
            </a:r>
            <a:r>
              <a:rPr>
                <a:solidFill>
                  <a:srgbClr val="666666"/>
                </a:solidFill>
                <a:latin typeface="Courier"/>
              </a:rPr>
              <a:t>=</a:t>
            </a:r>
            <a:r>
              <a:rPr>
                <a:solidFill>
                  <a:srgbClr val="008000"/>
                </a:solidFill>
                <a:latin typeface="Courier"/>
              </a:rPr>
              <a:t>float</a:t>
            </a:r>
            <a:r>
              <a:rPr>
                <a:latin typeface="Courier"/>
              </a:rPr>
              <a:t>)</a:t>
            </a:r>
            <a:br/>
            <a:br/>
            <a:r>
              <a:rPr>
                <a:latin typeface="Courier"/>
              </a:rPr>
              <a:t>    </a:t>
            </a:r>
            <a:r>
              <a:rPr b="1">
                <a:solidFill>
                  <a:srgbClr val="007020"/>
                </a:solidFill>
                <a:latin typeface="Courier"/>
              </a:rPr>
              <a:t>for</a:t>
            </a:r>
            <a:r>
              <a:rPr>
                <a:latin typeface="Courier"/>
              </a:rPr>
              <a:t> k </a:t>
            </a:r>
            <a:r>
              <a:rPr b="1">
                <a:solidFill>
                  <a:srgbClr val="007020"/>
                </a:solidFill>
                <a:latin typeface="Courier"/>
              </a:rPr>
              <a:t>in</a:t>
            </a:r>
            <a:r>
              <a:rPr>
                <a:latin typeface="Courier"/>
              </a:rPr>
              <a:t> k_values:</a:t>
            </a:r>
            <a:br/>
            <a:r>
              <a:rPr>
                <a:latin typeface="Courier"/>
              </a:rPr>
              <a:t>        </a:t>
            </a:r>
            <a:r>
              <a:rPr b="1">
                <a:solidFill>
                  <a:srgbClr val="007020"/>
                </a:solidFill>
                <a:latin typeface="Courier"/>
              </a:rPr>
              <a:t>for</a:t>
            </a:r>
            <a:r>
              <a:rPr>
                <a:latin typeface="Courier"/>
              </a:rPr>
              <a:t> w </a:t>
            </a:r>
            <a:r>
              <a:rPr b="1">
                <a:solidFill>
                  <a:srgbClr val="007020"/>
                </a:solidFill>
                <a:latin typeface="Courier"/>
              </a:rPr>
              <a:t>in</a:t>
            </a:r>
            <a:r>
              <a:rPr>
                <a:latin typeface="Courier"/>
              </a:rPr>
              <a:t> w_values:</a:t>
            </a:r>
            <a:br/>
            <a:r>
              <a:rPr>
                <a:latin typeface="Courier"/>
              </a:rPr>
              <a:t>            val_preds </a:t>
            </a:r>
            <a:r>
              <a:rPr>
                <a:solidFill>
                  <a:srgbClr val="666666"/>
                </a:solidFill>
                <a:latin typeface="Courier"/>
              </a:rPr>
              <a:t>=</a:t>
            </a:r>
            <a:r>
              <a:rPr>
                <a:latin typeface="Courier"/>
              </a:rPr>
              <a:t> knn_predict_dataset(val_df, train_df, k, w)</a:t>
            </a:r>
            <a:br/>
            <a:r>
              <a:rPr>
                <a:latin typeface="Courier"/>
              </a:rPr>
              <a:t>            val_mse </a:t>
            </a:r>
            <a:r>
              <a:rPr>
                <a:solidFill>
                  <a:srgbClr val="666666"/>
                </a:solidFill>
                <a:latin typeface="Courier"/>
              </a:rPr>
              <a:t>=</a:t>
            </a:r>
            <a:r>
              <a:rPr>
                <a:latin typeface="Courier"/>
              </a:rPr>
              <a:t> rmse(y_val_true, val_preds)</a:t>
            </a:r>
            <a:br/>
            <a:r>
              <a:rPr>
                <a:latin typeface="Courier"/>
              </a:rPr>
              <a:t>            results.append({</a:t>
            </a:r>
            <a:r>
              <a:rPr>
                <a:solidFill>
                  <a:srgbClr val="4070A0"/>
                </a:solidFill>
                <a:latin typeface="Courier"/>
              </a:rPr>
              <a:t>"k"</a:t>
            </a:r>
            <a:r>
              <a:rPr>
                <a:latin typeface="Courier"/>
              </a:rPr>
              <a:t>: </a:t>
            </a:r>
            <a:r>
              <a:rPr>
                <a:solidFill>
                  <a:srgbClr val="008000"/>
                </a:solidFill>
                <a:latin typeface="Courier"/>
              </a:rPr>
              <a:t>int</a:t>
            </a:r>
            <a:r>
              <a:rPr>
                <a:latin typeface="Courier"/>
              </a:rPr>
              <a:t>(k), </a:t>
            </a:r>
            <a:r>
              <a:rPr>
                <a:solidFill>
                  <a:srgbClr val="4070A0"/>
                </a:solidFill>
                <a:latin typeface="Courier"/>
              </a:rPr>
              <a:t>"w"</a:t>
            </a:r>
            <a:r>
              <a:rPr>
                <a:latin typeface="Courier"/>
              </a:rPr>
              <a:t>: </a:t>
            </a:r>
            <a:r>
              <a:rPr>
                <a:solidFill>
                  <a:srgbClr val="008000"/>
                </a:solidFill>
                <a:latin typeface="Courier"/>
              </a:rPr>
              <a:t>float</a:t>
            </a:r>
            <a:r>
              <a:rPr>
                <a:latin typeface="Courier"/>
              </a:rPr>
              <a:t>(w), </a:t>
            </a:r>
            <a:r>
              <a:rPr>
                <a:solidFill>
                  <a:srgbClr val="4070A0"/>
                </a:solidFill>
                <a:latin typeface="Courier"/>
              </a:rPr>
              <a:t>"val_mse"</a:t>
            </a:r>
            <a:r>
              <a:rPr>
                <a:latin typeface="Courier"/>
              </a:rPr>
              <a:t>: val_mse})</a:t>
            </a:r>
            <a:br/>
            <a:r>
              <a:rPr>
                <a:latin typeface="Courier"/>
              </a:rPr>
              <a:t>            </a:t>
            </a:r>
            <a:r>
              <a:rPr>
                <a:solidFill>
                  <a:srgbClr val="008000"/>
                </a:solidFill>
                <a:latin typeface="Courier"/>
              </a:rPr>
              <a:t>print</a:t>
            </a:r>
            <a:r>
              <a:rPr>
                <a:latin typeface="Courier"/>
              </a:rPr>
              <a:t>(</a:t>
            </a:r>
            <a:r>
              <a:rPr>
                <a:solidFill>
                  <a:srgbClr val="BB6688"/>
                </a:solidFill>
                <a:latin typeface="Courier"/>
              </a:rPr>
              <a:t>f"[tuning] k=</a:t>
            </a:r>
            <a:r>
              <a:rPr>
                <a:solidFill>
                  <a:srgbClr val="4070A0"/>
                </a:solidFill>
                <a:latin typeface="Courier"/>
              </a:rPr>
              <a:t>{</a:t>
            </a:r>
            <a:r>
              <a:rPr>
                <a:latin typeface="Courier"/>
              </a:rPr>
              <a:t>k</a:t>
            </a:r>
            <a:r>
              <a:rPr>
                <a:solidFill>
                  <a:srgbClr val="4070A0"/>
                </a:solidFill>
                <a:latin typeface="Courier"/>
              </a:rPr>
              <a:t>:2d}</a:t>
            </a:r>
            <a:r>
              <a:rPr>
                <a:solidFill>
                  <a:srgbClr val="BB6688"/>
                </a:solidFill>
                <a:latin typeface="Courier"/>
              </a:rPr>
              <a:t>, w=</a:t>
            </a:r>
            <a:r>
              <a:rPr>
                <a:solidFill>
                  <a:srgbClr val="4070A0"/>
                </a:solidFill>
                <a:latin typeface="Courier"/>
              </a:rPr>
              <a:t>{</a:t>
            </a:r>
            <a:r>
              <a:rPr>
                <a:latin typeface="Courier"/>
              </a:rPr>
              <a:t>w</a:t>
            </a:r>
            <a:r>
              <a:rPr>
                <a:solidFill>
                  <a:srgbClr val="4070A0"/>
                </a:solidFill>
                <a:latin typeface="Courier"/>
              </a:rPr>
              <a:t>:.2f}</a:t>
            </a:r>
            <a:r>
              <a:rPr>
                <a:solidFill>
                  <a:srgbClr val="BB6688"/>
                </a:solidFill>
                <a:latin typeface="Courier"/>
              </a:rPr>
              <a:t>, val RMSE=</a:t>
            </a:r>
            <a:r>
              <a:rPr>
                <a:solidFill>
                  <a:srgbClr val="4070A0"/>
                </a:solidFill>
                <a:latin typeface="Courier"/>
              </a:rPr>
              <a:t>{</a:t>
            </a:r>
            <a:r>
              <a:rPr>
                <a:latin typeface="Courier"/>
              </a:rPr>
              <a:t>val_mse</a:t>
            </a:r>
            <a:r>
              <a:rPr>
                <a:solidFill>
                  <a:srgbClr val="4070A0"/>
                </a:solidFill>
                <a:latin typeface="Courier"/>
              </a:rPr>
              <a:t>:.4f}</a:t>
            </a:r>
            <a:r>
              <a:rPr>
                <a:solidFill>
                  <a:srgbClr val="BB6688"/>
                </a:solidFill>
                <a:latin typeface="Courier"/>
              </a:rPr>
              <a:t>"</a:t>
            </a:r>
            <a:r>
              <a:rPr>
                <a:latin typeface="Courier"/>
              </a:rPr>
              <a:t>)</a:t>
            </a:r>
            <a:br/>
            <a:br/>
            <a:r>
              <a:rPr>
                <a:latin typeface="Courier"/>
              </a:rPr>
              <a:t>    results_df </a:t>
            </a:r>
            <a:r>
              <a:rPr>
                <a:solidFill>
                  <a:srgbClr val="666666"/>
                </a:solidFill>
                <a:latin typeface="Courier"/>
              </a:rPr>
              <a:t>=</a:t>
            </a:r>
            <a:r>
              <a:rPr>
                <a:latin typeface="Courier"/>
              </a:rPr>
              <a:t> pd.DataFrame(results)</a:t>
            </a:r>
            <a:br/>
            <a:r>
              <a:rPr>
                <a:latin typeface="Courier"/>
              </a:rPr>
              <a:t>    best_row </a:t>
            </a:r>
            <a:r>
              <a:rPr>
                <a:solidFill>
                  <a:srgbClr val="666666"/>
                </a:solidFill>
                <a:latin typeface="Courier"/>
              </a:rPr>
              <a:t>=</a:t>
            </a:r>
            <a:r>
              <a:rPr>
                <a:latin typeface="Courier"/>
              </a:rPr>
              <a:t> results_df.loc[results_df[</a:t>
            </a:r>
            <a:r>
              <a:rPr>
                <a:solidFill>
                  <a:srgbClr val="4070A0"/>
                </a:solidFill>
                <a:latin typeface="Courier"/>
              </a:rPr>
              <a:t>"val_mse"</a:t>
            </a:r>
            <a:r>
              <a:rPr>
                <a:latin typeface="Courier"/>
              </a:rPr>
              <a:t>].idxmin()]</a:t>
            </a:r>
            <a:br/>
            <a:r>
              <a:rPr>
                <a:latin typeface="Courier"/>
              </a:rPr>
              <a:t>    best_k </a:t>
            </a:r>
            <a:r>
              <a:rPr>
                <a:solidFill>
                  <a:srgbClr val="666666"/>
                </a:solidFill>
                <a:latin typeface="Courier"/>
              </a:rPr>
              <a:t>=</a:t>
            </a:r>
            <a:r>
              <a:rPr>
                <a:latin typeface="Courier"/>
              </a:rPr>
              <a:t> </a:t>
            </a:r>
            <a:r>
              <a:rPr>
                <a:solidFill>
                  <a:srgbClr val="008000"/>
                </a:solidFill>
                <a:latin typeface="Courier"/>
              </a:rPr>
              <a:t>int</a:t>
            </a:r>
            <a:r>
              <a:rPr>
                <a:latin typeface="Courier"/>
              </a:rPr>
              <a:t>(best_row[</a:t>
            </a:r>
            <a:r>
              <a:rPr>
                <a:solidFill>
                  <a:srgbClr val="4070A0"/>
                </a:solidFill>
                <a:latin typeface="Courier"/>
              </a:rPr>
              <a:t>"k"</a:t>
            </a:r>
            <a:r>
              <a:rPr>
                <a:latin typeface="Courier"/>
              </a:rPr>
              <a:t>])</a:t>
            </a:r>
            <a:br/>
            <a:r>
              <a:rPr>
                <a:latin typeface="Courier"/>
              </a:rPr>
              <a:t>    best_w </a:t>
            </a:r>
            <a:r>
              <a:rPr>
                <a:solidFill>
                  <a:srgbClr val="666666"/>
                </a:solidFill>
                <a:latin typeface="Courier"/>
              </a:rPr>
              <a:t>=</a:t>
            </a:r>
            <a:r>
              <a:rPr>
                <a:latin typeface="Courier"/>
              </a:rPr>
              <a:t> </a:t>
            </a:r>
            <a:r>
              <a:rPr>
                <a:solidFill>
                  <a:srgbClr val="008000"/>
                </a:solidFill>
                <a:latin typeface="Courier"/>
              </a:rPr>
              <a:t>float</a:t>
            </a:r>
            <a:r>
              <a:rPr>
                <a:latin typeface="Courier"/>
              </a:rPr>
              <a:t>(best_row[</a:t>
            </a:r>
            <a:r>
              <a:rPr>
                <a:solidFill>
                  <a:srgbClr val="4070A0"/>
                </a:solidFill>
                <a:latin typeface="Courier"/>
              </a:rPr>
              <a:t>"w"</a:t>
            </a:r>
            <a:r>
              <a:rPr>
                <a:latin typeface="Courier"/>
              </a:rPr>
              <a:t>])</a:t>
            </a:r>
            <a:br/>
            <a:r>
              <a:rPr>
                <a:latin typeface="Courier"/>
              </a:rPr>
              <a:t>    </a:t>
            </a:r>
            <a:r>
              <a:rPr b="1">
                <a:solidFill>
                  <a:srgbClr val="007020"/>
                </a:solidFill>
                <a:latin typeface="Courier"/>
              </a:rPr>
              <a:t>return</a:t>
            </a:r>
            <a:r>
              <a:rPr>
                <a:latin typeface="Courier"/>
              </a:rPr>
              <a:t> best_k, best_w, results_df</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Error Metric (RMSE)</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def</a:t>
            </a:r>
            <a:r>
              <a:rPr>
                <a:latin typeface="Courier"/>
              </a:rPr>
              <a:t> rmse(y_true, y_pred):</a:t>
            </a:r>
            <a:br/>
            <a:r>
              <a:rPr>
                <a:latin typeface="Courier"/>
              </a:rPr>
              <a:t>    y_true </a:t>
            </a:r>
            <a:r>
              <a:rPr>
                <a:solidFill>
                  <a:srgbClr val="666666"/>
                </a:solidFill>
                <a:latin typeface="Courier"/>
              </a:rPr>
              <a:t>=</a:t>
            </a:r>
            <a:r>
              <a:rPr>
                <a:latin typeface="Courier"/>
              </a:rPr>
              <a:t> np.asarray(y_true, dtype</a:t>
            </a:r>
            <a:r>
              <a:rPr>
                <a:solidFill>
                  <a:srgbClr val="666666"/>
                </a:solidFill>
                <a:latin typeface="Courier"/>
              </a:rPr>
              <a:t>=</a:t>
            </a:r>
            <a:r>
              <a:rPr>
                <a:solidFill>
                  <a:srgbClr val="008000"/>
                </a:solidFill>
                <a:latin typeface="Courier"/>
              </a:rPr>
              <a:t>float</a:t>
            </a:r>
            <a:r>
              <a:rPr>
                <a:latin typeface="Courier"/>
              </a:rPr>
              <a:t>)</a:t>
            </a:r>
            <a:br/>
            <a:r>
              <a:rPr>
                <a:latin typeface="Courier"/>
              </a:rPr>
              <a:t>    y_pred </a:t>
            </a:r>
            <a:r>
              <a:rPr>
                <a:solidFill>
                  <a:srgbClr val="666666"/>
                </a:solidFill>
                <a:latin typeface="Courier"/>
              </a:rPr>
              <a:t>=</a:t>
            </a:r>
            <a:r>
              <a:rPr>
                <a:latin typeface="Courier"/>
              </a:rPr>
              <a:t> np.asarray(y_pred, dtype</a:t>
            </a:r>
            <a:r>
              <a:rPr>
                <a:solidFill>
                  <a:srgbClr val="666666"/>
                </a:solidFill>
                <a:latin typeface="Courier"/>
              </a:rPr>
              <a:t>=</a:t>
            </a:r>
            <a:r>
              <a:rPr>
                <a:solidFill>
                  <a:srgbClr val="008000"/>
                </a:solidFill>
                <a:latin typeface="Courier"/>
              </a:rPr>
              <a:t>float</a:t>
            </a:r>
            <a:r>
              <a:rPr>
                <a:latin typeface="Courier"/>
              </a:rPr>
              <a:t>)</a:t>
            </a:r>
            <a:br/>
            <a:r>
              <a:rPr>
                <a:latin typeface="Courier"/>
              </a:rPr>
              <a:t>    </a:t>
            </a:r>
            <a:r>
              <a:rPr b="1">
                <a:solidFill>
                  <a:srgbClr val="007020"/>
                </a:solidFill>
                <a:latin typeface="Courier"/>
              </a:rPr>
              <a:t>return</a:t>
            </a:r>
            <a:r>
              <a:rPr>
                <a:latin typeface="Courier"/>
              </a:rPr>
              <a:t> </a:t>
            </a:r>
            <a:r>
              <a:rPr>
                <a:solidFill>
                  <a:srgbClr val="008000"/>
                </a:solidFill>
                <a:latin typeface="Courier"/>
              </a:rPr>
              <a:t>float</a:t>
            </a:r>
            <a:r>
              <a:rPr>
                <a:latin typeface="Courier"/>
              </a:rPr>
              <a:t>(np.mean((y_true </a:t>
            </a:r>
            <a:r>
              <a:rPr>
                <a:solidFill>
                  <a:srgbClr val="666666"/>
                </a:solidFill>
                <a:latin typeface="Courier"/>
              </a:rPr>
              <a:t>-</a:t>
            </a:r>
            <a:r>
              <a:rPr>
                <a:latin typeface="Courier"/>
              </a:rPr>
              <a:t> y_pred) </a:t>
            </a:r>
            <a:r>
              <a:rPr>
                <a:solidFill>
                  <a:srgbClr val="666666"/>
                </a:solidFill>
                <a:latin typeface="Courier"/>
              </a:rPr>
              <a:t>**</a:t>
            </a:r>
            <a:r>
              <a:rPr>
                <a:latin typeface="Courier"/>
              </a:rPr>
              <a:t> </a:t>
            </a:r>
            <a:r>
              <a:rPr>
                <a:solidFill>
                  <a:srgbClr val="40A070"/>
                </a:solidFill>
                <a:latin typeface="Courier"/>
              </a:rPr>
              <a:t>2</a:t>
            </a:r>
            <a:r>
              <a:rPr>
                <a:latin typeface="Courier"/>
              </a:rPr>
              <a:t>)</a:t>
            </a:r>
            <a:r>
              <a:rPr>
                <a:solidFill>
                  <a:srgbClr val="666666"/>
                </a:solidFill>
                <a:latin typeface="Courier"/>
              </a:rPr>
              <a:t>**</a:t>
            </a:r>
            <a:r>
              <a:rPr>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2</a:t>
            </a:r>
            <a:r>
              <a:rPr>
                <a:latin typeface="Courier"/>
              </a:rPr>
              <a: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Putting It All Together</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def</a:t>
            </a:r>
            <a:r>
              <a:rPr>
                <a:latin typeface="Courier"/>
              </a:rPr>
              <a:t> main():</a:t>
            </a:r>
            <a:br/>
            <a:r>
              <a:rPr>
                <a:latin typeface="Courier"/>
              </a:rPr>
              <a:t>    train_df </a:t>
            </a:r>
            <a:r>
              <a:rPr>
                <a:solidFill>
                  <a:srgbClr val="666666"/>
                </a:solidFill>
                <a:latin typeface="Courier"/>
              </a:rPr>
              <a:t>=</a:t>
            </a:r>
            <a:r>
              <a:rPr>
                <a:latin typeface="Courier"/>
              </a:rPr>
              <a:t> pd.read_csv(TRAIN_CSV)</a:t>
            </a:r>
            <a:br/>
            <a:r>
              <a:rPr>
                <a:latin typeface="Courier"/>
              </a:rPr>
              <a:t>    val_df   </a:t>
            </a:r>
            <a:r>
              <a:rPr>
                <a:solidFill>
                  <a:srgbClr val="666666"/>
                </a:solidFill>
                <a:latin typeface="Courier"/>
              </a:rPr>
              <a:t>=</a:t>
            </a:r>
            <a:r>
              <a:rPr>
                <a:latin typeface="Courier"/>
              </a:rPr>
              <a:t> pd.read_csv(VAL_CSV)</a:t>
            </a:r>
            <a:br/>
            <a:r>
              <a:rPr>
                <a:latin typeface="Courier"/>
              </a:rPr>
              <a:t>    test_df  </a:t>
            </a:r>
            <a:r>
              <a:rPr>
                <a:solidFill>
                  <a:srgbClr val="666666"/>
                </a:solidFill>
                <a:latin typeface="Courier"/>
              </a:rPr>
              <a:t>=</a:t>
            </a:r>
            <a:r>
              <a:rPr>
                <a:latin typeface="Courier"/>
              </a:rPr>
              <a:t> pd.read_csv(TEST_CSV)</a:t>
            </a:r>
            <a:br/>
            <a:br/>
            <a:r>
              <a:rPr>
                <a:latin typeface="Courier"/>
              </a:rPr>
              <a:t>    required_cols </a:t>
            </a:r>
            <a:r>
              <a:rPr>
                <a:solidFill>
                  <a:srgbClr val="666666"/>
                </a:solidFill>
                <a:latin typeface="Courier"/>
              </a:rPr>
              <a:t>=</a:t>
            </a:r>
            <a:r>
              <a:rPr>
                <a:latin typeface="Courier"/>
              </a:rPr>
              <a:t> {</a:t>
            </a:r>
            <a:r>
              <a:rPr>
                <a:solidFill>
                  <a:srgbClr val="4070A0"/>
                </a:solidFill>
                <a:latin typeface="Courier"/>
              </a:rPr>
              <a:t>"SPCD"</a:t>
            </a:r>
            <a:r>
              <a:rPr>
                <a:latin typeface="Courier"/>
              </a:rPr>
              <a:t>, </a:t>
            </a:r>
            <a:r>
              <a:rPr>
                <a:solidFill>
                  <a:srgbClr val="4070A0"/>
                </a:solidFill>
                <a:latin typeface="Courier"/>
              </a:rPr>
              <a:t>"DO_BH"</a:t>
            </a:r>
            <a:r>
              <a:rPr>
                <a:latin typeface="Courier"/>
              </a:rPr>
              <a:t>, </a:t>
            </a:r>
            <a:r>
              <a:rPr>
                <a:solidFill>
                  <a:srgbClr val="4070A0"/>
                </a:solidFill>
                <a:latin typeface="Courier"/>
              </a:rPr>
              <a:t>"HT_TOT"</a:t>
            </a:r>
            <a:r>
              <a:rPr>
                <a:latin typeface="Courier"/>
              </a:rPr>
              <a:t>, </a:t>
            </a:r>
            <a:r>
              <a:rPr>
                <a:solidFill>
                  <a:srgbClr val="4070A0"/>
                </a:solidFill>
                <a:latin typeface="Courier"/>
              </a:rPr>
              <a:t>"TT_DW_CRM"</a:t>
            </a:r>
            <a:r>
              <a:rPr>
                <a:latin typeface="Courier"/>
              </a:rPr>
              <a:t>}</a:t>
            </a:r>
            <a:br/>
            <a:r>
              <a:rPr>
                <a:latin typeface="Courier"/>
              </a:rPr>
              <a:t>    </a:t>
            </a:r>
            <a:r>
              <a:rPr b="1">
                <a:solidFill>
                  <a:srgbClr val="007020"/>
                </a:solidFill>
                <a:latin typeface="Courier"/>
              </a:rPr>
              <a:t>for</a:t>
            </a:r>
            <a:r>
              <a:rPr>
                <a:latin typeface="Courier"/>
              </a:rPr>
              <a:t> name, df </a:t>
            </a:r>
            <a:r>
              <a:rPr b="1">
                <a:solidFill>
                  <a:srgbClr val="007020"/>
                </a:solidFill>
                <a:latin typeface="Courier"/>
              </a:rPr>
              <a:t>in</a:t>
            </a:r>
            <a:r>
              <a:rPr>
                <a:latin typeface="Courier"/>
              </a:rPr>
              <a:t> [(</a:t>
            </a:r>
            <a:r>
              <a:rPr>
                <a:solidFill>
                  <a:srgbClr val="4070A0"/>
                </a:solidFill>
                <a:latin typeface="Courier"/>
              </a:rPr>
              <a:t>"train"</a:t>
            </a:r>
            <a:r>
              <a:rPr>
                <a:latin typeface="Courier"/>
              </a:rPr>
              <a:t>, train_df), (</a:t>
            </a:r>
            <a:r>
              <a:rPr>
                <a:solidFill>
                  <a:srgbClr val="4070A0"/>
                </a:solidFill>
                <a:latin typeface="Courier"/>
              </a:rPr>
              <a:t>"val"</a:t>
            </a:r>
            <a:r>
              <a:rPr>
                <a:latin typeface="Courier"/>
              </a:rPr>
              <a:t>, val_df), (</a:t>
            </a:r>
            <a:r>
              <a:rPr>
                <a:solidFill>
                  <a:srgbClr val="4070A0"/>
                </a:solidFill>
                <a:latin typeface="Courier"/>
              </a:rPr>
              <a:t>"test"</a:t>
            </a:r>
            <a:r>
              <a:rPr>
                <a:latin typeface="Courier"/>
              </a:rPr>
              <a:t>, test_df)]:</a:t>
            </a:r>
            <a:br/>
            <a:r>
              <a:rPr>
                <a:latin typeface="Courier"/>
              </a:rPr>
              <a:t>        missing </a:t>
            </a:r>
            <a:r>
              <a:rPr>
                <a:solidFill>
                  <a:srgbClr val="666666"/>
                </a:solidFill>
                <a:latin typeface="Courier"/>
              </a:rPr>
              <a:t>=</a:t>
            </a:r>
            <a:r>
              <a:rPr>
                <a:latin typeface="Courier"/>
              </a:rPr>
              <a:t> required_cols.difference(df.columns)</a:t>
            </a:r>
            <a:br/>
            <a:r>
              <a:rPr>
                <a:latin typeface="Courier"/>
              </a:rPr>
              <a:t>        </a:t>
            </a:r>
            <a:r>
              <a:rPr b="1">
                <a:solidFill>
                  <a:srgbClr val="007020"/>
                </a:solidFill>
                <a:latin typeface="Courier"/>
              </a:rPr>
              <a:t>if</a:t>
            </a:r>
            <a:r>
              <a:rPr>
                <a:latin typeface="Courier"/>
              </a:rPr>
              <a:t> missing:</a:t>
            </a:r>
            <a:br/>
            <a:r>
              <a:rPr>
                <a:latin typeface="Courier"/>
              </a:rPr>
              <a:t>            </a:t>
            </a:r>
            <a:r>
              <a:rPr b="1">
                <a:solidFill>
                  <a:srgbClr val="007020"/>
                </a:solidFill>
                <a:latin typeface="Courier"/>
              </a:rPr>
              <a:t>raise</a:t>
            </a:r>
            <a:r>
              <a:rPr>
                <a:latin typeface="Courier"/>
              </a:rPr>
              <a:t> </a:t>
            </a:r>
            <a:r>
              <a:rPr>
                <a:solidFill>
                  <a:srgbClr val="BC7A00"/>
                </a:solidFill>
                <a:latin typeface="Courier"/>
              </a:rPr>
              <a:t>ValueError</a:t>
            </a:r>
            <a:r>
              <a:rPr>
                <a:latin typeface="Courier"/>
              </a:rPr>
              <a:t>(</a:t>
            </a:r>
            <a:br/>
            <a:r>
              <a:rPr>
                <a:latin typeface="Courier"/>
              </a:rPr>
              <a:t>                </a:t>
            </a:r>
            <a:r>
              <a:rPr>
                <a:solidFill>
                  <a:srgbClr val="BB6688"/>
                </a:solidFill>
                <a:latin typeface="Courier"/>
              </a:rPr>
              <a:t>f"</a:t>
            </a:r>
            <a:r>
              <a:rPr>
                <a:solidFill>
                  <a:srgbClr val="4070A0"/>
                </a:solidFill>
                <a:latin typeface="Courier"/>
              </a:rPr>
              <a:t>{</a:t>
            </a:r>
            <a:r>
              <a:rPr>
                <a:latin typeface="Courier"/>
              </a:rPr>
              <a:t>name</a:t>
            </a:r>
            <a:r>
              <a:rPr>
                <a:solidFill>
                  <a:srgbClr val="4070A0"/>
                </a:solidFill>
                <a:latin typeface="Courier"/>
              </a:rPr>
              <a:t>}</a:t>
            </a:r>
            <a:r>
              <a:rPr>
                <a:solidFill>
                  <a:srgbClr val="BB6688"/>
                </a:solidFill>
                <a:latin typeface="Courier"/>
              </a:rPr>
              <a:t> dataset is missing columns: </a:t>
            </a:r>
            <a:r>
              <a:rPr>
                <a:solidFill>
                  <a:srgbClr val="4070A0"/>
                </a:solidFill>
                <a:latin typeface="Courier"/>
              </a:rPr>
              <a:t>{</a:t>
            </a:r>
            <a:r>
              <a:rPr>
                <a:solidFill>
                  <a:srgbClr val="008000"/>
                </a:solidFill>
                <a:latin typeface="Courier"/>
              </a:rPr>
              <a:t>sorted</a:t>
            </a:r>
            <a:r>
              <a:rPr>
                <a:latin typeface="Courier"/>
              </a:rPr>
              <a:t>(missing)</a:t>
            </a:r>
            <a:r>
              <a:rPr>
                <a:solidFill>
                  <a:srgbClr val="4070A0"/>
                </a:solidFill>
                <a:latin typeface="Courier"/>
              </a:rPr>
              <a:t>}</a:t>
            </a:r>
            <a:r>
              <a:rPr>
                <a:solidFill>
                  <a:srgbClr val="BB6688"/>
                </a:solidFill>
                <a:latin typeface="Courier"/>
              </a:rPr>
              <a:t>"</a:t>
            </a:r>
            <a:br/>
            <a:r>
              <a:rPr>
                <a:latin typeface="Courier"/>
              </a:rPr>
              <a:t>            )</a:t>
            </a:r>
            <a:br/>
            <a:br/>
            <a:r>
              <a:rPr>
                <a:latin typeface="Courier"/>
              </a:rPr>
              <a:t>    </a:t>
            </a:r>
            <a:r>
              <a:rPr>
                <a:solidFill>
                  <a:srgbClr val="008000"/>
                </a:solidFill>
                <a:latin typeface="Courier"/>
              </a:rPr>
              <a:t>print</a:t>
            </a:r>
            <a:r>
              <a:rPr>
                <a:latin typeface="Courier"/>
              </a:rPr>
              <a:t>(</a:t>
            </a:r>
            <a:r>
              <a:rPr>
                <a:solidFill>
                  <a:srgbClr val="BB6688"/>
                </a:solidFill>
                <a:latin typeface="Courier"/>
              </a:rPr>
              <a:t>f"Loaded train: </a:t>
            </a:r>
            <a:r>
              <a:rPr>
                <a:solidFill>
                  <a:srgbClr val="4070A0"/>
                </a:solidFill>
                <a:latin typeface="Courier"/>
              </a:rPr>
              <a:t>{</a:t>
            </a:r>
            <a:r>
              <a:rPr>
                <a:solidFill>
                  <a:srgbClr val="008000"/>
                </a:solidFill>
                <a:latin typeface="Courier"/>
              </a:rPr>
              <a:t>len</a:t>
            </a:r>
            <a:r>
              <a:rPr>
                <a:latin typeface="Courier"/>
              </a:rPr>
              <a:t>(train_df)</a:t>
            </a:r>
            <a:r>
              <a:rPr>
                <a:solidFill>
                  <a:srgbClr val="4070A0"/>
                </a:solidFill>
                <a:latin typeface="Courier"/>
              </a:rPr>
              <a:t>}</a:t>
            </a:r>
            <a:r>
              <a:rPr>
                <a:solidFill>
                  <a:srgbClr val="BB6688"/>
                </a:solidFill>
                <a:latin typeface="Courier"/>
              </a:rPr>
              <a:t> rows"</a:t>
            </a:r>
            <a:r>
              <a:rPr>
                <a:latin typeface="Courier"/>
              </a:rPr>
              <a:t>)</a:t>
            </a:r>
            <a:br/>
            <a:r>
              <a:rPr>
                <a:latin typeface="Courier"/>
              </a:rPr>
              <a:t>    </a:t>
            </a:r>
            <a:r>
              <a:rPr>
                <a:solidFill>
                  <a:srgbClr val="008000"/>
                </a:solidFill>
                <a:latin typeface="Courier"/>
              </a:rPr>
              <a:t>print</a:t>
            </a:r>
            <a:r>
              <a:rPr>
                <a:latin typeface="Courier"/>
              </a:rPr>
              <a:t>(</a:t>
            </a:r>
            <a:r>
              <a:rPr>
                <a:solidFill>
                  <a:srgbClr val="BB6688"/>
                </a:solidFill>
                <a:latin typeface="Courier"/>
              </a:rPr>
              <a:t>f"Loaded val  : </a:t>
            </a:r>
            <a:r>
              <a:rPr>
                <a:solidFill>
                  <a:srgbClr val="4070A0"/>
                </a:solidFill>
                <a:latin typeface="Courier"/>
              </a:rPr>
              <a:t>{</a:t>
            </a:r>
            <a:r>
              <a:rPr>
                <a:solidFill>
                  <a:srgbClr val="008000"/>
                </a:solidFill>
                <a:latin typeface="Courier"/>
              </a:rPr>
              <a:t>len</a:t>
            </a:r>
            <a:r>
              <a:rPr>
                <a:latin typeface="Courier"/>
              </a:rPr>
              <a:t>(val_df)</a:t>
            </a:r>
            <a:r>
              <a:rPr>
                <a:solidFill>
                  <a:srgbClr val="4070A0"/>
                </a:solidFill>
                <a:latin typeface="Courier"/>
              </a:rPr>
              <a:t>}</a:t>
            </a:r>
            <a:r>
              <a:rPr>
                <a:solidFill>
                  <a:srgbClr val="BB6688"/>
                </a:solidFill>
                <a:latin typeface="Courier"/>
              </a:rPr>
              <a:t> rows"</a:t>
            </a:r>
            <a:r>
              <a:rPr>
                <a:latin typeface="Courier"/>
              </a:rPr>
              <a:t>)</a:t>
            </a:r>
            <a:br/>
            <a:r>
              <a:rPr>
                <a:latin typeface="Courier"/>
              </a:rPr>
              <a:t>    </a:t>
            </a:r>
            <a:r>
              <a:rPr>
                <a:solidFill>
                  <a:srgbClr val="008000"/>
                </a:solidFill>
                <a:latin typeface="Courier"/>
              </a:rPr>
              <a:t>print</a:t>
            </a:r>
            <a:r>
              <a:rPr>
                <a:latin typeface="Courier"/>
              </a:rPr>
              <a:t>(</a:t>
            </a:r>
            <a:r>
              <a:rPr>
                <a:solidFill>
                  <a:srgbClr val="BB6688"/>
                </a:solidFill>
                <a:latin typeface="Courier"/>
              </a:rPr>
              <a:t>f"Loaded test : </a:t>
            </a:r>
            <a:r>
              <a:rPr>
                <a:solidFill>
                  <a:srgbClr val="4070A0"/>
                </a:solidFill>
                <a:latin typeface="Courier"/>
              </a:rPr>
              <a:t>{</a:t>
            </a:r>
            <a:r>
              <a:rPr>
                <a:solidFill>
                  <a:srgbClr val="008000"/>
                </a:solidFill>
                <a:latin typeface="Courier"/>
              </a:rPr>
              <a:t>len</a:t>
            </a:r>
            <a:r>
              <a:rPr>
                <a:latin typeface="Courier"/>
              </a:rPr>
              <a:t>(test_df)</a:t>
            </a:r>
            <a:r>
              <a:rPr>
                <a:solidFill>
                  <a:srgbClr val="4070A0"/>
                </a:solidFill>
                <a:latin typeface="Courier"/>
              </a:rPr>
              <a:t>}</a:t>
            </a:r>
            <a:r>
              <a:rPr>
                <a:solidFill>
                  <a:srgbClr val="BB6688"/>
                </a:solidFill>
                <a:latin typeface="Courier"/>
              </a:rPr>
              <a:t> rows"</a:t>
            </a:r>
            <a:r>
              <a:rPr>
                <a:latin typeface="Courier"/>
              </a:rPr>
              <a:t>)</a:t>
            </a:r>
            <a:br/>
            <a:br/>
            <a:r>
              <a:rPr>
                <a:latin typeface="Courier"/>
              </a:rPr>
              <a:t>    k_values </a:t>
            </a:r>
            <a:r>
              <a:rPr>
                <a:solidFill>
                  <a:srgbClr val="666666"/>
                </a:solidFill>
                <a:latin typeface="Courier"/>
              </a:rPr>
              <a:t>=</a:t>
            </a:r>
            <a:r>
              <a:rPr>
                <a:latin typeface="Courier"/>
              </a:rPr>
              <a:t> </a:t>
            </a:r>
            <a:r>
              <a:rPr>
                <a:solidFill>
                  <a:srgbClr val="008000"/>
                </a:solidFill>
                <a:latin typeface="Courier"/>
              </a:rPr>
              <a:t>list</a:t>
            </a:r>
            <a:r>
              <a:rPr>
                <a:latin typeface="Courier"/>
              </a:rPr>
              <a:t>(</a:t>
            </a:r>
            <a:r>
              <a:rPr>
                <a:solidFill>
                  <a:srgbClr val="008000"/>
                </a:solidFill>
                <a:latin typeface="Courier"/>
              </a:rPr>
              <a:t>range</a:t>
            </a:r>
            <a:r>
              <a:rPr>
                <a:latin typeface="Courier"/>
              </a:rPr>
              <a:t>(</a:t>
            </a:r>
            <a:r>
              <a:rPr>
                <a:solidFill>
                  <a:srgbClr val="40A070"/>
                </a:solidFill>
                <a:latin typeface="Courier"/>
              </a:rPr>
              <a:t>1</a:t>
            </a:r>
            <a:r>
              <a:rPr>
                <a:latin typeface="Courier"/>
              </a:rPr>
              <a:t>, </a:t>
            </a:r>
            <a:r>
              <a:rPr>
                <a:solidFill>
                  <a:srgbClr val="40A070"/>
                </a:solidFill>
                <a:latin typeface="Courier"/>
              </a:rPr>
              <a:t>20</a:t>
            </a:r>
            <a:r>
              <a:rPr>
                <a:latin typeface="Courier"/>
              </a:rPr>
              <a:t>, </a:t>
            </a:r>
            <a:r>
              <a:rPr>
                <a:solidFill>
                  <a:srgbClr val="40A070"/>
                </a:solidFill>
                <a:latin typeface="Courier"/>
              </a:rPr>
              <a:t>2</a:t>
            </a:r>
            <a:r>
              <a:rPr>
                <a:latin typeface="Courier"/>
              </a:rPr>
              <a:t>))</a:t>
            </a:r>
            <a:br/>
            <a:r>
              <a:rPr>
                <a:latin typeface="Courier"/>
              </a:rPr>
              <a:t>    w_values </a:t>
            </a:r>
            <a:r>
              <a:rPr>
                <a:solidFill>
                  <a:srgbClr val="666666"/>
                </a:solidFill>
                <a:latin typeface="Courier"/>
              </a:rPr>
              <a:t>=</a:t>
            </a:r>
            <a:r>
              <a:rPr>
                <a:latin typeface="Courier"/>
              </a:rPr>
              <a:t> [</a:t>
            </a:r>
            <a:r>
              <a:rPr>
                <a:solidFill>
                  <a:srgbClr val="40A070"/>
                </a:solidFill>
                <a:latin typeface="Courier"/>
              </a:rPr>
              <a:t>0.1</a:t>
            </a:r>
            <a:r>
              <a:rPr>
                <a:latin typeface="Courier"/>
              </a:rPr>
              <a:t>, </a:t>
            </a:r>
            <a:r>
              <a:rPr>
                <a:solidFill>
                  <a:srgbClr val="40A070"/>
                </a:solidFill>
                <a:latin typeface="Courier"/>
              </a:rPr>
              <a:t>0.2</a:t>
            </a:r>
            <a:r>
              <a:rPr>
                <a:latin typeface="Courier"/>
              </a:rPr>
              <a:t>, </a:t>
            </a:r>
            <a:r>
              <a:rPr>
                <a:solidFill>
                  <a:srgbClr val="40A070"/>
                </a:solidFill>
                <a:latin typeface="Courier"/>
              </a:rPr>
              <a:t>0.3</a:t>
            </a:r>
            <a:r>
              <a:rPr>
                <a:latin typeface="Courier"/>
              </a:rPr>
              <a:t>, </a:t>
            </a:r>
            <a:r>
              <a:rPr>
                <a:solidFill>
                  <a:srgbClr val="40A070"/>
                </a:solidFill>
                <a:latin typeface="Courier"/>
              </a:rPr>
              <a:t>0.4</a:t>
            </a:r>
            <a:r>
              <a:rPr>
                <a:latin typeface="Courier"/>
              </a:rPr>
              <a:t>, </a:t>
            </a:r>
            <a:r>
              <a:rPr>
                <a:solidFill>
                  <a:srgbClr val="40A070"/>
                </a:solidFill>
                <a:latin typeface="Courier"/>
              </a:rPr>
              <a:t>0.5</a:t>
            </a:r>
            <a:r>
              <a:rPr>
                <a:latin typeface="Courier"/>
              </a:rPr>
              <a:t>, </a:t>
            </a:r>
            <a:r>
              <a:rPr>
                <a:solidFill>
                  <a:srgbClr val="40A070"/>
                </a:solidFill>
                <a:latin typeface="Courier"/>
              </a:rPr>
              <a:t>0.6</a:t>
            </a:r>
            <a:r>
              <a:rPr>
                <a:latin typeface="Courier"/>
              </a:rPr>
              <a:t>, </a:t>
            </a:r>
            <a:r>
              <a:rPr>
                <a:solidFill>
                  <a:srgbClr val="40A070"/>
                </a:solidFill>
                <a:latin typeface="Courier"/>
              </a:rPr>
              <a:t>0.7</a:t>
            </a:r>
            <a:r>
              <a:rPr>
                <a:latin typeface="Courier"/>
              </a:rPr>
              <a:t>, </a:t>
            </a:r>
            <a:r>
              <a:rPr>
                <a:solidFill>
                  <a:srgbClr val="40A070"/>
                </a:solidFill>
                <a:latin typeface="Courier"/>
              </a:rPr>
              <a:t>0.8</a:t>
            </a:r>
            <a:r>
              <a:rPr>
                <a:latin typeface="Courier"/>
              </a:rPr>
              <a:t>, </a:t>
            </a:r>
            <a:r>
              <a:rPr>
                <a:solidFill>
                  <a:srgbClr val="40A070"/>
                </a:solidFill>
                <a:latin typeface="Courier"/>
              </a:rPr>
              <a:t>0.9</a:t>
            </a:r>
            <a:r>
              <a:rPr>
                <a:latin typeface="Courier"/>
              </a:rPr>
              <a:t>, </a:t>
            </a:r>
            <a:r>
              <a:rPr>
                <a:solidFill>
                  <a:srgbClr val="40A070"/>
                </a:solidFill>
                <a:latin typeface="Courier"/>
              </a:rPr>
              <a:t>1</a:t>
            </a:r>
            <a:r>
              <a:rPr>
                <a:latin typeface="Courier"/>
              </a:rPr>
              <a:t>]</a:t>
            </a:r>
            <a:br/>
            <a:br/>
            <a:r>
              <a:rPr>
                <a:latin typeface="Courier"/>
              </a:rPr>
              <a:t>    </a:t>
            </a:r>
            <a:r>
              <a:rPr>
                <a:solidFill>
                  <a:srgbClr val="008000"/>
                </a:solidFill>
                <a:latin typeface="Courier"/>
              </a:rPr>
              <a:t>print</a:t>
            </a:r>
            <a:r>
              <a:rPr>
                <a:latin typeface="Courier"/>
              </a:rPr>
              <a:t>(</a:t>
            </a:r>
            <a:r>
              <a:rPr>
                <a:solidFill>
                  <a:srgbClr val="4070A0"/>
                </a:solidFill>
                <a:latin typeface="Courier"/>
              </a:rPr>
              <a:t>"\n=== Tuning KNN on validation set ==="</a:t>
            </a:r>
            <a:r>
              <a:rPr>
                <a:latin typeface="Courier"/>
              </a:rPr>
              <a:t>)</a:t>
            </a:r>
            <a:br/>
            <a:r>
              <a:rPr>
                <a:latin typeface="Courier"/>
              </a:rPr>
              <a:t>    best_k, best_w, results_df </a:t>
            </a:r>
            <a:r>
              <a:rPr>
                <a:solidFill>
                  <a:srgbClr val="666666"/>
                </a:solidFill>
                <a:latin typeface="Courier"/>
              </a:rPr>
              <a:t>=</a:t>
            </a:r>
            <a:r>
              <a:rPr>
                <a:latin typeface="Courier"/>
              </a:rPr>
              <a:t> tune_knn(train_df, val_df, k_values, w_values)</a:t>
            </a:r>
            <a:br/>
            <a:br/>
            <a:r>
              <a:rPr>
                <a:latin typeface="Courier"/>
              </a:rPr>
              <a:t>    </a:t>
            </a:r>
            <a:r>
              <a:rPr>
                <a:solidFill>
                  <a:srgbClr val="008000"/>
                </a:solidFill>
                <a:latin typeface="Courier"/>
              </a:rPr>
              <a:t>print</a:t>
            </a:r>
            <a:r>
              <a:rPr>
                <a:latin typeface="Courier"/>
              </a:rPr>
              <a:t>(</a:t>
            </a:r>
            <a:r>
              <a:rPr>
                <a:solidFill>
                  <a:srgbClr val="4070A0"/>
                </a:solidFill>
                <a:latin typeface="Courier"/>
              </a:rPr>
              <a:t>"\n=== Best hyperparameters from validation ==="</a:t>
            </a:r>
            <a:r>
              <a:rPr>
                <a:latin typeface="Courier"/>
              </a:rPr>
              <a:t>)</a:t>
            </a:r>
            <a:br/>
            <a:r>
              <a:rPr>
                <a:latin typeface="Courier"/>
              </a:rPr>
              <a:t>    </a:t>
            </a:r>
            <a:r>
              <a:rPr>
                <a:solidFill>
                  <a:srgbClr val="008000"/>
                </a:solidFill>
                <a:latin typeface="Courier"/>
              </a:rPr>
              <a:t>print</a:t>
            </a:r>
            <a:r>
              <a:rPr>
                <a:latin typeface="Courier"/>
              </a:rPr>
              <a:t>(</a:t>
            </a:r>
            <a:r>
              <a:rPr>
                <a:solidFill>
                  <a:srgbClr val="BB6688"/>
                </a:solidFill>
                <a:latin typeface="Courier"/>
              </a:rPr>
              <a:t>f"best k = </a:t>
            </a:r>
            <a:r>
              <a:rPr>
                <a:solidFill>
                  <a:srgbClr val="4070A0"/>
                </a:solidFill>
                <a:latin typeface="Courier"/>
              </a:rPr>
              <a:t>{</a:t>
            </a:r>
            <a:r>
              <a:rPr>
                <a:latin typeface="Courier"/>
              </a:rPr>
              <a:t>best_k</a:t>
            </a:r>
            <a:r>
              <a:rPr>
                <a:solidFill>
                  <a:srgbClr val="4070A0"/>
                </a:solidFill>
                <a:latin typeface="Courier"/>
              </a:rPr>
              <a:t>}</a:t>
            </a:r>
            <a:r>
              <a:rPr>
                <a:solidFill>
                  <a:srgbClr val="BB6688"/>
                </a:solidFill>
                <a:latin typeface="Courier"/>
              </a:rPr>
              <a:t>"</a:t>
            </a:r>
            <a:r>
              <a:rPr>
                <a:latin typeface="Courier"/>
              </a:rPr>
              <a:t>)</a:t>
            </a:r>
            <a:br/>
            <a:r>
              <a:rPr>
                <a:latin typeface="Courier"/>
              </a:rPr>
              <a:t>    </a:t>
            </a:r>
            <a:r>
              <a:rPr>
                <a:solidFill>
                  <a:srgbClr val="008000"/>
                </a:solidFill>
                <a:latin typeface="Courier"/>
              </a:rPr>
              <a:t>print</a:t>
            </a:r>
            <a:r>
              <a:rPr>
                <a:latin typeface="Courier"/>
              </a:rPr>
              <a:t>(</a:t>
            </a:r>
            <a:r>
              <a:rPr>
                <a:solidFill>
                  <a:srgbClr val="BB6688"/>
                </a:solidFill>
                <a:latin typeface="Courier"/>
              </a:rPr>
              <a:t>f"best w = </a:t>
            </a:r>
            <a:r>
              <a:rPr>
                <a:solidFill>
                  <a:srgbClr val="4070A0"/>
                </a:solidFill>
                <a:latin typeface="Courier"/>
              </a:rPr>
              <a:t>{</a:t>
            </a:r>
            <a:r>
              <a:rPr>
                <a:latin typeface="Courier"/>
              </a:rPr>
              <a:t>best_w</a:t>
            </a:r>
            <a:r>
              <a:rPr>
                <a:solidFill>
                  <a:srgbClr val="4070A0"/>
                </a:solidFill>
                <a:latin typeface="Courier"/>
              </a:rPr>
              <a:t>:.4f}</a:t>
            </a:r>
            <a:r>
              <a:rPr>
                <a:solidFill>
                  <a:srgbClr val="BB6688"/>
                </a:solidFill>
                <a:latin typeface="Courier"/>
              </a:rPr>
              <a:t>"</a:t>
            </a:r>
            <a:r>
              <a:rPr>
                <a:latin typeface="Courier"/>
              </a:rPr>
              <a:t>)</a:t>
            </a:r>
            <a:br/>
            <a:br/>
            <a:r>
              <a:rPr>
                <a:latin typeface="Courier"/>
              </a:rPr>
              <a:t>    train_val_df </a:t>
            </a:r>
            <a:r>
              <a:rPr>
                <a:solidFill>
                  <a:srgbClr val="666666"/>
                </a:solidFill>
                <a:latin typeface="Courier"/>
              </a:rPr>
              <a:t>=</a:t>
            </a:r>
            <a:r>
              <a:rPr>
                <a:latin typeface="Courier"/>
              </a:rPr>
              <a:t> pd.concat([train_df, val_df], ignore_index</a:t>
            </a:r>
            <a:r>
              <a:rPr>
                <a:solidFill>
                  <a:srgbClr val="666666"/>
                </a:solidFill>
                <a:latin typeface="Courier"/>
              </a:rPr>
              <a:t>=</a:t>
            </a:r>
            <a:r>
              <a:rPr>
                <a:solidFill>
                  <a:srgbClr val="19177C"/>
                </a:solidFill>
                <a:latin typeface="Courier"/>
              </a:rPr>
              <a:t>True</a:t>
            </a:r>
            <a:r>
              <a:rPr>
                <a:latin typeface="Courier"/>
              </a:rPr>
              <a:t>)</a:t>
            </a:r>
            <a:br/>
            <a:br/>
            <a:r>
              <a:rPr>
                <a:latin typeface="Courier"/>
              </a:rPr>
              <a:t>    </a:t>
            </a:r>
            <a:r>
              <a:rPr>
                <a:solidFill>
                  <a:srgbClr val="008000"/>
                </a:solidFill>
                <a:latin typeface="Courier"/>
              </a:rPr>
              <a:t>print</a:t>
            </a:r>
            <a:r>
              <a:rPr>
                <a:latin typeface="Courier"/>
              </a:rPr>
              <a:t>(</a:t>
            </a:r>
            <a:r>
              <a:rPr>
                <a:solidFill>
                  <a:srgbClr val="4070A0"/>
                </a:solidFill>
                <a:latin typeface="Courier"/>
              </a:rPr>
              <a:t>"\n=== Evaluating on test set ==="</a:t>
            </a:r>
            <a:r>
              <a:rPr>
                <a:latin typeface="Courier"/>
              </a:rPr>
              <a:t>)</a:t>
            </a:r>
            <a:br/>
            <a:r>
              <a:rPr>
                <a:latin typeface="Courier"/>
              </a:rPr>
              <a:t>    y_test_true </a:t>
            </a:r>
            <a:r>
              <a:rPr>
                <a:solidFill>
                  <a:srgbClr val="666666"/>
                </a:solidFill>
                <a:latin typeface="Courier"/>
              </a:rPr>
              <a:t>=</a:t>
            </a:r>
            <a:r>
              <a:rPr>
                <a:latin typeface="Courier"/>
              </a:rPr>
              <a:t> test_df[</a:t>
            </a:r>
            <a:r>
              <a:rPr>
                <a:solidFill>
                  <a:srgbClr val="4070A0"/>
                </a:solidFill>
                <a:latin typeface="Courier"/>
              </a:rPr>
              <a:t>"TT_DW_CRM"</a:t>
            </a:r>
            <a:r>
              <a:rPr>
                <a:latin typeface="Courier"/>
              </a:rPr>
              <a:t>].to_numpy(dtype</a:t>
            </a:r>
            <a:r>
              <a:rPr>
                <a:solidFill>
                  <a:srgbClr val="666666"/>
                </a:solidFill>
                <a:latin typeface="Courier"/>
              </a:rPr>
              <a:t>=</a:t>
            </a:r>
            <a:r>
              <a:rPr>
                <a:solidFill>
                  <a:srgbClr val="008000"/>
                </a:solidFill>
                <a:latin typeface="Courier"/>
              </a:rPr>
              <a:t>float</a:t>
            </a:r>
            <a:r>
              <a:rPr>
                <a:latin typeface="Courier"/>
              </a:rPr>
              <a:t>)</a:t>
            </a:r>
            <a:br/>
            <a:r>
              <a:rPr>
                <a:latin typeface="Courier"/>
              </a:rPr>
              <a:t>    y_test_pred </a:t>
            </a:r>
            <a:r>
              <a:rPr>
                <a:solidFill>
                  <a:srgbClr val="666666"/>
                </a:solidFill>
                <a:latin typeface="Courier"/>
              </a:rPr>
              <a:t>=</a:t>
            </a:r>
            <a:r>
              <a:rPr>
                <a:latin typeface="Courier"/>
              </a:rPr>
              <a:t> knn_predict_dataset(test_df, train_val_df, best_k, best_w)</a:t>
            </a:r>
            <a:br/>
            <a:r>
              <a:rPr>
                <a:latin typeface="Courier"/>
              </a:rPr>
              <a:t>    test_mse </a:t>
            </a:r>
            <a:r>
              <a:rPr>
                <a:solidFill>
                  <a:srgbClr val="666666"/>
                </a:solidFill>
                <a:latin typeface="Courier"/>
              </a:rPr>
              <a:t>=</a:t>
            </a:r>
            <a:r>
              <a:rPr>
                <a:latin typeface="Courier"/>
              </a:rPr>
              <a:t> rmse(y_test_true, y_test_pred)</a:t>
            </a:r>
            <a:br/>
            <a:br/>
            <a:r>
              <a:rPr>
                <a:latin typeface="Courier"/>
              </a:rPr>
              <a:t>    </a:t>
            </a:r>
            <a:r>
              <a:rPr>
                <a:solidFill>
                  <a:srgbClr val="008000"/>
                </a:solidFill>
                <a:latin typeface="Courier"/>
              </a:rPr>
              <a:t>print</a:t>
            </a:r>
            <a:r>
              <a:rPr>
                <a:latin typeface="Courier"/>
              </a:rPr>
              <a:t>(</a:t>
            </a:r>
            <a:r>
              <a:rPr>
                <a:solidFill>
                  <a:srgbClr val="BB6688"/>
                </a:solidFill>
                <a:latin typeface="Courier"/>
              </a:rPr>
              <a:t>f"Test RMSE with k=</a:t>
            </a:r>
            <a:r>
              <a:rPr>
                <a:solidFill>
                  <a:srgbClr val="4070A0"/>
                </a:solidFill>
                <a:latin typeface="Courier"/>
              </a:rPr>
              <a:t>{</a:t>
            </a:r>
            <a:r>
              <a:rPr>
                <a:latin typeface="Courier"/>
              </a:rPr>
              <a:t>best_k</a:t>
            </a:r>
            <a:r>
              <a:rPr>
                <a:solidFill>
                  <a:srgbClr val="4070A0"/>
                </a:solidFill>
                <a:latin typeface="Courier"/>
              </a:rPr>
              <a:t>}</a:t>
            </a:r>
            <a:r>
              <a:rPr>
                <a:solidFill>
                  <a:srgbClr val="BB6688"/>
                </a:solidFill>
                <a:latin typeface="Courier"/>
              </a:rPr>
              <a:t>, w=</a:t>
            </a:r>
            <a:r>
              <a:rPr>
                <a:solidFill>
                  <a:srgbClr val="4070A0"/>
                </a:solidFill>
                <a:latin typeface="Courier"/>
              </a:rPr>
              <a:t>{</a:t>
            </a:r>
            <a:r>
              <a:rPr>
                <a:latin typeface="Courier"/>
              </a:rPr>
              <a:t>best_w</a:t>
            </a:r>
            <a:r>
              <a:rPr>
                <a:solidFill>
                  <a:srgbClr val="4070A0"/>
                </a:solidFill>
                <a:latin typeface="Courier"/>
              </a:rPr>
              <a:t>:.4f}</a:t>
            </a:r>
            <a:r>
              <a:rPr>
                <a:solidFill>
                  <a:srgbClr val="BB6688"/>
                </a:solidFill>
                <a:latin typeface="Courier"/>
              </a:rPr>
              <a:t>: </a:t>
            </a:r>
            <a:r>
              <a:rPr>
                <a:solidFill>
                  <a:srgbClr val="4070A0"/>
                </a:solidFill>
                <a:latin typeface="Courier"/>
              </a:rPr>
              <a:t>{</a:t>
            </a:r>
            <a:r>
              <a:rPr>
                <a:latin typeface="Courier"/>
              </a:rPr>
              <a:t>test_mse</a:t>
            </a:r>
            <a:r>
              <a:rPr>
                <a:solidFill>
                  <a:srgbClr val="4070A0"/>
                </a:solidFill>
                <a:latin typeface="Courier"/>
              </a:rPr>
              <a:t>:.4f}</a:t>
            </a:r>
            <a:r>
              <a:rPr>
                <a:solidFill>
                  <a:srgbClr val="BB6688"/>
                </a:solidFill>
                <a:latin typeface="Courier"/>
              </a:rPr>
              <a:t>"</a:t>
            </a:r>
            <a:r>
              <a:rPr>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Results</a:t>
            </a:r>
          </a:p>
        </p:txBody>
      </p:sp>
      <p:sp>
        <p:nvSpPr>
          <p:cNvPr id="3" name="Content Placeholder 2"/>
          <p:cNvSpPr>
            <a:spLocks noGrp="1"/>
          </p:cNvSpPr>
          <p:nvPr>
            <p:ph idx="1"/>
          </p:nvPr>
        </p:nvSpPr>
        <p:spPr/>
        <p:txBody>
          <a:bodyPr/>
          <a:lstStyle/>
          <a:p>
            <a:pPr lvl="0" indent="0" marL="0">
              <a:buNone/>
            </a:pPr>
            <a:r>
              <a:rPr/>
              <a:t>Loaded train: 45693 rows Loaded val : 45693 rows Loaded test : 45693 rows</a:t>
            </a:r>
          </a:p>
          <a:p>
            <a:pPr lvl="0" indent="0" marL="0">
              <a:buNone/>
            </a:pPr>
            <a:r>
              <a:rPr/>
              <a:t>…</a:t>
            </a:r>
          </a:p>
          <a:p>
            <a:pPr lvl="0" indent="0" marL="0">
              <a:buNone/>
            </a:pPr>
            <a:r>
              <a:rPr/>
              <a:t>[tuning] k= 5, w=0.60, val MSE=5831.4643 [tuning] k= 5, w=0.70, val MSE=5753.9214 [tuning] k= 5, w=0.80, val MSE=5792.6495 [tuning] k= 5, w=0.90, val MSE=5790.2028 [tuning] k= 5, w=1.00, val MSE=5806.9425 [tuning] k= 7, w=0.10, val MSE=10288.6802 [tuning] k= 7, w=0.20, val MSE=8747.6378 [tuning] k= 7, w=0.30, val MSE=8124.6907</a:t>
            </a:r>
          </a:p>
          <a:p>
            <a:pPr lvl="0" indent="0" marL="0">
              <a:buNone/>
            </a:pPr>
            <a:r>
              <a:rPr/>
              <a:t>…</a:t>
            </a:r>
          </a:p>
          <a:p>
            <a:pPr lvl="0" indent="0" marL="0">
              <a:buNone/>
            </a:pPr>
            <a:r>
              <a:rPr/>
              <a:t>=== Best hyperparameters from validation === best k = 1 best w = 0.7000</a:t>
            </a:r>
          </a:p>
          <a:p>
            <a:pPr lvl="0" indent="0" marL="0">
              <a:buNone/>
            </a:pPr>
            <a:r>
              <a:rPr/>
              <a:t>=== Evaluating on test set === Test MSE with k=1, w=0.7000: 1725.0147</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 Biomass Prediction</dc:title>
  <dc:creator/>
  <cp:keywords/>
  <dcterms:created xsi:type="dcterms:W3CDTF">2025-12-15T03:13:38Z</dcterms:created>
  <dcterms:modified xsi:type="dcterms:W3CDTF">2025-12-15T03:13:38Z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xecute">
    <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toc-title">
    <vt:lpwstr>Table of contents</vt:lpwstr>
  </property>
</Properties>
</file>