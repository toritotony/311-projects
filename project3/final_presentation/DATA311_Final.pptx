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272" r:id="rId4"/>
    <p:sldId id="274" r:id="rId5"/>
    <p:sldId id="273" r:id="rId6"/>
    <p:sldId id="275" r:id="rId7"/>
    <p:sldId id="276" r:id="rId8"/>
    <p:sldId id="277" r:id="rId9"/>
    <p:sldId id="257" r:id="rId10"/>
    <p:sldId id="258" r:id="rId11"/>
    <p:sldId id="259" r:id="rId12"/>
    <p:sldId id="260" r:id="rId13"/>
    <p:sldId id="261" r:id="rId14"/>
    <p:sldId id="263" r:id="rId15"/>
    <p:sldId id="264" r:id="rId16"/>
    <p:sldId id="265" r:id="rId17"/>
    <p:sldId id="266" r:id="rId18"/>
    <p:sldId id="267" r:id="rId19"/>
    <p:sldId id="268" r:id="rId20"/>
    <p:sldId id="269" r:id="rId21"/>
    <p:sldId id="270" r:id="rId22"/>
    <p:sldId id="279" r:id="rId23"/>
    <p:sldId id="280" r:id="rId24"/>
    <p:sldId id="28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FF79C6-6CF0-40B0-838B-6C7A7D0694EF}" v="139" dt="2025-12-15T23:00:55.385"/>
    <p1510:client id="{6710C397-630C-CE1B-CA65-D5335731B0F7}" v="565" dt="2025-12-15T18:45:28.463"/>
    <p1510:client id="{C1FBECE8-3351-E2DE-E228-688E7D4A7163}" v="215" dt="2025-12-15T22:21:09.1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481DF-0F3B-CAA8-78FC-263E3DB668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EE1616-E893-6F54-C8F9-444FB82664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CCD59D-B3A9-5D74-B155-10068815FC8D}"/>
              </a:ext>
            </a:extLst>
          </p:cNvPr>
          <p:cNvSpPr>
            <a:spLocks noGrp="1"/>
          </p:cNvSpPr>
          <p:nvPr>
            <p:ph type="dt" sz="half" idx="10"/>
          </p:nvPr>
        </p:nvSpPr>
        <p:spPr/>
        <p:txBody>
          <a:bodyPr/>
          <a:lstStyle/>
          <a:p>
            <a:fld id="{D0422F3C-6B2F-41FA-ACDB-2B74292E5C5B}" type="datetimeFigureOut">
              <a:rPr lang="en-US" smtClean="0"/>
              <a:t>12/15/2025</a:t>
            </a:fld>
            <a:endParaRPr lang="en-US"/>
          </a:p>
        </p:txBody>
      </p:sp>
      <p:sp>
        <p:nvSpPr>
          <p:cNvPr id="5" name="Footer Placeholder 4">
            <a:extLst>
              <a:ext uri="{FF2B5EF4-FFF2-40B4-BE49-F238E27FC236}">
                <a16:creationId xmlns:a16="http://schemas.microsoft.com/office/drawing/2014/main" id="{1A5831E3-519E-B284-03A1-F33A867CCB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09467B-71B7-002E-BC12-86A43DBFB6A2}"/>
              </a:ext>
            </a:extLst>
          </p:cNvPr>
          <p:cNvSpPr>
            <a:spLocks noGrp="1"/>
          </p:cNvSpPr>
          <p:nvPr>
            <p:ph type="sldNum" sz="quarter" idx="12"/>
          </p:nvPr>
        </p:nvSpPr>
        <p:spPr/>
        <p:txBody>
          <a:bodyPr/>
          <a:lstStyle/>
          <a:p>
            <a:fld id="{55AB54D3-50D1-41C8-9897-855389AB535C}" type="slidenum">
              <a:rPr lang="en-US" smtClean="0"/>
              <a:t>‹#›</a:t>
            </a:fld>
            <a:endParaRPr lang="en-US"/>
          </a:p>
        </p:txBody>
      </p:sp>
    </p:spTree>
    <p:extLst>
      <p:ext uri="{BB962C8B-B14F-4D97-AF65-F5344CB8AC3E}">
        <p14:creationId xmlns:p14="http://schemas.microsoft.com/office/powerpoint/2010/main" val="3253807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729EA-B2F6-F509-50EF-2347B86557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3E465D-54F0-74A6-B0FE-7E99723E84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775CA9-14D7-49F8-F52B-94E83C1D2905}"/>
              </a:ext>
            </a:extLst>
          </p:cNvPr>
          <p:cNvSpPr>
            <a:spLocks noGrp="1"/>
          </p:cNvSpPr>
          <p:nvPr>
            <p:ph type="dt" sz="half" idx="10"/>
          </p:nvPr>
        </p:nvSpPr>
        <p:spPr/>
        <p:txBody>
          <a:bodyPr/>
          <a:lstStyle/>
          <a:p>
            <a:fld id="{D0422F3C-6B2F-41FA-ACDB-2B74292E5C5B}" type="datetimeFigureOut">
              <a:rPr lang="en-US" smtClean="0"/>
              <a:t>12/15/2025</a:t>
            </a:fld>
            <a:endParaRPr lang="en-US"/>
          </a:p>
        </p:txBody>
      </p:sp>
      <p:sp>
        <p:nvSpPr>
          <p:cNvPr id="5" name="Footer Placeholder 4">
            <a:extLst>
              <a:ext uri="{FF2B5EF4-FFF2-40B4-BE49-F238E27FC236}">
                <a16:creationId xmlns:a16="http://schemas.microsoft.com/office/drawing/2014/main" id="{E6A048F2-5766-5BF7-3D54-CF7CC0145D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A4E135-0BF8-CFC7-C717-DF20438409AE}"/>
              </a:ext>
            </a:extLst>
          </p:cNvPr>
          <p:cNvSpPr>
            <a:spLocks noGrp="1"/>
          </p:cNvSpPr>
          <p:nvPr>
            <p:ph type="sldNum" sz="quarter" idx="12"/>
          </p:nvPr>
        </p:nvSpPr>
        <p:spPr/>
        <p:txBody>
          <a:bodyPr/>
          <a:lstStyle/>
          <a:p>
            <a:fld id="{55AB54D3-50D1-41C8-9897-855389AB535C}" type="slidenum">
              <a:rPr lang="en-US" smtClean="0"/>
              <a:t>‹#›</a:t>
            </a:fld>
            <a:endParaRPr lang="en-US"/>
          </a:p>
        </p:txBody>
      </p:sp>
    </p:spTree>
    <p:extLst>
      <p:ext uri="{BB962C8B-B14F-4D97-AF65-F5344CB8AC3E}">
        <p14:creationId xmlns:p14="http://schemas.microsoft.com/office/powerpoint/2010/main" val="1898010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C6FEF-CBAA-D16A-E48B-77C476253E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F6AD8C-87BE-6671-4B86-79CC2550A2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091527-938A-C1B7-3770-530C3578FB3B}"/>
              </a:ext>
            </a:extLst>
          </p:cNvPr>
          <p:cNvSpPr>
            <a:spLocks noGrp="1"/>
          </p:cNvSpPr>
          <p:nvPr>
            <p:ph type="dt" sz="half" idx="10"/>
          </p:nvPr>
        </p:nvSpPr>
        <p:spPr/>
        <p:txBody>
          <a:bodyPr/>
          <a:lstStyle/>
          <a:p>
            <a:fld id="{D0422F3C-6B2F-41FA-ACDB-2B74292E5C5B}" type="datetimeFigureOut">
              <a:rPr lang="en-US" smtClean="0"/>
              <a:t>12/15/2025</a:t>
            </a:fld>
            <a:endParaRPr lang="en-US"/>
          </a:p>
        </p:txBody>
      </p:sp>
      <p:sp>
        <p:nvSpPr>
          <p:cNvPr id="5" name="Footer Placeholder 4">
            <a:extLst>
              <a:ext uri="{FF2B5EF4-FFF2-40B4-BE49-F238E27FC236}">
                <a16:creationId xmlns:a16="http://schemas.microsoft.com/office/drawing/2014/main" id="{F7EDDB73-8675-86B6-547D-F135752516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177213-70F4-6093-C025-3D3C9758D746}"/>
              </a:ext>
            </a:extLst>
          </p:cNvPr>
          <p:cNvSpPr>
            <a:spLocks noGrp="1"/>
          </p:cNvSpPr>
          <p:nvPr>
            <p:ph type="sldNum" sz="quarter" idx="12"/>
          </p:nvPr>
        </p:nvSpPr>
        <p:spPr/>
        <p:txBody>
          <a:bodyPr/>
          <a:lstStyle/>
          <a:p>
            <a:fld id="{55AB54D3-50D1-41C8-9897-855389AB535C}" type="slidenum">
              <a:rPr lang="en-US" smtClean="0"/>
              <a:t>‹#›</a:t>
            </a:fld>
            <a:endParaRPr lang="en-US"/>
          </a:p>
        </p:txBody>
      </p:sp>
    </p:spTree>
    <p:extLst>
      <p:ext uri="{BB962C8B-B14F-4D97-AF65-F5344CB8AC3E}">
        <p14:creationId xmlns:p14="http://schemas.microsoft.com/office/powerpoint/2010/main" val="993309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ED459-B001-36BE-CF0B-7BDFF35C1B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CB1331-AAAE-538A-F02E-E26F62D8DF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C8319F-13D0-BE0F-AEB0-EDD1F0486D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BCE90A-1531-BDEA-8B73-A6456AB9680B}"/>
              </a:ext>
            </a:extLst>
          </p:cNvPr>
          <p:cNvSpPr>
            <a:spLocks noGrp="1"/>
          </p:cNvSpPr>
          <p:nvPr>
            <p:ph type="dt" sz="half" idx="10"/>
          </p:nvPr>
        </p:nvSpPr>
        <p:spPr/>
        <p:txBody>
          <a:bodyPr/>
          <a:lstStyle/>
          <a:p>
            <a:fld id="{D0422F3C-6B2F-41FA-ACDB-2B74292E5C5B}" type="datetimeFigureOut">
              <a:rPr lang="en-US" smtClean="0"/>
              <a:t>12/15/2025</a:t>
            </a:fld>
            <a:endParaRPr lang="en-US"/>
          </a:p>
        </p:txBody>
      </p:sp>
      <p:sp>
        <p:nvSpPr>
          <p:cNvPr id="6" name="Footer Placeholder 5">
            <a:extLst>
              <a:ext uri="{FF2B5EF4-FFF2-40B4-BE49-F238E27FC236}">
                <a16:creationId xmlns:a16="http://schemas.microsoft.com/office/drawing/2014/main" id="{EAD95668-3511-9E2F-6378-167CA7553B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858E4D-B087-B521-F0D5-E4CBE97E9EF7}"/>
              </a:ext>
            </a:extLst>
          </p:cNvPr>
          <p:cNvSpPr>
            <a:spLocks noGrp="1"/>
          </p:cNvSpPr>
          <p:nvPr>
            <p:ph type="sldNum" sz="quarter" idx="12"/>
          </p:nvPr>
        </p:nvSpPr>
        <p:spPr/>
        <p:txBody>
          <a:bodyPr/>
          <a:lstStyle/>
          <a:p>
            <a:fld id="{55AB54D3-50D1-41C8-9897-855389AB535C}" type="slidenum">
              <a:rPr lang="en-US" smtClean="0"/>
              <a:t>‹#›</a:t>
            </a:fld>
            <a:endParaRPr lang="en-US"/>
          </a:p>
        </p:txBody>
      </p:sp>
    </p:spTree>
    <p:extLst>
      <p:ext uri="{BB962C8B-B14F-4D97-AF65-F5344CB8AC3E}">
        <p14:creationId xmlns:p14="http://schemas.microsoft.com/office/powerpoint/2010/main" val="1931343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F5579-8B3E-8CE9-2413-30D80EC1CED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1885FA5-7B55-1C1F-8992-5FF772695A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F25D5A-4134-916A-BB2A-78FEB1A6BA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04EFCE-BDA5-FB54-0132-D153E85570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E25730-AA3E-0A42-87C1-C2B0EB36CE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876C9F-5BE6-A589-97D6-A2BB7824C305}"/>
              </a:ext>
            </a:extLst>
          </p:cNvPr>
          <p:cNvSpPr>
            <a:spLocks noGrp="1"/>
          </p:cNvSpPr>
          <p:nvPr>
            <p:ph type="dt" sz="half" idx="10"/>
          </p:nvPr>
        </p:nvSpPr>
        <p:spPr/>
        <p:txBody>
          <a:bodyPr/>
          <a:lstStyle/>
          <a:p>
            <a:fld id="{D0422F3C-6B2F-41FA-ACDB-2B74292E5C5B}" type="datetimeFigureOut">
              <a:rPr lang="en-US" smtClean="0"/>
              <a:t>12/15/2025</a:t>
            </a:fld>
            <a:endParaRPr lang="en-US"/>
          </a:p>
        </p:txBody>
      </p:sp>
      <p:sp>
        <p:nvSpPr>
          <p:cNvPr id="8" name="Footer Placeholder 7">
            <a:extLst>
              <a:ext uri="{FF2B5EF4-FFF2-40B4-BE49-F238E27FC236}">
                <a16:creationId xmlns:a16="http://schemas.microsoft.com/office/drawing/2014/main" id="{B24A5714-B9CB-BED6-C566-F240046779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81E8883-4551-D452-BDC4-829855281907}"/>
              </a:ext>
            </a:extLst>
          </p:cNvPr>
          <p:cNvSpPr>
            <a:spLocks noGrp="1"/>
          </p:cNvSpPr>
          <p:nvPr>
            <p:ph type="sldNum" sz="quarter" idx="12"/>
          </p:nvPr>
        </p:nvSpPr>
        <p:spPr/>
        <p:txBody>
          <a:bodyPr/>
          <a:lstStyle/>
          <a:p>
            <a:fld id="{55AB54D3-50D1-41C8-9897-855389AB535C}" type="slidenum">
              <a:rPr lang="en-US" smtClean="0"/>
              <a:t>‹#›</a:t>
            </a:fld>
            <a:endParaRPr lang="en-US"/>
          </a:p>
        </p:txBody>
      </p:sp>
    </p:spTree>
    <p:extLst>
      <p:ext uri="{BB962C8B-B14F-4D97-AF65-F5344CB8AC3E}">
        <p14:creationId xmlns:p14="http://schemas.microsoft.com/office/powerpoint/2010/main" val="1368993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F9EBA-95B5-96B0-21EF-905A3C528D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216B28-E022-B437-B3B3-E9A28EF27521}"/>
              </a:ext>
            </a:extLst>
          </p:cNvPr>
          <p:cNvSpPr>
            <a:spLocks noGrp="1"/>
          </p:cNvSpPr>
          <p:nvPr>
            <p:ph type="dt" sz="half" idx="10"/>
          </p:nvPr>
        </p:nvSpPr>
        <p:spPr/>
        <p:txBody>
          <a:bodyPr/>
          <a:lstStyle/>
          <a:p>
            <a:fld id="{D0422F3C-6B2F-41FA-ACDB-2B74292E5C5B}" type="datetimeFigureOut">
              <a:rPr lang="en-US" smtClean="0"/>
              <a:t>12/15/2025</a:t>
            </a:fld>
            <a:endParaRPr lang="en-US"/>
          </a:p>
        </p:txBody>
      </p:sp>
      <p:sp>
        <p:nvSpPr>
          <p:cNvPr id="4" name="Footer Placeholder 3">
            <a:extLst>
              <a:ext uri="{FF2B5EF4-FFF2-40B4-BE49-F238E27FC236}">
                <a16:creationId xmlns:a16="http://schemas.microsoft.com/office/drawing/2014/main" id="{3346BBA7-4A67-E5A0-3FB6-0FF78CB14A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A1B6D01-E5EE-5682-176E-7D32EAEE11D4}"/>
              </a:ext>
            </a:extLst>
          </p:cNvPr>
          <p:cNvSpPr>
            <a:spLocks noGrp="1"/>
          </p:cNvSpPr>
          <p:nvPr>
            <p:ph type="sldNum" sz="quarter" idx="12"/>
          </p:nvPr>
        </p:nvSpPr>
        <p:spPr/>
        <p:txBody>
          <a:bodyPr/>
          <a:lstStyle/>
          <a:p>
            <a:fld id="{55AB54D3-50D1-41C8-9897-855389AB535C}" type="slidenum">
              <a:rPr lang="en-US" smtClean="0"/>
              <a:t>‹#›</a:t>
            </a:fld>
            <a:endParaRPr lang="en-US"/>
          </a:p>
        </p:txBody>
      </p:sp>
    </p:spTree>
    <p:extLst>
      <p:ext uri="{BB962C8B-B14F-4D97-AF65-F5344CB8AC3E}">
        <p14:creationId xmlns:p14="http://schemas.microsoft.com/office/powerpoint/2010/main" val="803631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E7C1DC-C227-2891-AE55-BB5B9F245AC4}"/>
              </a:ext>
            </a:extLst>
          </p:cNvPr>
          <p:cNvSpPr>
            <a:spLocks noGrp="1"/>
          </p:cNvSpPr>
          <p:nvPr>
            <p:ph type="dt" sz="half" idx="10"/>
          </p:nvPr>
        </p:nvSpPr>
        <p:spPr/>
        <p:txBody>
          <a:bodyPr/>
          <a:lstStyle/>
          <a:p>
            <a:fld id="{D0422F3C-6B2F-41FA-ACDB-2B74292E5C5B}" type="datetimeFigureOut">
              <a:rPr lang="en-US" smtClean="0"/>
              <a:t>12/15/2025</a:t>
            </a:fld>
            <a:endParaRPr lang="en-US"/>
          </a:p>
        </p:txBody>
      </p:sp>
      <p:sp>
        <p:nvSpPr>
          <p:cNvPr id="3" name="Footer Placeholder 2">
            <a:extLst>
              <a:ext uri="{FF2B5EF4-FFF2-40B4-BE49-F238E27FC236}">
                <a16:creationId xmlns:a16="http://schemas.microsoft.com/office/drawing/2014/main" id="{E1FBE335-C7FF-B924-5BD2-FD7588D881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84A2A1-E885-2EE0-1708-AD9F8B34394D}"/>
              </a:ext>
            </a:extLst>
          </p:cNvPr>
          <p:cNvSpPr>
            <a:spLocks noGrp="1"/>
          </p:cNvSpPr>
          <p:nvPr>
            <p:ph type="sldNum" sz="quarter" idx="12"/>
          </p:nvPr>
        </p:nvSpPr>
        <p:spPr/>
        <p:txBody>
          <a:bodyPr/>
          <a:lstStyle/>
          <a:p>
            <a:fld id="{55AB54D3-50D1-41C8-9897-855389AB535C}" type="slidenum">
              <a:rPr lang="en-US" smtClean="0"/>
              <a:t>‹#›</a:t>
            </a:fld>
            <a:endParaRPr lang="en-US"/>
          </a:p>
        </p:txBody>
      </p:sp>
    </p:spTree>
    <p:extLst>
      <p:ext uri="{BB962C8B-B14F-4D97-AF65-F5344CB8AC3E}">
        <p14:creationId xmlns:p14="http://schemas.microsoft.com/office/powerpoint/2010/main" val="2971155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AD37B-E4E6-D299-962E-03C660BBBA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5CE100-3C3B-5962-149E-C9E701FEA6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AF299C-878F-1EBA-31EE-7AB080B2BF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6E836B-68D6-7F74-47D3-3A9E5034D6AA}"/>
              </a:ext>
            </a:extLst>
          </p:cNvPr>
          <p:cNvSpPr>
            <a:spLocks noGrp="1"/>
          </p:cNvSpPr>
          <p:nvPr>
            <p:ph type="dt" sz="half" idx="10"/>
          </p:nvPr>
        </p:nvSpPr>
        <p:spPr/>
        <p:txBody>
          <a:bodyPr/>
          <a:lstStyle/>
          <a:p>
            <a:fld id="{D0422F3C-6B2F-41FA-ACDB-2B74292E5C5B}" type="datetimeFigureOut">
              <a:rPr lang="en-US" smtClean="0"/>
              <a:t>12/15/2025</a:t>
            </a:fld>
            <a:endParaRPr lang="en-US"/>
          </a:p>
        </p:txBody>
      </p:sp>
      <p:sp>
        <p:nvSpPr>
          <p:cNvPr id="6" name="Footer Placeholder 5">
            <a:extLst>
              <a:ext uri="{FF2B5EF4-FFF2-40B4-BE49-F238E27FC236}">
                <a16:creationId xmlns:a16="http://schemas.microsoft.com/office/drawing/2014/main" id="{D52EEF1A-9C9B-A1ED-A142-9B9F6FC37D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1795AB-10B3-2E17-7E9F-72E9F0F77628}"/>
              </a:ext>
            </a:extLst>
          </p:cNvPr>
          <p:cNvSpPr>
            <a:spLocks noGrp="1"/>
          </p:cNvSpPr>
          <p:nvPr>
            <p:ph type="sldNum" sz="quarter" idx="12"/>
          </p:nvPr>
        </p:nvSpPr>
        <p:spPr/>
        <p:txBody>
          <a:bodyPr/>
          <a:lstStyle/>
          <a:p>
            <a:fld id="{55AB54D3-50D1-41C8-9897-855389AB535C}" type="slidenum">
              <a:rPr lang="en-US" smtClean="0"/>
              <a:t>‹#›</a:t>
            </a:fld>
            <a:endParaRPr lang="en-US"/>
          </a:p>
        </p:txBody>
      </p:sp>
    </p:spTree>
    <p:extLst>
      <p:ext uri="{BB962C8B-B14F-4D97-AF65-F5344CB8AC3E}">
        <p14:creationId xmlns:p14="http://schemas.microsoft.com/office/powerpoint/2010/main" val="4195065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39E98-802B-BD03-1A4A-5F3A07770D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C200EA-BBF8-94AC-7AFF-9A5CACFB03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3E0250-BE71-D4EA-EE13-6E63C6B1B0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7015A1-8938-F17C-9573-6A95B0952700}"/>
              </a:ext>
            </a:extLst>
          </p:cNvPr>
          <p:cNvSpPr>
            <a:spLocks noGrp="1"/>
          </p:cNvSpPr>
          <p:nvPr>
            <p:ph type="dt" sz="half" idx="10"/>
          </p:nvPr>
        </p:nvSpPr>
        <p:spPr/>
        <p:txBody>
          <a:bodyPr/>
          <a:lstStyle/>
          <a:p>
            <a:fld id="{D0422F3C-6B2F-41FA-ACDB-2B74292E5C5B}" type="datetimeFigureOut">
              <a:rPr lang="en-US" smtClean="0"/>
              <a:t>12/15/2025</a:t>
            </a:fld>
            <a:endParaRPr lang="en-US"/>
          </a:p>
        </p:txBody>
      </p:sp>
      <p:sp>
        <p:nvSpPr>
          <p:cNvPr id="6" name="Footer Placeholder 5">
            <a:extLst>
              <a:ext uri="{FF2B5EF4-FFF2-40B4-BE49-F238E27FC236}">
                <a16:creationId xmlns:a16="http://schemas.microsoft.com/office/drawing/2014/main" id="{27DC8558-30AB-8BC6-039E-0F4986CB8C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D9E2A0-AF61-B15E-B949-2EED67117467}"/>
              </a:ext>
            </a:extLst>
          </p:cNvPr>
          <p:cNvSpPr>
            <a:spLocks noGrp="1"/>
          </p:cNvSpPr>
          <p:nvPr>
            <p:ph type="sldNum" sz="quarter" idx="12"/>
          </p:nvPr>
        </p:nvSpPr>
        <p:spPr/>
        <p:txBody>
          <a:bodyPr/>
          <a:lstStyle/>
          <a:p>
            <a:fld id="{55AB54D3-50D1-41C8-9897-855389AB535C}" type="slidenum">
              <a:rPr lang="en-US" smtClean="0"/>
              <a:t>‹#›</a:t>
            </a:fld>
            <a:endParaRPr lang="en-US"/>
          </a:p>
        </p:txBody>
      </p:sp>
    </p:spTree>
    <p:extLst>
      <p:ext uri="{BB962C8B-B14F-4D97-AF65-F5344CB8AC3E}">
        <p14:creationId xmlns:p14="http://schemas.microsoft.com/office/powerpoint/2010/main" val="1064323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510C8-DC98-6AF1-82ED-533740B7C6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517423-7E7B-B36B-FD04-93CED1D82E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DA696-067E-7D1A-FCE8-4B218D3F6FAE}"/>
              </a:ext>
            </a:extLst>
          </p:cNvPr>
          <p:cNvSpPr>
            <a:spLocks noGrp="1"/>
          </p:cNvSpPr>
          <p:nvPr>
            <p:ph type="dt" sz="half" idx="10"/>
          </p:nvPr>
        </p:nvSpPr>
        <p:spPr/>
        <p:txBody>
          <a:bodyPr/>
          <a:lstStyle/>
          <a:p>
            <a:fld id="{D0422F3C-6B2F-41FA-ACDB-2B74292E5C5B}" type="datetimeFigureOut">
              <a:rPr lang="en-US" smtClean="0"/>
              <a:t>12/15/2025</a:t>
            </a:fld>
            <a:endParaRPr lang="en-US"/>
          </a:p>
        </p:txBody>
      </p:sp>
      <p:sp>
        <p:nvSpPr>
          <p:cNvPr id="5" name="Footer Placeholder 4">
            <a:extLst>
              <a:ext uri="{FF2B5EF4-FFF2-40B4-BE49-F238E27FC236}">
                <a16:creationId xmlns:a16="http://schemas.microsoft.com/office/drawing/2014/main" id="{A3A947F4-CFC1-FD42-4214-7943F74D1B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160448-5313-A9BC-8455-934948316183}"/>
              </a:ext>
            </a:extLst>
          </p:cNvPr>
          <p:cNvSpPr>
            <a:spLocks noGrp="1"/>
          </p:cNvSpPr>
          <p:nvPr>
            <p:ph type="sldNum" sz="quarter" idx="12"/>
          </p:nvPr>
        </p:nvSpPr>
        <p:spPr/>
        <p:txBody>
          <a:bodyPr/>
          <a:lstStyle/>
          <a:p>
            <a:fld id="{55AB54D3-50D1-41C8-9897-855389AB535C}" type="slidenum">
              <a:rPr lang="en-US" smtClean="0"/>
              <a:t>‹#›</a:t>
            </a:fld>
            <a:endParaRPr lang="en-US"/>
          </a:p>
        </p:txBody>
      </p:sp>
    </p:spTree>
    <p:extLst>
      <p:ext uri="{BB962C8B-B14F-4D97-AF65-F5344CB8AC3E}">
        <p14:creationId xmlns:p14="http://schemas.microsoft.com/office/powerpoint/2010/main" val="2721355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202935-A80E-744F-3A32-E58CDBC323F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3EBA9A-3CAC-F1BC-FA5A-78E3F9B94E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253AD7-89CB-B16E-7F82-C7AFC866A231}"/>
              </a:ext>
            </a:extLst>
          </p:cNvPr>
          <p:cNvSpPr>
            <a:spLocks noGrp="1"/>
          </p:cNvSpPr>
          <p:nvPr>
            <p:ph type="dt" sz="half" idx="10"/>
          </p:nvPr>
        </p:nvSpPr>
        <p:spPr/>
        <p:txBody>
          <a:bodyPr/>
          <a:lstStyle/>
          <a:p>
            <a:fld id="{D0422F3C-6B2F-41FA-ACDB-2B74292E5C5B}" type="datetimeFigureOut">
              <a:rPr lang="en-US" smtClean="0"/>
              <a:t>12/15/2025</a:t>
            </a:fld>
            <a:endParaRPr lang="en-US"/>
          </a:p>
        </p:txBody>
      </p:sp>
      <p:sp>
        <p:nvSpPr>
          <p:cNvPr id="5" name="Footer Placeholder 4">
            <a:extLst>
              <a:ext uri="{FF2B5EF4-FFF2-40B4-BE49-F238E27FC236}">
                <a16:creationId xmlns:a16="http://schemas.microsoft.com/office/drawing/2014/main" id="{7888991F-085F-9035-1661-CE71CE088E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A34A96-A509-063F-8345-4E3C35A4452A}"/>
              </a:ext>
            </a:extLst>
          </p:cNvPr>
          <p:cNvSpPr>
            <a:spLocks noGrp="1"/>
          </p:cNvSpPr>
          <p:nvPr>
            <p:ph type="sldNum" sz="quarter" idx="12"/>
          </p:nvPr>
        </p:nvSpPr>
        <p:spPr/>
        <p:txBody>
          <a:bodyPr/>
          <a:lstStyle/>
          <a:p>
            <a:fld id="{55AB54D3-50D1-41C8-9897-855389AB535C}" type="slidenum">
              <a:rPr lang="en-US" smtClean="0"/>
              <a:t>‹#›</a:t>
            </a:fld>
            <a:endParaRPr lang="en-US"/>
          </a:p>
        </p:txBody>
      </p:sp>
    </p:spTree>
    <p:extLst>
      <p:ext uri="{BB962C8B-B14F-4D97-AF65-F5344CB8AC3E}">
        <p14:creationId xmlns:p14="http://schemas.microsoft.com/office/powerpoint/2010/main" val="150189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283C6F-4511-DE59-AA3E-19F7B7DDFB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E51913-DFBB-B155-C1A1-15A9642533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3FCF35-0394-5D75-3F8E-236D4F2E86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0422F3C-6B2F-41FA-ACDB-2B74292E5C5B}" type="datetimeFigureOut">
              <a:rPr lang="en-US" smtClean="0"/>
              <a:t>12/15/2025</a:t>
            </a:fld>
            <a:endParaRPr lang="en-US"/>
          </a:p>
        </p:txBody>
      </p:sp>
      <p:sp>
        <p:nvSpPr>
          <p:cNvPr id="5" name="Footer Placeholder 4">
            <a:extLst>
              <a:ext uri="{FF2B5EF4-FFF2-40B4-BE49-F238E27FC236}">
                <a16:creationId xmlns:a16="http://schemas.microsoft.com/office/drawing/2014/main" id="{75FFA6D0-04C6-354F-2374-D9C07EA64A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4CAA862-82FA-4340-BF82-9E5FB13BAD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AB54D3-50D1-41C8-9897-855389AB535C}" type="slidenum">
              <a:rPr lang="en-US" smtClean="0"/>
              <a:t>‹#›</a:t>
            </a:fld>
            <a:endParaRPr lang="en-US"/>
          </a:p>
        </p:txBody>
      </p:sp>
    </p:spTree>
    <p:extLst>
      <p:ext uri="{BB962C8B-B14F-4D97-AF65-F5344CB8AC3E}">
        <p14:creationId xmlns:p14="http://schemas.microsoft.com/office/powerpoint/2010/main" val="500266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8A13F-0343-8435-F33D-B48ECD4A2F11}"/>
              </a:ext>
            </a:extLst>
          </p:cNvPr>
          <p:cNvSpPr>
            <a:spLocks noGrp="1"/>
          </p:cNvSpPr>
          <p:nvPr>
            <p:ph type="ctrTitle"/>
          </p:nvPr>
        </p:nvSpPr>
        <p:spPr/>
        <p:txBody>
          <a:bodyPr/>
          <a:lstStyle/>
          <a:p>
            <a:r>
              <a:rPr lang="en-US"/>
              <a:t>Thursday Thoroughbreds Biomass Prediction Project</a:t>
            </a:r>
          </a:p>
        </p:txBody>
      </p:sp>
      <p:sp>
        <p:nvSpPr>
          <p:cNvPr id="3" name="Subtitle 2">
            <a:extLst>
              <a:ext uri="{FF2B5EF4-FFF2-40B4-BE49-F238E27FC236}">
                <a16:creationId xmlns:a16="http://schemas.microsoft.com/office/drawing/2014/main" id="{0CA8B522-7E56-FCC1-E9CA-31C5CF44F880}"/>
              </a:ext>
            </a:extLst>
          </p:cNvPr>
          <p:cNvSpPr>
            <a:spLocks noGrp="1"/>
          </p:cNvSpPr>
          <p:nvPr>
            <p:ph type="subTitle" idx="1"/>
          </p:nvPr>
        </p:nvSpPr>
        <p:spPr/>
        <p:txBody>
          <a:bodyPr/>
          <a:lstStyle/>
          <a:p>
            <a:r>
              <a:rPr lang="en-US"/>
              <a:t>Authors: Anthony, Emad, Aiden, Elio</a:t>
            </a:r>
          </a:p>
        </p:txBody>
      </p:sp>
    </p:spTree>
    <p:extLst>
      <p:ext uri="{BB962C8B-B14F-4D97-AF65-F5344CB8AC3E}">
        <p14:creationId xmlns:p14="http://schemas.microsoft.com/office/powerpoint/2010/main" val="2282974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44ED1-0BCF-AF58-99FF-4BDFD9B4310B}"/>
              </a:ext>
            </a:extLst>
          </p:cNvPr>
          <p:cNvSpPr>
            <a:spLocks noGrp="1"/>
          </p:cNvSpPr>
          <p:nvPr>
            <p:ph type="title"/>
          </p:nvPr>
        </p:nvSpPr>
        <p:spPr/>
        <p:txBody>
          <a:bodyPr/>
          <a:lstStyle/>
          <a:p>
            <a:pPr algn="ctr"/>
            <a:r>
              <a:rPr lang="en-US" sz="3300">
                <a:latin typeface="Calibri"/>
                <a:ea typeface="Calibri"/>
                <a:cs typeface="Calibri"/>
              </a:rPr>
              <a:t>Data Overview</a:t>
            </a:r>
            <a:endParaRPr lang="en-US"/>
          </a:p>
        </p:txBody>
      </p:sp>
      <p:sp>
        <p:nvSpPr>
          <p:cNvPr id="3" name="Content Placeholder 2">
            <a:extLst>
              <a:ext uri="{FF2B5EF4-FFF2-40B4-BE49-F238E27FC236}">
                <a16:creationId xmlns:a16="http://schemas.microsoft.com/office/drawing/2014/main" id="{40FDBA2C-ED94-D642-24DB-E86FF570BD9C}"/>
              </a:ext>
            </a:extLst>
          </p:cNvPr>
          <p:cNvSpPr>
            <a:spLocks noGrp="1"/>
          </p:cNvSpPr>
          <p:nvPr>
            <p:ph idx="1"/>
          </p:nvPr>
        </p:nvSpPr>
        <p:spPr/>
        <p:txBody>
          <a:bodyPr vert="horz" lIns="91440" tIns="45720" rIns="91440" bIns="45720" rtlCol="0" anchor="t">
            <a:normAutofit/>
          </a:bodyPr>
          <a:lstStyle/>
          <a:p>
            <a:pPr marL="0" indent="0">
              <a:buNone/>
            </a:pPr>
            <a:r>
              <a:rPr lang="en-US" b="1"/>
              <a:t>Data Description</a:t>
            </a:r>
          </a:p>
          <a:p>
            <a:pPr marL="0" indent="0">
              <a:buNone/>
            </a:pPr>
            <a:endParaRPr lang="en-US" b="1">
              <a:latin typeface="Aptos"/>
              <a:cs typeface="Arial"/>
            </a:endParaRPr>
          </a:p>
          <a:p>
            <a:pPr marL="0" indent="0">
              <a:buNone/>
            </a:pPr>
            <a:r>
              <a:rPr lang="en-US" sz="2400">
                <a:latin typeface="Arial"/>
                <a:cs typeface="Arial"/>
              </a:rPr>
              <a:t>•</a:t>
            </a:r>
            <a:r>
              <a:rPr lang="en-US" sz="2400">
                <a:latin typeface="Calibri"/>
                <a:ea typeface="Calibri"/>
                <a:cs typeface="Calibri"/>
              </a:rPr>
              <a:t>Observational dataset of individual trees</a:t>
            </a:r>
            <a:endParaRPr lang="en-US"/>
          </a:p>
          <a:p>
            <a:pPr marL="0" indent="0">
              <a:buNone/>
            </a:pPr>
            <a:endParaRPr lang="en-US" sz="2400">
              <a:latin typeface="Calibri"/>
              <a:ea typeface="Calibri"/>
              <a:cs typeface="Calibri"/>
            </a:endParaRPr>
          </a:p>
          <a:p>
            <a:pPr marL="0" indent="0">
              <a:buNone/>
            </a:pPr>
            <a:r>
              <a:rPr lang="en-US" sz="2400">
                <a:latin typeface="Arial"/>
                <a:cs typeface="Arial"/>
              </a:rPr>
              <a:t>•</a:t>
            </a:r>
            <a:r>
              <a:rPr lang="en-US" sz="2400">
                <a:latin typeface="Calibri"/>
                <a:ea typeface="Calibri"/>
                <a:cs typeface="Calibri"/>
              </a:rPr>
              <a:t>Each row represents a single measured tree</a:t>
            </a:r>
            <a:endParaRPr lang="en-US">
              <a:latin typeface="Aptos" panose="02110004020202020204"/>
              <a:cs typeface="Arial"/>
            </a:endParaRPr>
          </a:p>
          <a:p>
            <a:pPr marL="0" indent="0">
              <a:buNone/>
            </a:pPr>
            <a:endParaRPr lang="en-US" sz="2400">
              <a:latin typeface="Calibri"/>
              <a:ea typeface="Calibri"/>
              <a:cs typeface="Calibri"/>
            </a:endParaRPr>
          </a:p>
          <a:p>
            <a:pPr marL="0" indent="0">
              <a:buNone/>
            </a:pPr>
            <a:r>
              <a:rPr lang="en-US" sz="2400">
                <a:latin typeface="Arial"/>
                <a:cs typeface="Arial"/>
              </a:rPr>
              <a:t>•</a:t>
            </a:r>
            <a:r>
              <a:rPr lang="en-US" sz="2400">
                <a:latin typeface="Calibri"/>
                <a:ea typeface="Calibri"/>
                <a:cs typeface="Calibri"/>
              </a:rPr>
              <a:t>Measurements are non-destructive and field-collected</a:t>
            </a:r>
            <a:endParaRPr lang="en-US"/>
          </a:p>
          <a:p>
            <a:pPr>
              <a:buFont typeface="Calibri" panose="020B0604020202020204" pitchFamily="34" charset="0"/>
              <a:buChar char="-"/>
            </a:pPr>
            <a:endParaRPr lang="en-US"/>
          </a:p>
        </p:txBody>
      </p:sp>
    </p:spTree>
    <p:extLst>
      <p:ext uri="{BB962C8B-B14F-4D97-AF65-F5344CB8AC3E}">
        <p14:creationId xmlns:p14="http://schemas.microsoft.com/office/powerpoint/2010/main" val="1843828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EFEB6-D6BA-A0D5-8F03-4022610E06C1}"/>
              </a:ext>
            </a:extLst>
          </p:cNvPr>
          <p:cNvSpPr>
            <a:spLocks noGrp="1"/>
          </p:cNvSpPr>
          <p:nvPr>
            <p:ph type="title"/>
          </p:nvPr>
        </p:nvSpPr>
        <p:spPr/>
        <p:txBody>
          <a:bodyPr/>
          <a:lstStyle/>
          <a:p>
            <a:pPr algn="ctr"/>
            <a:r>
              <a:rPr lang="en-US" sz="3300">
                <a:latin typeface="Calibri"/>
                <a:ea typeface="Calibri"/>
                <a:cs typeface="Calibri"/>
              </a:rPr>
              <a:t>Key Variables</a:t>
            </a:r>
            <a:endParaRPr lang="en-US"/>
          </a:p>
        </p:txBody>
      </p:sp>
      <p:sp>
        <p:nvSpPr>
          <p:cNvPr id="3" name="Content Placeholder 2">
            <a:extLst>
              <a:ext uri="{FF2B5EF4-FFF2-40B4-BE49-F238E27FC236}">
                <a16:creationId xmlns:a16="http://schemas.microsoft.com/office/drawing/2014/main" id="{05543EBA-8AED-9ACC-D35E-335265A0832E}"/>
              </a:ext>
            </a:extLst>
          </p:cNvPr>
          <p:cNvSpPr>
            <a:spLocks noGrp="1"/>
          </p:cNvSpPr>
          <p:nvPr>
            <p:ph idx="1"/>
          </p:nvPr>
        </p:nvSpPr>
        <p:spPr/>
        <p:txBody>
          <a:bodyPr vert="horz" lIns="91440" tIns="45720" rIns="91440" bIns="45720" rtlCol="0" anchor="t">
            <a:normAutofit/>
          </a:bodyPr>
          <a:lstStyle/>
          <a:p>
            <a:pPr marL="0" indent="0">
              <a:buNone/>
            </a:pPr>
            <a:r>
              <a:rPr lang="en-US" sz="2400">
                <a:latin typeface="Arial"/>
                <a:cs typeface="Arial"/>
              </a:rPr>
              <a:t>•</a:t>
            </a:r>
            <a:r>
              <a:rPr lang="en-US" sz="2400" b="1">
                <a:latin typeface="Calibri"/>
                <a:ea typeface="Calibri"/>
                <a:cs typeface="Calibri"/>
              </a:rPr>
              <a:t>SPCD</a:t>
            </a:r>
            <a:r>
              <a:rPr lang="en-US" sz="2400">
                <a:latin typeface="Calibri"/>
                <a:ea typeface="Calibri"/>
                <a:cs typeface="Calibri"/>
              </a:rPr>
              <a:t> - Species code (categorical identifier)</a:t>
            </a:r>
            <a:endParaRPr lang="en-US"/>
          </a:p>
          <a:p>
            <a:pPr marL="0" indent="0">
              <a:buNone/>
            </a:pPr>
            <a:r>
              <a:rPr lang="en-US" sz="2400">
                <a:latin typeface="Arial"/>
                <a:cs typeface="Arial"/>
              </a:rPr>
              <a:t>•</a:t>
            </a:r>
            <a:r>
              <a:rPr lang="en-US" sz="2400" b="1">
                <a:latin typeface="Calibri"/>
                <a:ea typeface="Calibri"/>
                <a:cs typeface="Calibri"/>
              </a:rPr>
              <a:t>DO_BH</a:t>
            </a:r>
            <a:r>
              <a:rPr lang="en-US" sz="2400">
                <a:latin typeface="Calibri"/>
                <a:ea typeface="Calibri"/>
                <a:cs typeface="Calibri"/>
              </a:rPr>
              <a:t> - Diameter over bark at breast height (in inches)</a:t>
            </a:r>
            <a:endParaRPr lang="en-US"/>
          </a:p>
          <a:p>
            <a:pPr marL="0" indent="0">
              <a:buNone/>
            </a:pPr>
            <a:r>
              <a:rPr lang="en-US" sz="2400">
                <a:latin typeface="Arial"/>
                <a:cs typeface="Arial"/>
              </a:rPr>
              <a:t>•</a:t>
            </a:r>
            <a:r>
              <a:rPr lang="en-US" sz="2400" b="1">
                <a:latin typeface="Calibri"/>
                <a:ea typeface="Calibri"/>
                <a:cs typeface="Calibri"/>
              </a:rPr>
              <a:t>HT_TOT</a:t>
            </a:r>
            <a:r>
              <a:rPr lang="en-US" sz="2400">
                <a:latin typeface="Calibri"/>
                <a:ea typeface="Calibri"/>
                <a:cs typeface="Calibri"/>
              </a:rPr>
              <a:t> - Total tree height (in ft)</a:t>
            </a:r>
            <a:endParaRPr lang="en-US"/>
          </a:p>
          <a:p>
            <a:pPr marL="0" indent="0">
              <a:buNone/>
            </a:pPr>
            <a:r>
              <a:rPr lang="en-US" sz="2400">
                <a:latin typeface="Arial"/>
                <a:cs typeface="Arial"/>
              </a:rPr>
              <a:t>•</a:t>
            </a:r>
            <a:r>
              <a:rPr lang="en-US" sz="2400" b="1">
                <a:latin typeface="Calibri"/>
                <a:ea typeface="Calibri"/>
                <a:cs typeface="Calibri"/>
              </a:rPr>
              <a:t>TT_DW_CRM</a:t>
            </a:r>
            <a:r>
              <a:rPr lang="en-US" sz="2400">
                <a:latin typeface="Calibri"/>
                <a:ea typeface="Calibri"/>
                <a:cs typeface="Calibri"/>
              </a:rPr>
              <a:t> - Total dry biomass (in kg) (target variable)</a:t>
            </a:r>
            <a:endParaRPr lang="en-US"/>
          </a:p>
          <a:p>
            <a:pPr marL="0" indent="0">
              <a:buNone/>
            </a:pPr>
            <a:endParaRPr lang="en-US" sz="2400">
              <a:latin typeface="Calibri"/>
              <a:ea typeface="Calibri"/>
              <a:cs typeface="Calibri"/>
            </a:endParaRPr>
          </a:p>
          <a:p>
            <a:pPr marL="0" indent="0">
              <a:buNone/>
            </a:pPr>
            <a:r>
              <a:rPr lang="en-US" sz="2400" b="1">
                <a:latin typeface="Calibri"/>
                <a:ea typeface="Calibri"/>
                <a:cs typeface="Calibri"/>
              </a:rPr>
              <a:t>Dataset Characteristics</a:t>
            </a:r>
          </a:p>
          <a:p>
            <a:pPr marL="0" indent="0">
              <a:buNone/>
            </a:pPr>
            <a:r>
              <a:rPr lang="en-US" sz="2400">
                <a:latin typeface="Arial"/>
                <a:cs typeface="Arial"/>
              </a:rPr>
              <a:t>•</a:t>
            </a:r>
            <a:r>
              <a:rPr lang="en-US" sz="2400">
                <a:latin typeface="Calibri"/>
                <a:ea typeface="Calibri"/>
                <a:cs typeface="Calibri"/>
              </a:rPr>
              <a:t>Biomass values are highly skewed</a:t>
            </a:r>
            <a:endParaRPr lang="en-US"/>
          </a:p>
          <a:p>
            <a:pPr marL="0" indent="0">
              <a:buNone/>
            </a:pPr>
            <a:r>
              <a:rPr lang="en-US" sz="2400">
                <a:latin typeface="Arial"/>
                <a:cs typeface="Arial"/>
              </a:rPr>
              <a:t>•</a:t>
            </a:r>
            <a:r>
              <a:rPr lang="en-US" sz="2400">
                <a:latin typeface="Calibri"/>
                <a:ea typeface="Calibri"/>
                <a:cs typeface="Calibri"/>
              </a:rPr>
              <a:t>Many small trees, fewer very large trees</a:t>
            </a:r>
            <a:endParaRPr lang="en-US"/>
          </a:p>
          <a:p>
            <a:pPr marL="0" indent="0">
              <a:buNone/>
            </a:pPr>
            <a:r>
              <a:rPr lang="en-US" sz="2400">
                <a:latin typeface="Arial"/>
                <a:cs typeface="Arial"/>
              </a:rPr>
              <a:t>•</a:t>
            </a:r>
            <a:r>
              <a:rPr lang="en-US" sz="2400">
                <a:latin typeface="Calibri"/>
                <a:ea typeface="Calibri"/>
                <a:cs typeface="Calibri"/>
              </a:rPr>
              <a:t>Species representation is uneven</a:t>
            </a:r>
            <a:endParaRPr lang="en-US"/>
          </a:p>
          <a:p>
            <a:endParaRPr lang="en-US"/>
          </a:p>
        </p:txBody>
      </p:sp>
    </p:spTree>
    <p:extLst>
      <p:ext uri="{BB962C8B-B14F-4D97-AF65-F5344CB8AC3E}">
        <p14:creationId xmlns:p14="http://schemas.microsoft.com/office/powerpoint/2010/main" val="1508555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DE687-08F3-31D2-3CFD-E648FE6BEB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1C7E76-1612-950E-B740-47682DDC8CA0}"/>
              </a:ext>
            </a:extLst>
          </p:cNvPr>
          <p:cNvSpPr>
            <a:spLocks noGrp="1"/>
          </p:cNvSpPr>
          <p:nvPr>
            <p:ph type="ctrTitle"/>
          </p:nvPr>
        </p:nvSpPr>
        <p:spPr/>
        <p:txBody>
          <a:bodyPr/>
          <a:lstStyle/>
          <a:p>
            <a:r>
              <a:rPr lang="en-US" b="1"/>
              <a:t>Elio Piccagli Simple Neural Network</a:t>
            </a:r>
          </a:p>
        </p:txBody>
      </p:sp>
      <p:sp>
        <p:nvSpPr>
          <p:cNvPr id="3" name="Content Placeholder 2">
            <a:extLst>
              <a:ext uri="{FF2B5EF4-FFF2-40B4-BE49-F238E27FC236}">
                <a16:creationId xmlns:a16="http://schemas.microsoft.com/office/drawing/2014/main" id="{A0CEA14B-9869-B690-0222-55E4FCCBC98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919626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E732F-33C6-A3A1-FD5F-29297BEEAE63}"/>
              </a:ext>
            </a:extLst>
          </p:cNvPr>
          <p:cNvSpPr>
            <a:spLocks noGrp="1"/>
          </p:cNvSpPr>
          <p:nvPr>
            <p:ph type="title"/>
          </p:nvPr>
        </p:nvSpPr>
        <p:spPr/>
        <p:txBody>
          <a:bodyPr/>
          <a:lstStyle/>
          <a:p>
            <a:pPr algn="ctr"/>
            <a:r>
              <a:rPr lang="en-US" sz="3300">
                <a:latin typeface="Calibri"/>
                <a:ea typeface="Calibri"/>
                <a:cs typeface="Calibri"/>
              </a:rPr>
              <a:t>Modeling Strategy</a:t>
            </a:r>
            <a:endParaRPr lang="en-US"/>
          </a:p>
        </p:txBody>
      </p:sp>
      <p:sp>
        <p:nvSpPr>
          <p:cNvPr id="3" name="Content Placeholder 2">
            <a:extLst>
              <a:ext uri="{FF2B5EF4-FFF2-40B4-BE49-F238E27FC236}">
                <a16:creationId xmlns:a16="http://schemas.microsoft.com/office/drawing/2014/main" id="{781BA486-173B-33F2-64E2-66A728824AAC}"/>
              </a:ext>
            </a:extLst>
          </p:cNvPr>
          <p:cNvSpPr>
            <a:spLocks noGrp="1"/>
          </p:cNvSpPr>
          <p:nvPr>
            <p:ph idx="1"/>
          </p:nvPr>
        </p:nvSpPr>
        <p:spPr/>
        <p:txBody>
          <a:bodyPr vert="horz" lIns="91440" tIns="45720" rIns="91440" bIns="45720" rtlCol="0" anchor="t">
            <a:normAutofit/>
          </a:bodyPr>
          <a:lstStyle/>
          <a:p>
            <a:pPr marL="0" indent="0">
              <a:buNone/>
            </a:pPr>
            <a:r>
              <a:rPr lang="en-US" sz="2400">
                <a:latin typeface="Arial"/>
                <a:cs typeface="Arial"/>
              </a:rPr>
              <a:t>•</a:t>
            </a:r>
            <a:r>
              <a:rPr lang="en-US" sz="2400">
                <a:latin typeface="Arial"/>
                <a:ea typeface="Calibri"/>
                <a:cs typeface="Arial"/>
              </a:rPr>
              <a:t> </a:t>
            </a:r>
            <a:r>
              <a:rPr lang="en-US" sz="2400">
                <a:latin typeface="Calibri"/>
                <a:ea typeface="Calibri"/>
                <a:cs typeface="Calibri"/>
              </a:rPr>
              <a:t>Feedforward neural network using Pytorch nn.Module</a:t>
            </a:r>
            <a:endParaRPr lang="en-US"/>
          </a:p>
          <a:p>
            <a:pPr marL="0" indent="0">
              <a:buNone/>
            </a:pPr>
            <a:endParaRPr lang="en-US" sz="2400">
              <a:latin typeface="Calibri"/>
              <a:ea typeface="Calibri"/>
              <a:cs typeface="Calibri"/>
            </a:endParaRPr>
          </a:p>
          <a:p>
            <a:pPr marL="0" indent="0">
              <a:buNone/>
            </a:pPr>
            <a:r>
              <a:rPr lang="en-US" sz="2400">
                <a:latin typeface="Arial"/>
                <a:cs typeface="Arial"/>
              </a:rPr>
              <a:t>•</a:t>
            </a:r>
            <a:r>
              <a:rPr lang="en-US" sz="2400">
                <a:latin typeface="Arial"/>
                <a:ea typeface="Calibri"/>
                <a:cs typeface="Arial"/>
              </a:rPr>
              <a:t> </a:t>
            </a:r>
            <a:r>
              <a:rPr lang="en-US" sz="2400">
                <a:latin typeface="Calibri"/>
                <a:ea typeface="Calibri"/>
                <a:cs typeface="Calibri"/>
              </a:rPr>
              <a:t>Two hidden layers</a:t>
            </a:r>
            <a:endParaRPr lang="en-US"/>
          </a:p>
          <a:p>
            <a:pPr marL="0" indent="0">
              <a:buNone/>
            </a:pPr>
            <a:endParaRPr lang="en-US" sz="2400">
              <a:latin typeface="Calibri"/>
              <a:ea typeface="Calibri"/>
              <a:cs typeface="Calibri"/>
            </a:endParaRPr>
          </a:p>
          <a:p>
            <a:pPr marL="0" indent="0">
              <a:buNone/>
            </a:pPr>
            <a:r>
              <a:rPr lang="en-US" sz="2400">
                <a:latin typeface="Arial"/>
                <a:cs typeface="Arial"/>
              </a:rPr>
              <a:t>•</a:t>
            </a:r>
            <a:r>
              <a:rPr lang="en-US" sz="2400">
                <a:latin typeface="Arial"/>
                <a:ea typeface="Calibri"/>
                <a:cs typeface="Arial"/>
              </a:rPr>
              <a:t> </a:t>
            </a:r>
            <a:r>
              <a:rPr lang="en-US" sz="2400">
                <a:latin typeface="Calibri"/>
                <a:ea typeface="Calibri"/>
                <a:cs typeface="Calibri"/>
              </a:rPr>
              <a:t>Regression Task</a:t>
            </a:r>
            <a:endParaRPr lang="en-US"/>
          </a:p>
          <a:p>
            <a:pPr marL="0" indent="0">
              <a:buNone/>
            </a:pPr>
            <a:endParaRPr lang="en-US" sz="2400">
              <a:latin typeface="Calibri"/>
              <a:ea typeface="Calibri"/>
              <a:cs typeface="Calibri"/>
            </a:endParaRPr>
          </a:p>
          <a:p>
            <a:pPr marL="0" indent="0">
              <a:buNone/>
            </a:pPr>
            <a:r>
              <a:rPr lang="en-US" sz="2400">
                <a:latin typeface="Arial"/>
                <a:cs typeface="Arial"/>
              </a:rPr>
              <a:t>•</a:t>
            </a:r>
            <a:r>
              <a:rPr lang="en-US" sz="2400">
                <a:latin typeface="Arial"/>
                <a:ea typeface="Calibri"/>
                <a:cs typeface="Arial"/>
              </a:rPr>
              <a:t> </a:t>
            </a:r>
            <a:r>
              <a:rPr lang="en-US" sz="2400">
                <a:latin typeface="Calibri"/>
                <a:ea typeface="Calibri"/>
                <a:cs typeface="Calibri"/>
              </a:rPr>
              <a:t>One hot encoded SPCD</a:t>
            </a:r>
            <a:endParaRPr lang="en-US"/>
          </a:p>
          <a:p>
            <a:endParaRPr lang="en-US"/>
          </a:p>
        </p:txBody>
      </p:sp>
    </p:spTree>
    <p:extLst>
      <p:ext uri="{BB962C8B-B14F-4D97-AF65-F5344CB8AC3E}">
        <p14:creationId xmlns:p14="http://schemas.microsoft.com/office/powerpoint/2010/main" val="2207721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4B8B-1CDC-B47A-BA7F-3744807432D9}"/>
              </a:ext>
            </a:extLst>
          </p:cNvPr>
          <p:cNvSpPr>
            <a:spLocks noGrp="1"/>
          </p:cNvSpPr>
          <p:nvPr>
            <p:ph type="title"/>
          </p:nvPr>
        </p:nvSpPr>
        <p:spPr/>
        <p:txBody>
          <a:bodyPr/>
          <a:lstStyle/>
          <a:p>
            <a:pPr algn="ctr"/>
            <a:r>
              <a:rPr lang="en-US" sz="3300">
                <a:latin typeface="Calibri"/>
                <a:ea typeface="Calibri"/>
                <a:cs typeface="Calibri"/>
              </a:rPr>
              <a:t>Modeling Architecture</a:t>
            </a:r>
            <a:endParaRPr lang="en-US"/>
          </a:p>
        </p:txBody>
      </p:sp>
      <p:sp>
        <p:nvSpPr>
          <p:cNvPr id="3" name="Content Placeholder 2">
            <a:extLst>
              <a:ext uri="{FF2B5EF4-FFF2-40B4-BE49-F238E27FC236}">
                <a16:creationId xmlns:a16="http://schemas.microsoft.com/office/drawing/2014/main" id="{617AFD83-E896-173A-0742-7B56A1847204}"/>
              </a:ext>
            </a:extLst>
          </p:cNvPr>
          <p:cNvSpPr>
            <a:spLocks noGrp="1"/>
          </p:cNvSpPr>
          <p:nvPr>
            <p:ph idx="1"/>
          </p:nvPr>
        </p:nvSpPr>
        <p:spPr/>
        <p:txBody>
          <a:bodyPr vert="horz" lIns="91440" tIns="45720" rIns="91440" bIns="45720" rtlCol="0" anchor="t">
            <a:normAutofit/>
          </a:bodyPr>
          <a:lstStyle/>
          <a:p>
            <a:pPr>
              <a:buNone/>
            </a:pPr>
            <a:r>
              <a:rPr lang="en-US" sz="2400">
                <a:latin typeface="Calibri"/>
                <a:ea typeface="Calibri"/>
                <a:cs typeface="Calibri"/>
              </a:rPr>
              <a:t>Input Features</a:t>
            </a:r>
            <a:endParaRPr lang="en-US"/>
          </a:p>
          <a:p>
            <a:pPr>
              <a:buNone/>
            </a:pPr>
            <a:r>
              <a:rPr lang="en-US" sz="2400">
                <a:latin typeface="Calibri"/>
                <a:ea typeface="Calibri"/>
                <a:cs typeface="Calibri"/>
              </a:rPr>
              <a:t>↓</a:t>
            </a:r>
            <a:endParaRPr lang="en-US"/>
          </a:p>
          <a:p>
            <a:pPr>
              <a:buNone/>
            </a:pPr>
            <a:r>
              <a:rPr lang="en-US" sz="2400">
                <a:latin typeface="Calibri"/>
                <a:ea typeface="Calibri"/>
                <a:cs typeface="Calibri"/>
              </a:rPr>
              <a:t>Linear (128 units) + ReLU</a:t>
            </a:r>
            <a:endParaRPr lang="en-US"/>
          </a:p>
          <a:p>
            <a:pPr>
              <a:buNone/>
            </a:pPr>
            <a:r>
              <a:rPr lang="en-US" sz="2400">
                <a:latin typeface="Calibri"/>
                <a:ea typeface="Calibri"/>
                <a:cs typeface="Calibri"/>
              </a:rPr>
              <a:t>↓</a:t>
            </a:r>
            <a:endParaRPr lang="en-US"/>
          </a:p>
          <a:p>
            <a:pPr>
              <a:buNone/>
            </a:pPr>
            <a:r>
              <a:rPr lang="en-US" sz="2400">
                <a:latin typeface="Calibri"/>
                <a:ea typeface="Calibri"/>
                <a:cs typeface="Calibri"/>
              </a:rPr>
              <a:t>Linear (64 units) + ReLU</a:t>
            </a:r>
            <a:endParaRPr lang="en-US"/>
          </a:p>
          <a:p>
            <a:pPr>
              <a:buNone/>
            </a:pPr>
            <a:r>
              <a:rPr lang="en-US" sz="2400">
                <a:latin typeface="Calibri"/>
                <a:ea typeface="Calibri"/>
                <a:cs typeface="Calibri"/>
              </a:rPr>
              <a:t>↓</a:t>
            </a:r>
            <a:endParaRPr lang="en-US"/>
          </a:p>
          <a:p>
            <a:pPr>
              <a:buNone/>
            </a:pPr>
            <a:r>
              <a:rPr lang="en-US" sz="2400">
                <a:latin typeface="Calibri"/>
                <a:ea typeface="Calibri"/>
                <a:cs typeface="Calibri"/>
              </a:rPr>
              <a:t>Linear (1 unit)</a:t>
            </a:r>
            <a:endParaRPr lang="en-US"/>
          </a:p>
          <a:p>
            <a:pPr>
              <a:buNone/>
            </a:pPr>
            <a:r>
              <a:rPr lang="en-US" sz="2400">
                <a:latin typeface="Calibri"/>
                <a:ea typeface="Calibri"/>
                <a:cs typeface="Calibri"/>
              </a:rPr>
              <a:t>↓</a:t>
            </a:r>
            <a:endParaRPr lang="en-US"/>
          </a:p>
          <a:p>
            <a:pPr>
              <a:buNone/>
            </a:pPr>
            <a:r>
              <a:rPr lang="en-US" sz="2400">
                <a:latin typeface="Calibri"/>
                <a:ea typeface="Calibri"/>
                <a:cs typeface="Calibri"/>
              </a:rPr>
              <a:t>Predicted Biomass</a:t>
            </a:r>
            <a:endParaRPr lang="en-US"/>
          </a:p>
          <a:p>
            <a:pPr marL="0" indent="0">
              <a:buNone/>
            </a:pPr>
            <a:endParaRPr lang="en-US"/>
          </a:p>
        </p:txBody>
      </p:sp>
    </p:spTree>
    <p:extLst>
      <p:ext uri="{BB962C8B-B14F-4D97-AF65-F5344CB8AC3E}">
        <p14:creationId xmlns:p14="http://schemas.microsoft.com/office/powerpoint/2010/main" val="3505072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876FE-FF2A-FD7A-FF23-21D72FC57C94}"/>
              </a:ext>
            </a:extLst>
          </p:cNvPr>
          <p:cNvSpPr>
            <a:spLocks noGrp="1"/>
          </p:cNvSpPr>
          <p:nvPr>
            <p:ph type="title"/>
          </p:nvPr>
        </p:nvSpPr>
        <p:spPr/>
        <p:txBody>
          <a:bodyPr>
            <a:normAutofit/>
          </a:bodyPr>
          <a:lstStyle/>
          <a:p>
            <a:pPr algn="ctr"/>
            <a:r>
              <a:rPr lang="en-US" sz="3300">
                <a:latin typeface="Calibri"/>
                <a:ea typeface="Calibri"/>
                <a:cs typeface="Calibri"/>
              </a:rPr>
              <a:t>Training and Results</a:t>
            </a:r>
            <a:endParaRPr lang="en-US"/>
          </a:p>
        </p:txBody>
      </p:sp>
      <p:sp>
        <p:nvSpPr>
          <p:cNvPr id="3" name="Content Placeholder 2">
            <a:extLst>
              <a:ext uri="{FF2B5EF4-FFF2-40B4-BE49-F238E27FC236}">
                <a16:creationId xmlns:a16="http://schemas.microsoft.com/office/drawing/2014/main" id="{BC04831C-9F50-EABA-3453-CECEDE05E8A0}"/>
              </a:ext>
            </a:extLst>
          </p:cNvPr>
          <p:cNvSpPr>
            <a:spLocks noGrp="1"/>
          </p:cNvSpPr>
          <p:nvPr>
            <p:ph idx="1"/>
          </p:nvPr>
        </p:nvSpPr>
        <p:spPr/>
        <p:txBody>
          <a:bodyPr vert="horz" lIns="91440" tIns="45720" rIns="91440" bIns="45720" rtlCol="0" anchor="t">
            <a:normAutofit lnSpcReduction="10000"/>
          </a:bodyPr>
          <a:lstStyle/>
          <a:p>
            <a:r>
              <a:rPr lang="en-US" sz="2400">
                <a:latin typeface="Courier"/>
              </a:rPr>
              <a:t>Epoch 25/200, RMSE = 14456.2441</a:t>
            </a:r>
            <a:endParaRPr lang="en-US">
              <a:latin typeface="Aptos" panose="02110004020202020204"/>
            </a:endParaRPr>
          </a:p>
          <a:p>
            <a:r>
              <a:rPr lang="en-US" sz="2400">
                <a:latin typeface="Courier"/>
              </a:rPr>
              <a:t>Epoch 50/200, RMSE = 14453.6123</a:t>
            </a:r>
            <a:endParaRPr lang="en-US">
              <a:latin typeface="Aptos" panose="02110004020202020204"/>
            </a:endParaRPr>
          </a:p>
          <a:p>
            <a:r>
              <a:rPr lang="en-US" sz="2400">
                <a:latin typeface="Courier"/>
              </a:rPr>
              <a:t>Epoch 75/200, RMSE = 14444.5381</a:t>
            </a:r>
            <a:endParaRPr lang="en-US">
              <a:latin typeface="Aptos" panose="02110004020202020204"/>
            </a:endParaRPr>
          </a:p>
          <a:p>
            <a:r>
              <a:rPr lang="en-US" sz="2400">
                <a:latin typeface="Courier"/>
              </a:rPr>
              <a:t>Epoch 100/200, RMSE = 14422.1074</a:t>
            </a:r>
            <a:endParaRPr lang="en-US">
              <a:latin typeface="Aptos" panose="02110004020202020204"/>
            </a:endParaRPr>
          </a:p>
          <a:p>
            <a:r>
              <a:rPr lang="en-US" sz="2400">
                <a:latin typeface="Courier"/>
              </a:rPr>
              <a:t>Epoch 125/200, RMSE = 14378.0312</a:t>
            </a:r>
            <a:endParaRPr lang="en-US">
              <a:latin typeface="Aptos" panose="02110004020202020204"/>
            </a:endParaRPr>
          </a:p>
          <a:p>
            <a:r>
              <a:rPr lang="en-US" sz="2400">
                <a:latin typeface="Courier"/>
              </a:rPr>
              <a:t>Epoch 150/200, RMSE = 14306.6641</a:t>
            </a:r>
            <a:endParaRPr lang="en-US">
              <a:latin typeface="Aptos" panose="02110004020202020204"/>
            </a:endParaRPr>
          </a:p>
          <a:p>
            <a:r>
              <a:rPr lang="en-US" sz="2400">
                <a:latin typeface="Courier"/>
              </a:rPr>
              <a:t>Epoch 175/200, RMSE = 14206.1875</a:t>
            </a:r>
            <a:endParaRPr lang="en-US">
              <a:latin typeface="Aptos" panose="02110004020202020204"/>
            </a:endParaRPr>
          </a:p>
          <a:p>
            <a:r>
              <a:rPr lang="en-US" sz="2400">
                <a:latin typeface="Courier"/>
              </a:rPr>
              <a:t>Epoch 200/200, RMSE = 14078.6191</a:t>
            </a:r>
            <a:endParaRPr lang="en-US"/>
          </a:p>
          <a:p>
            <a:pPr marL="0" indent="0">
              <a:buNone/>
            </a:pPr>
            <a:endParaRPr lang="en-US" sz="2400">
              <a:latin typeface="Courier"/>
            </a:endParaRPr>
          </a:p>
          <a:p>
            <a:r>
              <a:rPr lang="en-US" sz="2400">
                <a:latin typeface="Courier"/>
              </a:rPr>
              <a:t>Test RMSE: 14428.8525390625</a:t>
            </a:r>
            <a:endParaRPr lang="en-US"/>
          </a:p>
          <a:p>
            <a:endParaRPr lang="en-US"/>
          </a:p>
        </p:txBody>
      </p:sp>
    </p:spTree>
    <p:extLst>
      <p:ext uri="{BB962C8B-B14F-4D97-AF65-F5344CB8AC3E}">
        <p14:creationId xmlns:p14="http://schemas.microsoft.com/office/powerpoint/2010/main" val="2786492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C1484-68D2-0314-96AD-86613B387000}"/>
              </a:ext>
            </a:extLst>
          </p:cNvPr>
          <p:cNvSpPr>
            <a:spLocks noGrp="1"/>
          </p:cNvSpPr>
          <p:nvPr>
            <p:ph type="title"/>
          </p:nvPr>
        </p:nvSpPr>
        <p:spPr/>
        <p:txBody>
          <a:bodyPr/>
          <a:lstStyle/>
          <a:p>
            <a:pPr algn="ctr"/>
            <a:r>
              <a:rPr lang="en-US" sz="3300">
                <a:latin typeface="Calibri"/>
                <a:ea typeface="Calibri"/>
                <a:cs typeface="Calibri"/>
              </a:rPr>
              <a:t>Importance of Simple Model</a:t>
            </a:r>
            <a:endParaRPr lang="en-US"/>
          </a:p>
        </p:txBody>
      </p:sp>
      <p:sp>
        <p:nvSpPr>
          <p:cNvPr id="3" name="Content Placeholder 2">
            <a:extLst>
              <a:ext uri="{FF2B5EF4-FFF2-40B4-BE49-F238E27FC236}">
                <a16:creationId xmlns:a16="http://schemas.microsoft.com/office/drawing/2014/main" id="{D1EA3B0B-C399-85CF-D972-976F30B43334}"/>
              </a:ext>
            </a:extLst>
          </p:cNvPr>
          <p:cNvSpPr>
            <a:spLocks noGrp="1"/>
          </p:cNvSpPr>
          <p:nvPr>
            <p:ph idx="1"/>
          </p:nvPr>
        </p:nvSpPr>
        <p:spPr/>
        <p:txBody>
          <a:bodyPr vert="horz" lIns="91440" tIns="45720" rIns="91440" bIns="45720" rtlCol="0" anchor="t">
            <a:normAutofit/>
          </a:bodyPr>
          <a:lstStyle/>
          <a:p>
            <a:pPr>
              <a:buNone/>
            </a:pPr>
            <a:endParaRPr lang="en-US" sz="2400">
              <a:latin typeface="Arial"/>
              <a:cs typeface="Arial"/>
            </a:endParaRPr>
          </a:p>
          <a:p>
            <a:pPr>
              <a:buNone/>
            </a:pPr>
            <a:r>
              <a:rPr lang="en-US" sz="2400">
                <a:latin typeface="Arial"/>
                <a:cs typeface="Arial"/>
              </a:rPr>
              <a:t>•</a:t>
            </a:r>
            <a:r>
              <a:rPr lang="en-US" sz="2400">
                <a:latin typeface="Arial"/>
                <a:ea typeface="Calibri"/>
                <a:cs typeface="Arial"/>
              </a:rPr>
              <a:t> </a:t>
            </a:r>
            <a:r>
              <a:rPr lang="en-US" sz="2400">
                <a:latin typeface="Calibri"/>
                <a:ea typeface="Calibri"/>
                <a:cs typeface="Calibri"/>
              </a:rPr>
              <a:t>Establishes a base line for comparison</a:t>
            </a:r>
            <a:endParaRPr lang="en-US"/>
          </a:p>
          <a:p>
            <a:pPr>
              <a:buNone/>
            </a:pPr>
            <a:endParaRPr lang="en-US" sz="2400">
              <a:latin typeface="Calibri"/>
              <a:ea typeface="Calibri"/>
              <a:cs typeface="Calibri"/>
            </a:endParaRPr>
          </a:p>
          <a:p>
            <a:pPr>
              <a:buNone/>
            </a:pPr>
            <a:r>
              <a:rPr lang="en-US" sz="2400">
                <a:latin typeface="Arial"/>
                <a:cs typeface="Arial"/>
              </a:rPr>
              <a:t>•</a:t>
            </a:r>
            <a:r>
              <a:rPr lang="en-US" sz="2400">
                <a:latin typeface="Arial"/>
                <a:ea typeface="Calibri"/>
                <a:cs typeface="Arial"/>
              </a:rPr>
              <a:t> </a:t>
            </a:r>
            <a:r>
              <a:rPr lang="en-US" sz="2400">
                <a:latin typeface="Calibri"/>
                <a:ea typeface="Calibri"/>
                <a:cs typeface="Calibri"/>
              </a:rPr>
              <a:t>Helps identify data limitations</a:t>
            </a:r>
            <a:endParaRPr lang="en-US"/>
          </a:p>
          <a:p>
            <a:pPr>
              <a:buNone/>
            </a:pPr>
            <a:endParaRPr lang="en-US" sz="2400">
              <a:latin typeface="Calibri"/>
              <a:ea typeface="Calibri"/>
              <a:cs typeface="Calibri"/>
            </a:endParaRPr>
          </a:p>
          <a:p>
            <a:pPr>
              <a:buNone/>
            </a:pPr>
            <a:r>
              <a:rPr lang="en-US" sz="2400">
                <a:latin typeface="Arial"/>
                <a:cs typeface="Arial"/>
              </a:rPr>
              <a:t>•</a:t>
            </a:r>
            <a:r>
              <a:rPr lang="en-US" sz="2400">
                <a:latin typeface="Arial"/>
                <a:ea typeface="Calibri"/>
                <a:cs typeface="Arial"/>
              </a:rPr>
              <a:t> </a:t>
            </a:r>
            <a:r>
              <a:rPr lang="en-US" sz="2400">
                <a:latin typeface="Calibri"/>
                <a:ea typeface="Calibri"/>
                <a:cs typeface="Calibri"/>
              </a:rPr>
              <a:t>Guards against unnecessary complexity</a:t>
            </a:r>
            <a:endParaRPr lang="en-US"/>
          </a:p>
          <a:p>
            <a:pPr>
              <a:buNone/>
            </a:pPr>
            <a:endParaRPr lang="en-US" sz="2400">
              <a:latin typeface="Calibri"/>
              <a:ea typeface="Calibri"/>
              <a:cs typeface="Calibri"/>
            </a:endParaRPr>
          </a:p>
          <a:p>
            <a:pPr algn="ctr">
              <a:buNone/>
            </a:pPr>
            <a:r>
              <a:rPr lang="en-US" sz="2400">
                <a:latin typeface="Calibri"/>
                <a:ea typeface="Calibri"/>
                <a:cs typeface="Calibri"/>
              </a:rPr>
              <a:t>Even when performance is limited, a simple model clarifies whether added complexity is justified.</a:t>
            </a:r>
            <a:endParaRPr lang="en-US"/>
          </a:p>
          <a:p>
            <a:pPr marL="0" indent="0">
              <a:buNone/>
            </a:pPr>
            <a:endParaRPr lang="en-US"/>
          </a:p>
        </p:txBody>
      </p:sp>
    </p:spTree>
    <p:extLst>
      <p:ext uri="{BB962C8B-B14F-4D97-AF65-F5344CB8AC3E}">
        <p14:creationId xmlns:p14="http://schemas.microsoft.com/office/powerpoint/2010/main" val="3210726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14C1F-6A53-9478-A538-0816DD2D2693}"/>
              </a:ext>
            </a:extLst>
          </p:cNvPr>
          <p:cNvSpPr>
            <a:spLocks noGrp="1"/>
          </p:cNvSpPr>
          <p:nvPr>
            <p:ph type="ctrTitle"/>
          </p:nvPr>
        </p:nvSpPr>
        <p:spPr/>
        <p:txBody>
          <a:bodyPr/>
          <a:lstStyle/>
          <a:p>
            <a:pPr algn="ctr"/>
            <a:r>
              <a:rPr lang="en-US" b="1"/>
              <a:t>Emad Syed Linear Regression Model</a:t>
            </a:r>
          </a:p>
        </p:txBody>
      </p:sp>
      <p:sp>
        <p:nvSpPr>
          <p:cNvPr id="3" name="Content Placeholder 2">
            <a:extLst>
              <a:ext uri="{FF2B5EF4-FFF2-40B4-BE49-F238E27FC236}">
                <a16:creationId xmlns:a16="http://schemas.microsoft.com/office/drawing/2014/main" id="{11296EF7-A957-0DBC-4C53-96697FBF02E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08852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8614131-F4EF-6F4A-76D2-F5EA1B0AA521}"/>
              </a:ext>
            </a:extLst>
          </p:cNvPr>
          <p:cNvSpPr txBox="1"/>
          <p:nvPr/>
        </p:nvSpPr>
        <p:spPr>
          <a:xfrm>
            <a:off x="653745" y="2276311"/>
            <a:ext cx="10893777" cy="4462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rtl="0"/>
            <a:r>
              <a:rPr lang="en-US" sz="2800" b="1" kern="1200">
                <a:latin typeface="Calibri"/>
                <a:ea typeface="+mn-ea"/>
                <a:cs typeface="+mn-cs"/>
              </a:rPr>
              <a:t>Original Biomass (TT_DW_CRM)</a:t>
            </a:r>
            <a:endParaRPr lang="en-US" sz="2800" b="1" kern="1200">
              <a:latin typeface="Calibri"/>
              <a:ea typeface="Calibri"/>
              <a:cs typeface="Calibri"/>
            </a:endParaRPr>
          </a:p>
          <a:p>
            <a:pPr marL="347345" indent="-347345" algn="l" rtl="0">
              <a:buFont typeface="Arial"/>
              <a:buChar char="•"/>
            </a:pPr>
            <a:r>
              <a:rPr lang="en-US" sz="2800" kern="1200">
                <a:latin typeface="Calibri"/>
                <a:ea typeface="+mn-ea"/>
                <a:cs typeface="+mn-cs"/>
              </a:rPr>
              <a:t>Mean: 1,444.75</a:t>
            </a:r>
            <a:endParaRPr lang="en-US" sz="2800" kern="1200">
              <a:latin typeface="Calibri"/>
              <a:ea typeface="Calibri"/>
              <a:cs typeface="Calibri"/>
            </a:endParaRPr>
          </a:p>
          <a:p>
            <a:pPr marL="347345" indent="-347345" algn="l" rtl="0">
              <a:buFont typeface="Arial"/>
              <a:buChar char="•"/>
            </a:pPr>
            <a:r>
              <a:rPr lang="en-US" sz="2800" kern="1200">
                <a:latin typeface="Calibri"/>
                <a:ea typeface="+mn-ea"/>
                <a:cs typeface="+mn-cs"/>
              </a:rPr>
              <a:t>Standard Deviation: 14,384.53</a:t>
            </a:r>
            <a:endParaRPr lang="en-US" sz="2800" kern="1200">
              <a:latin typeface="Calibri"/>
              <a:ea typeface="Calibri"/>
              <a:cs typeface="Calibri"/>
            </a:endParaRPr>
          </a:p>
          <a:p>
            <a:pPr marL="0" indent="0" algn="l" rtl="0"/>
            <a:r>
              <a:rPr lang="en-US" sz="2800" b="1" kern="1200">
                <a:latin typeface="Calibri"/>
                <a:ea typeface="+mn-ea"/>
                <a:cs typeface="+mn-cs"/>
              </a:rPr>
              <a:t>Transformation Applied</a:t>
            </a:r>
            <a:endParaRPr lang="en-US" sz="2800" b="1" kern="1200">
              <a:latin typeface="Calibri"/>
              <a:ea typeface="Calibri"/>
              <a:cs typeface="Calibri"/>
            </a:endParaRPr>
          </a:p>
          <a:p>
            <a:pPr marL="347345" indent="-347345" algn="l" rtl="0">
              <a:buFont typeface="Arial"/>
              <a:buChar char="•"/>
            </a:pPr>
            <a:r>
              <a:rPr lang="en-US" sz="2800" kern="1200">
                <a:latin typeface="Calibri"/>
                <a:ea typeface="+mn-ea"/>
                <a:cs typeface="+mn-cs"/>
              </a:rPr>
              <a:t>Centered and standardized using z-score normalization</a:t>
            </a:r>
            <a:endParaRPr lang="en-US" sz="2800" kern="1200">
              <a:latin typeface="Calibri"/>
              <a:ea typeface="Calibri"/>
              <a:cs typeface="Calibri"/>
            </a:endParaRPr>
          </a:p>
          <a:p>
            <a:pPr marL="347345" indent="-347345" algn="l" rtl="0">
              <a:buFont typeface="Arial"/>
              <a:buChar char="•"/>
            </a:pPr>
            <a:r>
              <a:rPr lang="en-US" sz="2800" kern="1200">
                <a:latin typeface="Calibri"/>
                <a:ea typeface="+mn-ea"/>
                <a:cs typeface="+mn-cs"/>
              </a:rPr>
              <a:t>Enables stable model training and convergence</a:t>
            </a:r>
            <a:endParaRPr lang="en-US" sz="2800" kern="1200">
              <a:latin typeface="Calibri"/>
              <a:ea typeface="Calibri"/>
              <a:cs typeface="Calibri"/>
            </a:endParaRPr>
          </a:p>
          <a:p>
            <a:pPr marL="0" indent="0" algn="l" rtl="0"/>
            <a:r>
              <a:rPr lang="en-US" sz="2800" b="1" kern="1200">
                <a:latin typeface="Calibri"/>
                <a:ea typeface="+mn-ea"/>
                <a:cs typeface="+mn-cs"/>
              </a:rPr>
              <a:t>Inverse Transformation</a:t>
            </a:r>
            <a:endParaRPr lang="en-US" sz="2800" b="1" kern="1200">
              <a:latin typeface="Calibri"/>
              <a:ea typeface="Calibri"/>
              <a:cs typeface="Calibri"/>
            </a:endParaRPr>
          </a:p>
          <a:p>
            <a:endParaRPr lang="en-US" sz="2200">
              <a:latin typeface="Cambria Math"/>
              <a:ea typeface="Cambria Math"/>
            </a:endParaRPr>
          </a:p>
          <a:p>
            <a:pPr marL="0" indent="0" algn="ctr"/>
            <a:endParaRPr lang="en-US" sz="2000"/>
          </a:p>
          <a:p>
            <a:pPr marL="0" indent="0" algn="l" rtl="0"/>
            <a:r>
              <a:rPr lang="en-US" sz="2800" kern="1200">
                <a:latin typeface="Calibri"/>
                <a:ea typeface="+mn-ea"/>
                <a:cs typeface="+mn-cs"/>
              </a:rPr>
              <a:t>This formula returns predictions to original scale for interpretation</a:t>
            </a:r>
            <a:endParaRPr lang="en-US" sz="2800" kern="1200">
              <a:latin typeface="Calibri"/>
              <a:ea typeface="Calibri"/>
              <a:cs typeface="Calibri"/>
            </a:endParaRPr>
          </a:p>
          <a:p>
            <a:pPr algn="ctr"/>
            <a:endParaRPr lang="en-US"/>
          </a:p>
        </p:txBody>
      </p:sp>
      <p:sp>
        <p:nvSpPr>
          <p:cNvPr id="5" name="TextBox 4">
            <a:extLst>
              <a:ext uri="{FF2B5EF4-FFF2-40B4-BE49-F238E27FC236}">
                <a16:creationId xmlns:a16="http://schemas.microsoft.com/office/drawing/2014/main" id="{46BA4343-17C3-7119-682E-D53FE743D10E}"/>
              </a:ext>
            </a:extLst>
          </p:cNvPr>
          <p:cNvSpPr txBox="1"/>
          <p:nvPr/>
        </p:nvSpPr>
        <p:spPr>
          <a:xfrm>
            <a:off x="655009" y="1030111"/>
            <a:ext cx="10718546"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kern="1200">
                <a:latin typeface="Calibri"/>
                <a:ea typeface="+mj-ea"/>
                <a:cs typeface="+mj-cs"/>
              </a:rPr>
              <a:t>Feature Engineering: Response Variable</a:t>
            </a:r>
            <a:endParaRPr lang="en-US" sz="4400"/>
          </a:p>
          <a:p>
            <a:pPr algn="ctr"/>
            <a:endParaRPr lang="en-US"/>
          </a:p>
        </p:txBody>
      </p:sp>
      <p:sp>
        <p:nvSpPr>
          <p:cNvPr id="6" name="TextBox 5">
            <a:extLst>
              <a:ext uri="{FF2B5EF4-FFF2-40B4-BE49-F238E27FC236}">
                <a16:creationId xmlns:a16="http://schemas.microsoft.com/office/drawing/2014/main" id="{E769CE43-FDE6-AEA9-371B-5D3D67901814}"/>
              </a:ext>
            </a:extLst>
          </p:cNvPr>
          <p:cNvSpPr txBox="1"/>
          <p:nvPr/>
        </p:nvSpPr>
        <p:spPr>
          <a:xfrm>
            <a:off x="2673933" y="5490097"/>
            <a:ext cx="6514156"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err="1">
                <a:latin typeface="Cambria Math"/>
                <a:ea typeface="Cambria Math"/>
                <a:cs typeface="+mn-lt"/>
              </a:rPr>
              <a:t>y</a:t>
            </a:r>
            <a:r>
              <a:rPr lang="en-US" sz="2200" baseline="-25000" err="1">
                <a:latin typeface="Cambria Math"/>
                <a:ea typeface="Cambria Math"/>
                <a:cs typeface="+mn-lt"/>
              </a:rPr>
              <a:t>actual</a:t>
            </a:r>
            <a:r>
              <a:rPr lang="en-US" sz="2200" baseline="-25000">
                <a:latin typeface="Cambria Math"/>
                <a:ea typeface="Cambria Math"/>
                <a:cs typeface="+mn-lt"/>
              </a:rPr>
              <a:t> </a:t>
            </a:r>
            <a:r>
              <a:rPr lang="en-US" sz="2200">
                <a:latin typeface="Cambria Math"/>
                <a:ea typeface="Cambria Math"/>
                <a:cs typeface="+mn-lt"/>
              </a:rPr>
              <a:t>= (</a:t>
            </a:r>
            <a:r>
              <a:rPr lang="en-US" sz="2200" err="1">
                <a:latin typeface="Cambria Math"/>
                <a:ea typeface="Cambria Math"/>
                <a:cs typeface="+mn-lt"/>
              </a:rPr>
              <a:t>y</a:t>
            </a:r>
            <a:r>
              <a:rPr lang="en-US" sz="2200" baseline="-25000" err="1">
                <a:latin typeface="Cambria Math"/>
                <a:ea typeface="Cambria Math"/>
                <a:cs typeface="+mn-lt"/>
              </a:rPr>
              <a:t>pred</a:t>
            </a:r>
            <a:r>
              <a:rPr lang="en-US" sz="2200" baseline="-25000">
                <a:latin typeface="Cambria Math"/>
                <a:ea typeface="Cambria Math"/>
                <a:cs typeface="+mn-lt"/>
              </a:rPr>
              <a:t> </a:t>
            </a:r>
            <a:r>
              <a:rPr lang="en-US" sz="2200">
                <a:latin typeface="Cambria Math"/>
                <a:ea typeface="Cambria Math"/>
                <a:cs typeface="+mn-lt"/>
              </a:rPr>
              <a:t>× 14,384.53) + 1,444.75</a:t>
            </a:r>
            <a:endParaRPr lang="en-US"/>
          </a:p>
          <a:p>
            <a:endParaRPr lang="en-US" baseline="-25000"/>
          </a:p>
        </p:txBody>
      </p:sp>
    </p:spTree>
    <p:extLst>
      <p:ext uri="{BB962C8B-B14F-4D97-AF65-F5344CB8AC3E}">
        <p14:creationId xmlns:p14="http://schemas.microsoft.com/office/powerpoint/2010/main" val="526945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24A7A-BCB1-7D8B-1270-B2DAFA51E6D4}"/>
              </a:ext>
            </a:extLst>
          </p:cNvPr>
          <p:cNvSpPr>
            <a:spLocks noGrp="1"/>
          </p:cNvSpPr>
          <p:nvPr>
            <p:ph type="title"/>
          </p:nvPr>
        </p:nvSpPr>
        <p:spPr/>
        <p:txBody>
          <a:bodyPr>
            <a:normAutofit/>
          </a:bodyPr>
          <a:lstStyle/>
          <a:p>
            <a:pPr algn="ctr"/>
            <a:r>
              <a:rPr lang="en-US">
                <a:latin typeface="Calibri"/>
                <a:ea typeface="Calibri"/>
                <a:cs typeface="Calibri"/>
              </a:rPr>
              <a:t>Feature Engineering: Predictors</a:t>
            </a:r>
            <a:endParaRPr lang="en-US"/>
          </a:p>
        </p:txBody>
      </p:sp>
      <p:sp>
        <p:nvSpPr>
          <p:cNvPr id="3" name="Content Placeholder 2">
            <a:extLst>
              <a:ext uri="{FF2B5EF4-FFF2-40B4-BE49-F238E27FC236}">
                <a16:creationId xmlns:a16="http://schemas.microsoft.com/office/drawing/2014/main" id="{26C0A53C-F8E8-1ED3-A8C6-0D6F1E28DABB}"/>
              </a:ext>
            </a:extLst>
          </p:cNvPr>
          <p:cNvSpPr>
            <a:spLocks noGrp="1"/>
          </p:cNvSpPr>
          <p:nvPr>
            <p:ph idx="1"/>
          </p:nvPr>
        </p:nvSpPr>
        <p:spPr/>
        <p:txBody>
          <a:bodyPr vert="horz" lIns="91440" tIns="45720" rIns="91440" bIns="45720" rtlCol="0" anchor="t">
            <a:normAutofit/>
          </a:bodyPr>
          <a:lstStyle/>
          <a:p>
            <a:pPr marL="0" indent="0">
              <a:buNone/>
            </a:pPr>
            <a:r>
              <a:rPr lang="en-US" sz="3600" b="1">
                <a:latin typeface="Calibri"/>
                <a:ea typeface="Calibri"/>
                <a:cs typeface="Calibri"/>
              </a:rPr>
              <a:t>Numerical Predictors (Standardized)</a:t>
            </a:r>
            <a:endParaRPr lang="en-US" sz="3600">
              <a:latin typeface="Aptos" panose="02110004020202020204"/>
              <a:ea typeface="Calibri"/>
              <a:cs typeface="Calibri"/>
            </a:endParaRPr>
          </a:p>
          <a:p>
            <a:r>
              <a:rPr lang="en-US" sz="3600">
                <a:latin typeface="Calibri"/>
                <a:ea typeface="Calibri"/>
                <a:cs typeface="Calibri"/>
              </a:rPr>
              <a:t>DO_BH (DBH): Diameter at breast height (inches)</a:t>
            </a:r>
            <a:endParaRPr lang="en-US" sz="3600">
              <a:latin typeface="Aptos" panose="02110004020202020204"/>
              <a:ea typeface="Calibri"/>
              <a:cs typeface="Calibri"/>
            </a:endParaRPr>
          </a:p>
          <a:p>
            <a:r>
              <a:rPr lang="en-US" sz="3600">
                <a:latin typeface="Calibri"/>
                <a:ea typeface="Calibri"/>
                <a:cs typeface="Calibri"/>
              </a:rPr>
              <a:t>HT_TOT: Total height (feet)</a:t>
            </a:r>
            <a:endParaRPr lang="en-US" sz="3600"/>
          </a:p>
          <a:p>
            <a:r>
              <a:rPr lang="en-US" sz="3600" err="1">
                <a:latin typeface="Calibri"/>
                <a:ea typeface="Calibri"/>
                <a:cs typeface="Calibri"/>
              </a:rPr>
              <a:t>DBH_sq</a:t>
            </a:r>
            <a:r>
              <a:rPr lang="en-US" sz="3600">
                <a:latin typeface="Calibri"/>
                <a:ea typeface="Calibri"/>
                <a:cs typeface="Calibri"/>
              </a:rPr>
              <a:t>: Quadratic polynomial (DO_BH²)</a:t>
            </a:r>
            <a:endParaRPr lang="en-US" sz="3600"/>
          </a:p>
          <a:p>
            <a:r>
              <a:rPr lang="en-US" sz="3600" err="1">
                <a:latin typeface="Calibri"/>
                <a:ea typeface="Calibri"/>
                <a:cs typeface="Calibri"/>
              </a:rPr>
              <a:t>DBH_cb</a:t>
            </a:r>
            <a:r>
              <a:rPr lang="en-US" sz="3600">
                <a:latin typeface="Calibri"/>
                <a:ea typeface="Calibri"/>
                <a:cs typeface="Calibri"/>
              </a:rPr>
              <a:t>: Cubic polynomial (DO_BH³) All standardized using </a:t>
            </a:r>
            <a:r>
              <a:rPr lang="en-US" sz="3600" err="1">
                <a:latin typeface="Calibri"/>
                <a:ea typeface="Calibri"/>
                <a:cs typeface="Calibri"/>
              </a:rPr>
              <a:t>StandardScaler</a:t>
            </a:r>
            <a:endParaRPr lang="en-US" sz="3600"/>
          </a:p>
          <a:p>
            <a:endParaRPr lang="en-US" sz="3300">
              <a:latin typeface="Calibri"/>
              <a:ea typeface="Calibri"/>
              <a:cs typeface="Calibri"/>
            </a:endParaRPr>
          </a:p>
        </p:txBody>
      </p:sp>
    </p:spTree>
    <p:extLst>
      <p:ext uri="{BB962C8B-B14F-4D97-AF65-F5344CB8AC3E}">
        <p14:creationId xmlns:p14="http://schemas.microsoft.com/office/powerpoint/2010/main" val="1349549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466D7E-AF06-C04F-D4E7-D9C558BDCA1C}"/>
              </a:ext>
            </a:extLst>
          </p:cNvPr>
          <p:cNvSpPr txBox="1"/>
          <p:nvPr/>
        </p:nvSpPr>
        <p:spPr>
          <a:xfrm>
            <a:off x="1330657" y="1541060"/>
            <a:ext cx="10133462"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rtl="0"/>
            <a:r>
              <a:rPr lang="en-US" sz="3600" b="1" kern="1200">
                <a:latin typeface="Calibri"/>
                <a:ea typeface="+mn-ea"/>
                <a:cs typeface="+mn-cs"/>
              </a:rPr>
              <a:t>Categorical Predictor</a:t>
            </a:r>
            <a:endParaRPr lang="en-US" sz="3600" b="1" kern="1200">
              <a:latin typeface="Calibri"/>
              <a:ea typeface="Calibri"/>
              <a:cs typeface="Calibri"/>
            </a:endParaRPr>
          </a:p>
          <a:p>
            <a:pPr marL="347345" indent="-347345" algn="l" rtl="0">
              <a:buFont typeface="Arial"/>
              <a:buChar char="•"/>
            </a:pPr>
            <a:r>
              <a:rPr lang="en-US" sz="3600" kern="1200">
                <a:latin typeface="Calibri"/>
                <a:ea typeface="+mn-ea"/>
                <a:cs typeface="+mn-cs"/>
              </a:rPr>
              <a:t>SPCD (species code): One-hot encoded</a:t>
            </a:r>
            <a:endParaRPr lang="en-US" sz="3600" kern="1200">
              <a:latin typeface="Calibri"/>
              <a:ea typeface="Calibri"/>
              <a:cs typeface="Calibri"/>
            </a:endParaRPr>
          </a:p>
          <a:p>
            <a:pPr marL="347345" indent="-347345" algn="l" rtl="0">
              <a:buFont typeface="Arial"/>
              <a:buChar char="•"/>
            </a:pPr>
            <a:r>
              <a:rPr lang="en-US" sz="3600" kern="1200">
                <a:latin typeface="Calibri"/>
                <a:ea typeface="+mn-ea"/>
                <a:cs typeface="+mn-cs"/>
              </a:rPr>
              <a:t>Reference category: First category</a:t>
            </a:r>
            <a:endParaRPr lang="en-US" sz="3600" kern="1200">
              <a:latin typeface="Calibri"/>
              <a:ea typeface="Calibri"/>
              <a:cs typeface="Calibri"/>
            </a:endParaRPr>
          </a:p>
          <a:p>
            <a:pPr marL="347345" indent="-347345" algn="l" rtl="0">
              <a:buFont typeface="Arial"/>
              <a:buChar char="•"/>
            </a:pPr>
            <a:r>
              <a:rPr lang="en-US" sz="3600" kern="1200">
                <a:latin typeface="Calibri"/>
                <a:ea typeface="+mn-ea"/>
                <a:cs typeface="+mn-cs"/>
              </a:rPr>
              <a:t>Unique species: 194</a:t>
            </a:r>
            <a:endParaRPr lang="en-US" sz="3600" kern="1200">
              <a:latin typeface="Calibri"/>
              <a:ea typeface="Calibri"/>
              <a:cs typeface="Calibri"/>
            </a:endParaRPr>
          </a:p>
          <a:p>
            <a:pPr marL="347345" indent="-347345" algn="l" rtl="0">
              <a:buFont typeface="Arial"/>
              <a:buChar char="•"/>
            </a:pPr>
            <a:r>
              <a:rPr lang="en-US" sz="3600" b="1" kern="1200">
                <a:latin typeface="Calibri"/>
                <a:ea typeface="+mn-ea"/>
                <a:cs typeface="+mn-cs"/>
              </a:rPr>
              <a:t>Total features: 197</a:t>
            </a:r>
            <a:endParaRPr lang="en-US" sz="3600" b="1" kern="1200">
              <a:latin typeface="Calibri"/>
              <a:ea typeface="Calibri"/>
              <a:cs typeface="Calibri"/>
            </a:endParaRPr>
          </a:p>
          <a:p>
            <a:pPr algn="ctr"/>
            <a:endParaRPr lang="en-US"/>
          </a:p>
        </p:txBody>
      </p:sp>
    </p:spTree>
    <p:extLst>
      <p:ext uri="{BB962C8B-B14F-4D97-AF65-F5344CB8AC3E}">
        <p14:creationId xmlns:p14="http://schemas.microsoft.com/office/powerpoint/2010/main" val="2821836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26E6D-271B-7D27-501D-2E7FA87C2267}"/>
              </a:ext>
            </a:extLst>
          </p:cNvPr>
          <p:cNvSpPr>
            <a:spLocks noGrp="1"/>
          </p:cNvSpPr>
          <p:nvPr>
            <p:ph type="title"/>
          </p:nvPr>
        </p:nvSpPr>
        <p:spPr/>
        <p:txBody>
          <a:bodyPr>
            <a:normAutofit/>
          </a:bodyPr>
          <a:lstStyle/>
          <a:p>
            <a:r>
              <a:rPr lang="en-US" sz="4800" b="1"/>
              <a:t>Validation/Test Performance</a:t>
            </a:r>
          </a:p>
        </p:txBody>
      </p:sp>
      <p:graphicFrame>
        <p:nvGraphicFramePr>
          <p:cNvPr id="4" name="Content Placeholder 3">
            <a:extLst>
              <a:ext uri="{FF2B5EF4-FFF2-40B4-BE49-F238E27FC236}">
                <a16:creationId xmlns:a16="http://schemas.microsoft.com/office/drawing/2014/main" id="{345DE76A-6E73-14A8-D29A-367D614B37D3}"/>
              </a:ext>
            </a:extLst>
          </p:cNvPr>
          <p:cNvGraphicFramePr>
            <a:graphicFrameLocks noGrp="1"/>
          </p:cNvGraphicFramePr>
          <p:nvPr>
            <p:ph idx="1"/>
            <p:extLst>
              <p:ext uri="{D42A27DB-BD31-4B8C-83A1-F6EECF244321}">
                <p14:modId xmlns:p14="http://schemas.microsoft.com/office/powerpoint/2010/main" val="2425800321"/>
              </p:ext>
            </p:extLst>
          </p:nvPr>
        </p:nvGraphicFramePr>
        <p:xfrm>
          <a:off x="838200" y="1825625"/>
          <a:ext cx="10515600" cy="7416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015776087"/>
                    </a:ext>
                  </a:extLst>
                </a:gridCol>
                <a:gridCol w="5257800">
                  <a:extLst>
                    <a:ext uri="{9D8B030D-6E8A-4147-A177-3AD203B41FA5}">
                      <a16:colId xmlns:a16="http://schemas.microsoft.com/office/drawing/2014/main" val="3320339608"/>
                    </a:ext>
                  </a:extLst>
                </a:gridCol>
              </a:tblGrid>
              <a:tr h="370840">
                <a:tc>
                  <a:txBody>
                    <a:bodyPr/>
                    <a:lstStyle/>
                    <a:p>
                      <a:r>
                        <a:rPr lang="en-US"/>
                        <a:t>Validation Metric</a:t>
                      </a:r>
                    </a:p>
                  </a:txBody>
                  <a:tcPr/>
                </a:tc>
                <a:tc>
                  <a:txBody>
                    <a:bodyPr/>
                    <a:lstStyle/>
                    <a:p>
                      <a:r>
                        <a:rPr lang="en-US"/>
                        <a:t>Value</a:t>
                      </a:r>
                    </a:p>
                  </a:txBody>
                  <a:tcPr/>
                </a:tc>
                <a:extLst>
                  <a:ext uri="{0D108BD9-81ED-4DB2-BD59-A6C34878D82A}">
                    <a16:rowId xmlns:a16="http://schemas.microsoft.com/office/drawing/2014/main" val="1506446419"/>
                  </a:ext>
                </a:extLst>
              </a:tr>
              <a:tr h="370840">
                <a:tc>
                  <a:txBody>
                    <a:bodyPr/>
                    <a:lstStyle/>
                    <a:p>
                      <a:r>
                        <a:rPr lang="en-US"/>
                        <a:t>RMSE</a:t>
                      </a:r>
                    </a:p>
                  </a:txBody>
                  <a:tcPr/>
                </a:tc>
                <a:tc>
                  <a:txBody>
                    <a:bodyPr/>
                    <a:lstStyle/>
                    <a:p>
                      <a:r>
                        <a:rPr lang="en-US"/>
                        <a:t>2,138.41</a:t>
                      </a:r>
                    </a:p>
                  </a:txBody>
                  <a:tcPr/>
                </a:tc>
                <a:extLst>
                  <a:ext uri="{0D108BD9-81ED-4DB2-BD59-A6C34878D82A}">
                    <a16:rowId xmlns:a16="http://schemas.microsoft.com/office/drawing/2014/main" val="2181427461"/>
                  </a:ext>
                </a:extLst>
              </a:tr>
            </a:tbl>
          </a:graphicData>
        </a:graphic>
      </p:graphicFrame>
      <p:graphicFrame>
        <p:nvGraphicFramePr>
          <p:cNvPr id="5" name="Table 4">
            <a:extLst>
              <a:ext uri="{FF2B5EF4-FFF2-40B4-BE49-F238E27FC236}">
                <a16:creationId xmlns:a16="http://schemas.microsoft.com/office/drawing/2014/main" id="{3C1B7A55-755D-3C2E-EA0F-DBC1FCCD4C54}"/>
              </a:ext>
            </a:extLst>
          </p:cNvPr>
          <p:cNvGraphicFramePr>
            <a:graphicFrameLocks noGrp="1"/>
          </p:cNvGraphicFramePr>
          <p:nvPr>
            <p:extLst>
              <p:ext uri="{D42A27DB-BD31-4B8C-83A1-F6EECF244321}">
                <p14:modId xmlns:p14="http://schemas.microsoft.com/office/powerpoint/2010/main" val="3403428257"/>
              </p:ext>
            </p:extLst>
          </p:nvPr>
        </p:nvGraphicFramePr>
        <p:xfrm>
          <a:off x="840247" y="4668854"/>
          <a:ext cx="10555852" cy="741680"/>
        </p:xfrm>
        <a:graphic>
          <a:graphicData uri="http://schemas.openxmlformats.org/drawingml/2006/table">
            <a:tbl>
              <a:tblPr firstRow="1" bandRow="1">
                <a:tableStyleId>{5C22544A-7EE6-4342-B048-85BDC9FD1C3A}</a:tableStyleId>
              </a:tblPr>
              <a:tblGrid>
                <a:gridCol w="5277926">
                  <a:extLst>
                    <a:ext uri="{9D8B030D-6E8A-4147-A177-3AD203B41FA5}">
                      <a16:colId xmlns:a16="http://schemas.microsoft.com/office/drawing/2014/main" val="1041881633"/>
                    </a:ext>
                  </a:extLst>
                </a:gridCol>
                <a:gridCol w="5277926">
                  <a:extLst>
                    <a:ext uri="{9D8B030D-6E8A-4147-A177-3AD203B41FA5}">
                      <a16:colId xmlns:a16="http://schemas.microsoft.com/office/drawing/2014/main" val="4019256321"/>
                    </a:ext>
                  </a:extLst>
                </a:gridCol>
              </a:tblGrid>
              <a:tr h="370840">
                <a:tc>
                  <a:txBody>
                    <a:bodyPr/>
                    <a:lstStyle/>
                    <a:p>
                      <a:r>
                        <a:rPr lang="en-US"/>
                        <a:t>Test Metric</a:t>
                      </a:r>
                    </a:p>
                  </a:txBody>
                  <a:tcPr/>
                </a:tc>
                <a:tc>
                  <a:txBody>
                    <a:bodyPr/>
                    <a:lstStyle/>
                    <a:p>
                      <a:r>
                        <a:rPr lang="en-US"/>
                        <a:t>Value</a:t>
                      </a:r>
                    </a:p>
                  </a:txBody>
                  <a:tcPr/>
                </a:tc>
                <a:extLst>
                  <a:ext uri="{0D108BD9-81ED-4DB2-BD59-A6C34878D82A}">
                    <a16:rowId xmlns:a16="http://schemas.microsoft.com/office/drawing/2014/main" val="2729656063"/>
                  </a:ext>
                </a:extLst>
              </a:tr>
              <a:tr h="370840">
                <a:tc>
                  <a:txBody>
                    <a:bodyPr/>
                    <a:lstStyle/>
                    <a:p>
                      <a:r>
                        <a:rPr lang="en-US"/>
                        <a:t>RMSE</a:t>
                      </a:r>
                    </a:p>
                  </a:txBody>
                  <a:tcPr/>
                </a:tc>
                <a:tc>
                  <a:txBody>
                    <a:bodyPr/>
                    <a:lstStyle/>
                    <a:p>
                      <a:r>
                        <a:rPr lang="en-US"/>
                        <a:t>1889.95</a:t>
                      </a:r>
                    </a:p>
                  </a:txBody>
                  <a:tcPr/>
                </a:tc>
                <a:extLst>
                  <a:ext uri="{0D108BD9-81ED-4DB2-BD59-A6C34878D82A}">
                    <a16:rowId xmlns:a16="http://schemas.microsoft.com/office/drawing/2014/main" val="669229383"/>
                  </a:ext>
                </a:extLst>
              </a:tr>
            </a:tbl>
          </a:graphicData>
        </a:graphic>
      </p:graphicFrame>
      <p:sp>
        <p:nvSpPr>
          <p:cNvPr id="6" name="TextBox 5">
            <a:extLst>
              <a:ext uri="{FF2B5EF4-FFF2-40B4-BE49-F238E27FC236}">
                <a16:creationId xmlns:a16="http://schemas.microsoft.com/office/drawing/2014/main" id="{DB1BFEF2-229B-812A-DC35-F161AF9DB043}"/>
              </a:ext>
            </a:extLst>
          </p:cNvPr>
          <p:cNvSpPr txBox="1"/>
          <p:nvPr/>
        </p:nvSpPr>
        <p:spPr>
          <a:xfrm>
            <a:off x="833486" y="4144686"/>
            <a:ext cx="276594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Test Set</a:t>
            </a:r>
          </a:p>
        </p:txBody>
      </p:sp>
      <p:sp>
        <p:nvSpPr>
          <p:cNvPr id="7" name="TextBox 6">
            <a:extLst>
              <a:ext uri="{FF2B5EF4-FFF2-40B4-BE49-F238E27FC236}">
                <a16:creationId xmlns:a16="http://schemas.microsoft.com/office/drawing/2014/main" id="{AEF36178-A876-FB51-6511-8D1FB9F4AC5E}"/>
              </a:ext>
            </a:extLst>
          </p:cNvPr>
          <p:cNvSpPr txBox="1"/>
          <p:nvPr/>
        </p:nvSpPr>
        <p:spPr>
          <a:xfrm>
            <a:off x="844886" y="1297254"/>
            <a:ext cx="278869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Validation Set</a:t>
            </a:r>
          </a:p>
        </p:txBody>
      </p:sp>
    </p:spTree>
    <p:extLst>
      <p:ext uri="{BB962C8B-B14F-4D97-AF65-F5344CB8AC3E}">
        <p14:creationId xmlns:p14="http://schemas.microsoft.com/office/powerpoint/2010/main" val="3541884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b="1"/>
              <a:t>Anthony Wolfe KNN Model</a:t>
            </a:r>
          </a:p>
        </p:txBody>
      </p:sp>
      <p:sp>
        <p:nvSpPr>
          <p:cNvPr id="3" name="Content Placeholder 2"/>
          <p:cNvSpPr>
            <a:spLocks noGrp="1"/>
          </p:cNvSpPr>
          <p:nvPr>
            <p:ph idx="1"/>
          </p:nvPr>
        </p:nvSpPr>
        <p:spPr/>
        <p:txBody>
          <a:bodyPr/>
          <a:lstStyle/>
          <a:p>
            <a:pPr marL="0" indent="0">
              <a:buNone/>
            </a:pPr>
            <a:r>
              <a:t>Here we discuss the implementation of Anthony Wolfe’s KNN model, which was trained using</a:t>
            </a:r>
            <a:r>
              <a:rPr lang="en-US"/>
              <a:t> a custom approach that utilizes</a:t>
            </a:r>
            <a:r>
              <a:t> the species column as an initial filter before computing a weighted distance between the point and k neighbors.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Predicting a Single Point</a:t>
            </a:r>
          </a:p>
        </p:txBody>
      </p:sp>
      <p:sp>
        <p:nvSpPr>
          <p:cNvPr id="3" name="Content Placeholder 2"/>
          <p:cNvSpPr>
            <a:spLocks noGrp="1"/>
          </p:cNvSpPr>
          <p:nvPr>
            <p:ph idx="1"/>
          </p:nvPr>
        </p:nvSpPr>
        <p:spPr>
          <a:xfrm>
            <a:off x="2306595" y="2921394"/>
            <a:ext cx="7551279" cy="3595981"/>
          </a:xfrm>
        </p:spPr>
        <p:txBody>
          <a:bodyPr>
            <a:noAutofit/>
          </a:bodyPr>
          <a:lstStyle/>
          <a:p>
            <a:pPr indent="0">
              <a:buNone/>
            </a:pPr>
            <a:r>
              <a:rPr sz="1200" b="1">
                <a:solidFill>
                  <a:srgbClr val="007020"/>
                </a:solidFill>
                <a:latin typeface="Courier"/>
              </a:rPr>
              <a:t>def</a:t>
            </a:r>
            <a:r>
              <a:rPr sz="1200">
                <a:latin typeface="Courier"/>
              </a:rPr>
              <a:t> </a:t>
            </a:r>
            <a:r>
              <a:rPr sz="1200" err="1">
                <a:latin typeface="Courier"/>
              </a:rPr>
              <a:t>knn_predict_one</a:t>
            </a:r>
            <a:r>
              <a:rPr sz="1200">
                <a:latin typeface="Courier"/>
              </a:rPr>
              <a:t>(</a:t>
            </a:r>
            <a:r>
              <a:rPr sz="1200" err="1">
                <a:latin typeface="Courier"/>
              </a:rPr>
              <a:t>query_row</a:t>
            </a:r>
            <a:r>
              <a:rPr sz="1200">
                <a:latin typeface="Courier"/>
              </a:rPr>
              <a:t>, </a:t>
            </a:r>
            <a:r>
              <a:rPr sz="1200" err="1">
                <a:latin typeface="Courier"/>
              </a:rPr>
              <a:t>train_df</a:t>
            </a:r>
            <a:r>
              <a:rPr sz="1200">
                <a:latin typeface="Courier"/>
              </a:rPr>
              <a:t>, k, w):</a:t>
            </a:r>
            <a:br>
              <a:rPr sz="1200"/>
            </a:br>
            <a:r>
              <a:rPr sz="1200">
                <a:latin typeface="Courier"/>
              </a:rPr>
              <a:t>    species </a:t>
            </a:r>
            <a:r>
              <a:rPr sz="1200">
                <a:solidFill>
                  <a:srgbClr val="666666"/>
                </a:solidFill>
                <a:latin typeface="Courier"/>
              </a:rPr>
              <a:t>=</a:t>
            </a:r>
            <a:r>
              <a:rPr sz="1200">
                <a:latin typeface="Courier"/>
              </a:rPr>
              <a:t> </a:t>
            </a:r>
            <a:r>
              <a:rPr sz="1200" err="1">
                <a:latin typeface="Courier"/>
              </a:rPr>
              <a:t>query_row</a:t>
            </a:r>
            <a:r>
              <a:rPr sz="1200">
                <a:latin typeface="Courier"/>
              </a:rPr>
              <a:t>[</a:t>
            </a:r>
            <a:r>
              <a:rPr sz="1200">
                <a:solidFill>
                  <a:srgbClr val="4070A0"/>
                </a:solidFill>
                <a:latin typeface="Courier"/>
              </a:rPr>
              <a:t>"SPCD"</a:t>
            </a:r>
            <a:r>
              <a:rPr sz="1200">
                <a:latin typeface="Courier"/>
              </a:rPr>
              <a:t>]</a:t>
            </a:r>
            <a:br>
              <a:rPr sz="1200"/>
            </a:br>
            <a:r>
              <a:rPr sz="1200">
                <a:latin typeface="Courier"/>
              </a:rPr>
              <a:t>    subset </a:t>
            </a:r>
            <a:r>
              <a:rPr sz="1200">
                <a:solidFill>
                  <a:srgbClr val="666666"/>
                </a:solidFill>
                <a:latin typeface="Courier"/>
              </a:rPr>
              <a:t>=</a:t>
            </a:r>
            <a:r>
              <a:rPr sz="1200">
                <a:latin typeface="Courier"/>
              </a:rPr>
              <a:t> </a:t>
            </a:r>
            <a:r>
              <a:rPr sz="1200" err="1">
                <a:latin typeface="Courier"/>
              </a:rPr>
              <a:t>train_df</a:t>
            </a:r>
            <a:r>
              <a:rPr sz="1200">
                <a:latin typeface="Courier"/>
              </a:rPr>
              <a:t>[</a:t>
            </a:r>
            <a:r>
              <a:rPr sz="1200" err="1">
                <a:latin typeface="Courier"/>
              </a:rPr>
              <a:t>train_df</a:t>
            </a:r>
            <a:r>
              <a:rPr sz="1200">
                <a:latin typeface="Courier"/>
              </a:rPr>
              <a:t>[</a:t>
            </a:r>
            <a:r>
              <a:rPr sz="1200">
                <a:solidFill>
                  <a:srgbClr val="4070A0"/>
                </a:solidFill>
                <a:latin typeface="Courier"/>
              </a:rPr>
              <a:t>"SPCD"</a:t>
            </a:r>
            <a:r>
              <a:rPr sz="1200">
                <a:latin typeface="Courier"/>
              </a:rPr>
              <a:t>] </a:t>
            </a:r>
            <a:r>
              <a:rPr sz="1200">
                <a:solidFill>
                  <a:srgbClr val="666666"/>
                </a:solidFill>
                <a:latin typeface="Courier"/>
              </a:rPr>
              <a:t>==</a:t>
            </a:r>
            <a:r>
              <a:rPr sz="1200">
                <a:latin typeface="Courier"/>
              </a:rPr>
              <a:t> species]</a:t>
            </a:r>
            <a:br>
              <a:rPr sz="1200"/>
            </a:br>
            <a:br>
              <a:rPr sz="1200"/>
            </a:br>
            <a:r>
              <a:rPr sz="1200">
                <a:latin typeface="Courier"/>
              </a:rPr>
              <a:t>    </a:t>
            </a:r>
            <a:r>
              <a:rPr sz="1200" b="1">
                <a:solidFill>
                  <a:srgbClr val="007020"/>
                </a:solidFill>
                <a:latin typeface="Courier"/>
              </a:rPr>
              <a:t>if</a:t>
            </a:r>
            <a:r>
              <a:rPr sz="1200">
                <a:latin typeface="Courier"/>
              </a:rPr>
              <a:t> </a:t>
            </a:r>
            <a:r>
              <a:rPr sz="1200" err="1">
                <a:latin typeface="Courier"/>
              </a:rPr>
              <a:t>subset.empty</a:t>
            </a:r>
            <a:r>
              <a:rPr sz="1200">
                <a:latin typeface="Courier"/>
              </a:rPr>
              <a:t>:</a:t>
            </a:r>
            <a:br>
              <a:rPr sz="1200"/>
            </a:br>
            <a:r>
              <a:rPr sz="1200">
                <a:latin typeface="Courier"/>
              </a:rPr>
              <a:t>        subset </a:t>
            </a:r>
            <a:r>
              <a:rPr sz="1200">
                <a:solidFill>
                  <a:srgbClr val="666666"/>
                </a:solidFill>
                <a:latin typeface="Courier"/>
              </a:rPr>
              <a:t>=</a:t>
            </a:r>
            <a:r>
              <a:rPr sz="1200">
                <a:latin typeface="Courier"/>
              </a:rPr>
              <a:t> </a:t>
            </a:r>
            <a:r>
              <a:rPr sz="1200" err="1">
                <a:latin typeface="Courier"/>
              </a:rPr>
              <a:t>train_df</a:t>
            </a:r>
            <a:br>
              <a:rPr sz="1200"/>
            </a:br>
            <a:br>
              <a:rPr sz="1200"/>
            </a:br>
            <a:r>
              <a:rPr sz="1200">
                <a:latin typeface="Courier"/>
              </a:rPr>
              <a:t>    q </a:t>
            </a:r>
            <a:r>
              <a:rPr sz="1200">
                <a:solidFill>
                  <a:srgbClr val="666666"/>
                </a:solidFill>
                <a:latin typeface="Courier"/>
              </a:rPr>
              <a:t>=</a:t>
            </a:r>
            <a:r>
              <a:rPr sz="1200">
                <a:latin typeface="Courier"/>
              </a:rPr>
              <a:t> </a:t>
            </a:r>
            <a:r>
              <a:rPr sz="1200" err="1">
                <a:latin typeface="Courier"/>
              </a:rPr>
              <a:t>np.array</a:t>
            </a:r>
            <a:r>
              <a:rPr sz="1200">
                <a:latin typeface="Courier"/>
              </a:rPr>
              <a:t>([</a:t>
            </a:r>
            <a:r>
              <a:rPr sz="1200" err="1">
                <a:latin typeface="Courier"/>
              </a:rPr>
              <a:t>query_row</a:t>
            </a:r>
            <a:r>
              <a:rPr sz="1200">
                <a:latin typeface="Courier"/>
              </a:rPr>
              <a:t>[</a:t>
            </a:r>
            <a:r>
              <a:rPr sz="1200">
                <a:solidFill>
                  <a:srgbClr val="4070A0"/>
                </a:solidFill>
                <a:latin typeface="Courier"/>
              </a:rPr>
              <a:t>"DO_BH"</a:t>
            </a:r>
            <a:r>
              <a:rPr sz="1200">
                <a:latin typeface="Courier"/>
              </a:rPr>
              <a:t>], </a:t>
            </a:r>
            <a:r>
              <a:rPr sz="1200" err="1">
                <a:latin typeface="Courier"/>
              </a:rPr>
              <a:t>query_row</a:t>
            </a:r>
            <a:r>
              <a:rPr sz="1200">
                <a:latin typeface="Courier"/>
              </a:rPr>
              <a:t>[</a:t>
            </a:r>
            <a:r>
              <a:rPr sz="1200">
                <a:solidFill>
                  <a:srgbClr val="4070A0"/>
                </a:solidFill>
                <a:latin typeface="Courier"/>
              </a:rPr>
              <a:t>"HT_TOT"</a:t>
            </a:r>
            <a:r>
              <a:rPr sz="1200">
                <a:latin typeface="Courier"/>
              </a:rPr>
              <a:t>]], </a:t>
            </a:r>
            <a:r>
              <a:rPr sz="1200" err="1">
                <a:latin typeface="Courier"/>
              </a:rPr>
              <a:t>dtype</a:t>
            </a:r>
            <a:r>
              <a:rPr sz="1200">
                <a:solidFill>
                  <a:srgbClr val="666666"/>
                </a:solidFill>
                <a:latin typeface="Courier"/>
              </a:rPr>
              <a:t>=</a:t>
            </a:r>
            <a:r>
              <a:rPr sz="1200">
                <a:solidFill>
                  <a:srgbClr val="008000"/>
                </a:solidFill>
                <a:latin typeface="Courier"/>
              </a:rPr>
              <a:t>float</a:t>
            </a:r>
            <a:r>
              <a:rPr sz="1200">
                <a:latin typeface="Courier"/>
              </a:rPr>
              <a:t>)</a:t>
            </a:r>
            <a:br>
              <a:rPr sz="1200"/>
            </a:br>
            <a:r>
              <a:rPr sz="1200">
                <a:latin typeface="Courier"/>
              </a:rPr>
              <a:t>    </a:t>
            </a:r>
            <a:r>
              <a:rPr sz="1200" err="1">
                <a:latin typeface="Courier"/>
              </a:rPr>
              <a:t>xs</a:t>
            </a:r>
            <a:r>
              <a:rPr sz="1200">
                <a:latin typeface="Courier"/>
              </a:rPr>
              <a:t> </a:t>
            </a:r>
            <a:r>
              <a:rPr sz="1200">
                <a:solidFill>
                  <a:srgbClr val="666666"/>
                </a:solidFill>
                <a:latin typeface="Courier"/>
              </a:rPr>
              <a:t>=</a:t>
            </a:r>
            <a:r>
              <a:rPr sz="1200">
                <a:latin typeface="Courier"/>
              </a:rPr>
              <a:t> subset[[</a:t>
            </a:r>
            <a:r>
              <a:rPr sz="1200">
                <a:solidFill>
                  <a:srgbClr val="4070A0"/>
                </a:solidFill>
                <a:latin typeface="Courier"/>
              </a:rPr>
              <a:t>"DO_BH"</a:t>
            </a:r>
            <a:r>
              <a:rPr sz="1200">
                <a:latin typeface="Courier"/>
              </a:rPr>
              <a:t>, </a:t>
            </a:r>
            <a:r>
              <a:rPr sz="1200">
                <a:solidFill>
                  <a:srgbClr val="4070A0"/>
                </a:solidFill>
                <a:latin typeface="Courier"/>
              </a:rPr>
              <a:t>"HT_TOT"</a:t>
            </a:r>
            <a:r>
              <a:rPr sz="1200">
                <a:latin typeface="Courier"/>
              </a:rPr>
              <a:t>]].</a:t>
            </a:r>
            <a:r>
              <a:rPr sz="1200" err="1">
                <a:latin typeface="Courier"/>
              </a:rPr>
              <a:t>to_numpy</a:t>
            </a:r>
            <a:r>
              <a:rPr sz="1200">
                <a:latin typeface="Courier"/>
              </a:rPr>
              <a:t>(</a:t>
            </a:r>
            <a:r>
              <a:rPr sz="1200" err="1">
                <a:latin typeface="Courier"/>
              </a:rPr>
              <a:t>dtype</a:t>
            </a:r>
            <a:r>
              <a:rPr sz="1200">
                <a:solidFill>
                  <a:srgbClr val="666666"/>
                </a:solidFill>
                <a:latin typeface="Courier"/>
              </a:rPr>
              <a:t>=</a:t>
            </a:r>
            <a:r>
              <a:rPr sz="1200">
                <a:solidFill>
                  <a:srgbClr val="008000"/>
                </a:solidFill>
                <a:latin typeface="Courier"/>
              </a:rPr>
              <a:t>float</a:t>
            </a:r>
            <a:r>
              <a:rPr sz="1200">
                <a:latin typeface="Courier"/>
              </a:rPr>
              <a:t>)</a:t>
            </a:r>
            <a:br>
              <a:rPr sz="1200"/>
            </a:br>
            <a:br>
              <a:rPr sz="1200"/>
            </a:br>
            <a:r>
              <a:rPr sz="1200">
                <a:latin typeface="Courier"/>
              </a:rPr>
              <a:t>    distances </a:t>
            </a:r>
            <a:r>
              <a:rPr sz="1200">
                <a:solidFill>
                  <a:srgbClr val="666666"/>
                </a:solidFill>
                <a:latin typeface="Courier"/>
              </a:rPr>
              <a:t>=</a:t>
            </a:r>
            <a:r>
              <a:rPr sz="1200">
                <a:latin typeface="Courier"/>
              </a:rPr>
              <a:t> </a:t>
            </a:r>
            <a:r>
              <a:rPr sz="1200" err="1">
                <a:latin typeface="Courier"/>
              </a:rPr>
              <a:t>np.array</a:t>
            </a:r>
            <a:r>
              <a:rPr sz="1200">
                <a:latin typeface="Courier"/>
              </a:rPr>
              <a:t>(</a:t>
            </a:r>
            <a:br>
              <a:rPr sz="1200"/>
            </a:br>
            <a:r>
              <a:rPr sz="1200">
                <a:latin typeface="Courier"/>
              </a:rPr>
              <a:t>        [weighted_distance_2d(q, </a:t>
            </a:r>
            <a:r>
              <a:rPr sz="1200" err="1">
                <a:latin typeface="Courier"/>
              </a:rPr>
              <a:t>xs</a:t>
            </a:r>
            <a:r>
              <a:rPr sz="1200">
                <a:latin typeface="Courier"/>
              </a:rPr>
              <a:t>[</a:t>
            </a:r>
            <a:r>
              <a:rPr sz="1200" err="1">
                <a:latin typeface="Courier"/>
              </a:rPr>
              <a:t>i</a:t>
            </a:r>
            <a:r>
              <a:rPr sz="1200">
                <a:latin typeface="Courier"/>
              </a:rPr>
              <a:t>], w) </a:t>
            </a:r>
            <a:r>
              <a:rPr sz="1200" b="1">
                <a:solidFill>
                  <a:srgbClr val="007020"/>
                </a:solidFill>
                <a:latin typeface="Courier"/>
              </a:rPr>
              <a:t>for</a:t>
            </a:r>
            <a:r>
              <a:rPr sz="1200">
                <a:latin typeface="Courier"/>
              </a:rPr>
              <a:t> </a:t>
            </a:r>
            <a:r>
              <a:rPr sz="1200" err="1">
                <a:latin typeface="Courier"/>
              </a:rPr>
              <a:t>i</a:t>
            </a:r>
            <a:r>
              <a:rPr sz="1200">
                <a:latin typeface="Courier"/>
              </a:rPr>
              <a:t> </a:t>
            </a:r>
            <a:r>
              <a:rPr sz="1200" b="1">
                <a:solidFill>
                  <a:srgbClr val="007020"/>
                </a:solidFill>
                <a:latin typeface="Courier"/>
              </a:rPr>
              <a:t>in</a:t>
            </a:r>
            <a:r>
              <a:rPr sz="1200">
                <a:latin typeface="Courier"/>
              </a:rPr>
              <a:t> </a:t>
            </a:r>
            <a:r>
              <a:rPr sz="1200">
                <a:solidFill>
                  <a:srgbClr val="008000"/>
                </a:solidFill>
                <a:latin typeface="Courier"/>
              </a:rPr>
              <a:t>range</a:t>
            </a:r>
            <a:r>
              <a:rPr sz="1200">
                <a:latin typeface="Courier"/>
              </a:rPr>
              <a:t>(</a:t>
            </a:r>
            <a:r>
              <a:rPr sz="1200" err="1">
                <a:solidFill>
                  <a:srgbClr val="008000"/>
                </a:solidFill>
                <a:latin typeface="Courier"/>
              </a:rPr>
              <a:t>len</a:t>
            </a:r>
            <a:r>
              <a:rPr sz="1200">
                <a:latin typeface="Courier"/>
              </a:rPr>
              <a:t>(</a:t>
            </a:r>
            <a:r>
              <a:rPr sz="1200" err="1">
                <a:latin typeface="Courier"/>
              </a:rPr>
              <a:t>xs</a:t>
            </a:r>
            <a:r>
              <a:rPr sz="1200">
                <a:latin typeface="Courier"/>
              </a:rPr>
              <a:t>))]</a:t>
            </a:r>
            <a:br>
              <a:rPr sz="1200"/>
            </a:br>
            <a:r>
              <a:rPr sz="1200">
                <a:latin typeface="Courier"/>
              </a:rPr>
              <a:t>    )</a:t>
            </a:r>
            <a:br>
              <a:rPr sz="1200"/>
            </a:br>
            <a:br>
              <a:rPr sz="1200"/>
            </a:br>
            <a:r>
              <a:rPr sz="1200">
                <a:latin typeface="Courier"/>
              </a:rPr>
              <a:t>    </a:t>
            </a:r>
            <a:r>
              <a:rPr sz="1200" err="1">
                <a:latin typeface="Courier"/>
              </a:rPr>
              <a:t>k_eff</a:t>
            </a:r>
            <a:r>
              <a:rPr sz="1200">
                <a:latin typeface="Courier"/>
              </a:rPr>
              <a:t> </a:t>
            </a:r>
            <a:r>
              <a:rPr sz="1200">
                <a:solidFill>
                  <a:srgbClr val="666666"/>
                </a:solidFill>
                <a:latin typeface="Courier"/>
              </a:rPr>
              <a:t>=</a:t>
            </a:r>
            <a:r>
              <a:rPr sz="1200">
                <a:latin typeface="Courier"/>
              </a:rPr>
              <a:t> </a:t>
            </a:r>
            <a:r>
              <a:rPr sz="1200">
                <a:solidFill>
                  <a:srgbClr val="008000"/>
                </a:solidFill>
                <a:latin typeface="Courier"/>
              </a:rPr>
              <a:t>int</a:t>
            </a:r>
            <a:r>
              <a:rPr sz="1200">
                <a:latin typeface="Courier"/>
              </a:rPr>
              <a:t>(</a:t>
            </a:r>
            <a:r>
              <a:rPr sz="1200">
                <a:solidFill>
                  <a:srgbClr val="008000"/>
                </a:solidFill>
                <a:latin typeface="Courier"/>
              </a:rPr>
              <a:t>min</a:t>
            </a:r>
            <a:r>
              <a:rPr sz="1200">
                <a:latin typeface="Courier"/>
              </a:rPr>
              <a:t>(k, </a:t>
            </a:r>
            <a:r>
              <a:rPr sz="1200" err="1">
                <a:solidFill>
                  <a:srgbClr val="008000"/>
                </a:solidFill>
                <a:latin typeface="Courier"/>
              </a:rPr>
              <a:t>len</a:t>
            </a:r>
            <a:r>
              <a:rPr sz="1200">
                <a:latin typeface="Courier"/>
              </a:rPr>
              <a:t>(distances)))</a:t>
            </a:r>
            <a:br>
              <a:rPr sz="1200"/>
            </a:br>
            <a:br>
              <a:rPr sz="1200"/>
            </a:br>
            <a:r>
              <a:rPr sz="1200">
                <a:latin typeface="Courier"/>
              </a:rPr>
              <a:t>    </a:t>
            </a:r>
            <a:r>
              <a:rPr sz="1200" err="1">
                <a:latin typeface="Courier"/>
              </a:rPr>
              <a:t>nn_idx</a:t>
            </a:r>
            <a:r>
              <a:rPr sz="1200">
                <a:latin typeface="Courier"/>
              </a:rPr>
              <a:t> </a:t>
            </a:r>
            <a:r>
              <a:rPr sz="1200">
                <a:solidFill>
                  <a:srgbClr val="666666"/>
                </a:solidFill>
                <a:latin typeface="Courier"/>
              </a:rPr>
              <a:t>=</a:t>
            </a:r>
            <a:r>
              <a:rPr sz="1200">
                <a:latin typeface="Courier"/>
              </a:rPr>
              <a:t> </a:t>
            </a:r>
            <a:r>
              <a:rPr sz="1200" err="1">
                <a:latin typeface="Courier"/>
              </a:rPr>
              <a:t>np.argpartition</a:t>
            </a:r>
            <a:r>
              <a:rPr sz="1200">
                <a:latin typeface="Courier"/>
              </a:rPr>
              <a:t>(distances, </a:t>
            </a:r>
            <a:r>
              <a:rPr sz="1200" err="1">
                <a:latin typeface="Courier"/>
              </a:rPr>
              <a:t>k_eff</a:t>
            </a:r>
            <a:r>
              <a:rPr sz="1200">
                <a:latin typeface="Courier"/>
              </a:rPr>
              <a:t> </a:t>
            </a:r>
            <a:r>
              <a:rPr sz="1200">
                <a:solidFill>
                  <a:srgbClr val="666666"/>
                </a:solidFill>
                <a:latin typeface="Courier"/>
              </a:rPr>
              <a:t>-</a:t>
            </a:r>
            <a:r>
              <a:rPr sz="1200">
                <a:latin typeface="Courier"/>
              </a:rPr>
              <a:t> </a:t>
            </a:r>
            <a:r>
              <a:rPr sz="1200">
                <a:solidFill>
                  <a:srgbClr val="40A070"/>
                </a:solidFill>
                <a:latin typeface="Courier"/>
              </a:rPr>
              <a:t>1</a:t>
            </a:r>
            <a:r>
              <a:rPr sz="1200">
                <a:latin typeface="Courier"/>
              </a:rPr>
              <a:t>)[:</a:t>
            </a:r>
            <a:r>
              <a:rPr sz="1200" err="1">
                <a:latin typeface="Courier"/>
              </a:rPr>
              <a:t>k_eff</a:t>
            </a:r>
            <a:r>
              <a:rPr sz="1200">
                <a:latin typeface="Courier"/>
              </a:rPr>
              <a:t>]</a:t>
            </a:r>
            <a:br>
              <a:rPr sz="1200"/>
            </a:br>
            <a:br>
              <a:rPr sz="1200"/>
            </a:br>
            <a:r>
              <a:rPr sz="1200">
                <a:latin typeface="Courier"/>
              </a:rPr>
              <a:t>    </a:t>
            </a:r>
            <a:r>
              <a:rPr sz="1200" err="1">
                <a:latin typeface="Courier"/>
              </a:rPr>
              <a:t>y_neighbors</a:t>
            </a:r>
            <a:r>
              <a:rPr sz="1200">
                <a:latin typeface="Courier"/>
              </a:rPr>
              <a:t> </a:t>
            </a:r>
            <a:r>
              <a:rPr sz="1200">
                <a:solidFill>
                  <a:srgbClr val="666666"/>
                </a:solidFill>
                <a:latin typeface="Courier"/>
              </a:rPr>
              <a:t>=</a:t>
            </a:r>
            <a:r>
              <a:rPr sz="1200">
                <a:latin typeface="Courier"/>
              </a:rPr>
              <a:t> </a:t>
            </a:r>
            <a:r>
              <a:rPr sz="1200" err="1">
                <a:latin typeface="Courier"/>
              </a:rPr>
              <a:t>subset.iloc</a:t>
            </a:r>
            <a:r>
              <a:rPr sz="1200">
                <a:latin typeface="Courier"/>
              </a:rPr>
              <a:t>[</a:t>
            </a:r>
            <a:r>
              <a:rPr sz="1200" err="1">
                <a:latin typeface="Courier"/>
              </a:rPr>
              <a:t>nn_idx</a:t>
            </a:r>
            <a:r>
              <a:rPr sz="1200">
                <a:latin typeface="Courier"/>
              </a:rPr>
              <a:t>][</a:t>
            </a:r>
            <a:r>
              <a:rPr sz="1200">
                <a:solidFill>
                  <a:srgbClr val="4070A0"/>
                </a:solidFill>
                <a:latin typeface="Courier"/>
              </a:rPr>
              <a:t>"TT_DW_CRM"</a:t>
            </a:r>
            <a:r>
              <a:rPr sz="1200">
                <a:latin typeface="Courier"/>
              </a:rPr>
              <a:t>].</a:t>
            </a:r>
            <a:r>
              <a:rPr sz="1200" err="1">
                <a:latin typeface="Courier"/>
              </a:rPr>
              <a:t>to_numpy</a:t>
            </a:r>
            <a:r>
              <a:rPr sz="1200">
                <a:latin typeface="Courier"/>
              </a:rPr>
              <a:t>(</a:t>
            </a:r>
            <a:r>
              <a:rPr sz="1200" err="1">
                <a:latin typeface="Courier"/>
              </a:rPr>
              <a:t>dtype</a:t>
            </a:r>
            <a:r>
              <a:rPr sz="1200">
                <a:solidFill>
                  <a:srgbClr val="666666"/>
                </a:solidFill>
                <a:latin typeface="Courier"/>
              </a:rPr>
              <a:t>=</a:t>
            </a:r>
            <a:r>
              <a:rPr sz="1200">
                <a:solidFill>
                  <a:srgbClr val="008000"/>
                </a:solidFill>
                <a:latin typeface="Courier"/>
              </a:rPr>
              <a:t>float</a:t>
            </a:r>
            <a:r>
              <a:rPr sz="1200">
                <a:latin typeface="Courier"/>
              </a:rPr>
              <a:t>)</a:t>
            </a:r>
            <a:br>
              <a:rPr sz="1200"/>
            </a:br>
            <a:r>
              <a:rPr sz="1200">
                <a:latin typeface="Courier"/>
              </a:rPr>
              <a:t>    </a:t>
            </a:r>
            <a:r>
              <a:rPr sz="1200" b="1">
                <a:solidFill>
                  <a:srgbClr val="007020"/>
                </a:solidFill>
                <a:latin typeface="Courier"/>
              </a:rPr>
              <a:t>return</a:t>
            </a:r>
            <a:r>
              <a:rPr sz="1200">
                <a:latin typeface="Courier"/>
              </a:rPr>
              <a:t> </a:t>
            </a:r>
            <a:r>
              <a:rPr sz="1200">
                <a:solidFill>
                  <a:srgbClr val="008000"/>
                </a:solidFill>
                <a:latin typeface="Courier"/>
              </a:rPr>
              <a:t>float</a:t>
            </a:r>
            <a:r>
              <a:rPr sz="1200">
                <a:latin typeface="Courier"/>
              </a:rPr>
              <a:t>(</a:t>
            </a:r>
            <a:r>
              <a:rPr sz="1200" err="1">
                <a:latin typeface="Courier"/>
              </a:rPr>
              <a:t>y_neighbors.mean</a:t>
            </a:r>
            <a:r>
              <a:rPr sz="1200">
                <a:latin typeface="Courier"/>
              </a:rPr>
              <a:t>())</a:t>
            </a:r>
          </a:p>
        </p:txBody>
      </p:sp>
      <p:sp>
        <p:nvSpPr>
          <p:cNvPr id="4" name="TextBox 3">
            <a:extLst>
              <a:ext uri="{FF2B5EF4-FFF2-40B4-BE49-F238E27FC236}">
                <a16:creationId xmlns:a16="http://schemas.microsoft.com/office/drawing/2014/main" id="{6E257A29-7A91-E832-D8A0-D459BA0670C2}"/>
              </a:ext>
            </a:extLst>
          </p:cNvPr>
          <p:cNvSpPr txBox="1"/>
          <p:nvPr/>
        </p:nvSpPr>
        <p:spPr>
          <a:xfrm>
            <a:off x="1206841" y="1359974"/>
            <a:ext cx="9881289" cy="1405256"/>
          </a:xfrm>
          <a:prstGeom prst="rect">
            <a:avLst/>
          </a:prstGeom>
          <a:noFill/>
        </p:spPr>
        <p:txBody>
          <a:bodyPr wrap="square" rtlCol="0">
            <a:spAutoFit/>
          </a:bodyPr>
          <a:lstStyle/>
          <a:p>
            <a:r>
              <a:rPr lang="en-US" sz="2133"/>
              <a:t>Below is the function responsible for predicting a single point in our training set when optimizing the parameters. You can see that we first create a subset of our points before computing distances between k neighbors, which is to filter by species in order to make sure prediction relies on species, diameter, and height.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Weighted Distance Function</a:t>
            </a:r>
          </a:p>
        </p:txBody>
      </p:sp>
      <p:sp>
        <p:nvSpPr>
          <p:cNvPr id="3" name="Content Placeholder 2"/>
          <p:cNvSpPr>
            <a:spLocks noGrp="1"/>
          </p:cNvSpPr>
          <p:nvPr>
            <p:ph idx="1"/>
          </p:nvPr>
        </p:nvSpPr>
        <p:spPr/>
        <p:txBody>
          <a:bodyPr>
            <a:normAutofit fontScale="70000" lnSpcReduction="20000"/>
          </a:bodyPr>
          <a:lstStyle/>
          <a:p>
            <a:pPr marL="0" indent="0">
              <a:buNone/>
            </a:pPr>
            <a:r>
              <a:t>As shown in the function snippet below, dx1 and dx2 represent the difference between the points in both dimensions, while w1 is a parameter for our model to be optimized, since w2 is just the “complement” of w1. This was used once the training points were filtered to only the matching species, so distances computed using the function below only applied to k neighbors of its own species, otherwise any point is valid.</a:t>
            </a:r>
            <a:endParaRPr lang="en-US"/>
          </a:p>
          <a:p>
            <a:pPr marL="0" indent="0">
              <a:buNone/>
            </a:pPr>
            <a:endParaRPr/>
          </a:p>
          <a:p>
            <a:pPr indent="0">
              <a:buNone/>
            </a:pPr>
            <a:r>
              <a:rPr b="1">
                <a:solidFill>
                  <a:srgbClr val="007020"/>
                </a:solidFill>
                <a:latin typeface="Courier"/>
              </a:rPr>
              <a:t>def</a:t>
            </a:r>
            <a:r>
              <a:rPr>
                <a:latin typeface="Courier"/>
              </a:rPr>
              <a:t> weighted_distance_2d(p, q, w):</a:t>
            </a:r>
            <a:br>
              <a:rPr/>
            </a:br>
            <a:r>
              <a:rPr>
                <a:latin typeface="Courier"/>
              </a:rPr>
              <a:t>    p </a:t>
            </a:r>
            <a:r>
              <a:rPr>
                <a:solidFill>
                  <a:srgbClr val="666666"/>
                </a:solidFill>
                <a:latin typeface="Courier"/>
              </a:rPr>
              <a:t>=</a:t>
            </a:r>
            <a:r>
              <a:rPr>
                <a:latin typeface="Courier"/>
              </a:rPr>
              <a:t> </a:t>
            </a:r>
            <a:r>
              <a:rPr err="1">
                <a:latin typeface="Courier"/>
              </a:rPr>
              <a:t>np.asarray</a:t>
            </a:r>
            <a:r>
              <a:rPr>
                <a:latin typeface="Courier"/>
              </a:rPr>
              <a:t>(p, </a:t>
            </a:r>
            <a:r>
              <a:rPr err="1">
                <a:latin typeface="Courier"/>
              </a:rPr>
              <a:t>dtype</a:t>
            </a:r>
            <a:r>
              <a:rPr>
                <a:solidFill>
                  <a:srgbClr val="666666"/>
                </a:solidFill>
                <a:latin typeface="Courier"/>
              </a:rPr>
              <a:t>=</a:t>
            </a:r>
            <a:r>
              <a:rPr>
                <a:solidFill>
                  <a:srgbClr val="008000"/>
                </a:solidFill>
                <a:latin typeface="Courier"/>
              </a:rPr>
              <a:t>float</a:t>
            </a:r>
            <a:r>
              <a:rPr>
                <a:latin typeface="Courier"/>
              </a:rPr>
              <a:t>)</a:t>
            </a:r>
            <a:br>
              <a:rPr/>
            </a:br>
            <a:r>
              <a:rPr>
                <a:latin typeface="Courier"/>
              </a:rPr>
              <a:t>    q </a:t>
            </a:r>
            <a:r>
              <a:rPr>
                <a:solidFill>
                  <a:srgbClr val="666666"/>
                </a:solidFill>
                <a:latin typeface="Courier"/>
              </a:rPr>
              <a:t>=</a:t>
            </a:r>
            <a:r>
              <a:rPr>
                <a:latin typeface="Courier"/>
              </a:rPr>
              <a:t> </a:t>
            </a:r>
            <a:r>
              <a:rPr err="1">
                <a:latin typeface="Courier"/>
              </a:rPr>
              <a:t>np.asarray</a:t>
            </a:r>
            <a:r>
              <a:rPr>
                <a:latin typeface="Courier"/>
              </a:rPr>
              <a:t>(q, </a:t>
            </a:r>
            <a:r>
              <a:rPr err="1">
                <a:latin typeface="Courier"/>
              </a:rPr>
              <a:t>dtype</a:t>
            </a:r>
            <a:r>
              <a:rPr>
                <a:solidFill>
                  <a:srgbClr val="666666"/>
                </a:solidFill>
                <a:latin typeface="Courier"/>
              </a:rPr>
              <a:t>=</a:t>
            </a:r>
            <a:r>
              <a:rPr>
                <a:solidFill>
                  <a:srgbClr val="008000"/>
                </a:solidFill>
                <a:latin typeface="Courier"/>
              </a:rPr>
              <a:t>float</a:t>
            </a:r>
            <a:r>
              <a:rPr>
                <a:latin typeface="Courier"/>
              </a:rPr>
              <a:t>)</a:t>
            </a:r>
            <a:br>
              <a:rPr/>
            </a:br>
            <a:br>
              <a:rPr/>
            </a:br>
            <a:r>
              <a:rPr>
                <a:latin typeface="Courier"/>
              </a:rPr>
              <a:t>    dx1 </a:t>
            </a:r>
            <a:r>
              <a:rPr>
                <a:solidFill>
                  <a:srgbClr val="666666"/>
                </a:solidFill>
                <a:latin typeface="Courier"/>
              </a:rPr>
              <a:t>=</a:t>
            </a:r>
            <a:r>
              <a:rPr>
                <a:latin typeface="Courier"/>
              </a:rPr>
              <a:t> p[</a:t>
            </a:r>
            <a:r>
              <a:rPr>
                <a:solidFill>
                  <a:srgbClr val="40A070"/>
                </a:solidFill>
                <a:latin typeface="Courier"/>
              </a:rPr>
              <a:t>0</a:t>
            </a:r>
            <a:r>
              <a:rPr>
                <a:latin typeface="Courier"/>
              </a:rPr>
              <a:t>] </a:t>
            </a:r>
            <a:r>
              <a:rPr>
                <a:solidFill>
                  <a:srgbClr val="666666"/>
                </a:solidFill>
                <a:latin typeface="Courier"/>
              </a:rPr>
              <a:t>-</a:t>
            </a:r>
            <a:r>
              <a:rPr>
                <a:latin typeface="Courier"/>
              </a:rPr>
              <a:t> q[</a:t>
            </a:r>
            <a:r>
              <a:rPr>
                <a:solidFill>
                  <a:srgbClr val="40A070"/>
                </a:solidFill>
                <a:latin typeface="Courier"/>
              </a:rPr>
              <a:t>0</a:t>
            </a:r>
            <a:r>
              <a:rPr>
                <a:latin typeface="Courier"/>
              </a:rPr>
              <a:t>]</a:t>
            </a:r>
            <a:br>
              <a:rPr/>
            </a:br>
            <a:r>
              <a:rPr>
                <a:latin typeface="Courier"/>
              </a:rPr>
              <a:t>    dx2 </a:t>
            </a:r>
            <a:r>
              <a:rPr>
                <a:solidFill>
                  <a:srgbClr val="666666"/>
                </a:solidFill>
                <a:latin typeface="Courier"/>
              </a:rPr>
              <a:t>=</a:t>
            </a:r>
            <a:r>
              <a:rPr>
                <a:latin typeface="Courier"/>
              </a:rPr>
              <a:t> p[</a:t>
            </a:r>
            <a:r>
              <a:rPr>
                <a:solidFill>
                  <a:srgbClr val="40A070"/>
                </a:solidFill>
                <a:latin typeface="Courier"/>
              </a:rPr>
              <a:t>1</a:t>
            </a:r>
            <a:r>
              <a:rPr>
                <a:latin typeface="Courier"/>
              </a:rPr>
              <a:t>] </a:t>
            </a:r>
            <a:r>
              <a:rPr>
                <a:solidFill>
                  <a:srgbClr val="666666"/>
                </a:solidFill>
                <a:latin typeface="Courier"/>
              </a:rPr>
              <a:t>-</a:t>
            </a:r>
            <a:r>
              <a:rPr>
                <a:latin typeface="Courier"/>
              </a:rPr>
              <a:t> q[</a:t>
            </a:r>
            <a:r>
              <a:rPr>
                <a:solidFill>
                  <a:srgbClr val="40A070"/>
                </a:solidFill>
                <a:latin typeface="Courier"/>
              </a:rPr>
              <a:t>1</a:t>
            </a:r>
            <a:r>
              <a:rPr>
                <a:latin typeface="Courier"/>
              </a:rPr>
              <a:t>]</a:t>
            </a:r>
            <a:br>
              <a:rPr/>
            </a:br>
            <a:br>
              <a:rPr/>
            </a:br>
            <a:r>
              <a:rPr>
                <a:latin typeface="Courier"/>
              </a:rPr>
              <a:t>    w1 </a:t>
            </a:r>
            <a:r>
              <a:rPr>
                <a:solidFill>
                  <a:srgbClr val="666666"/>
                </a:solidFill>
                <a:latin typeface="Courier"/>
              </a:rPr>
              <a:t>=</a:t>
            </a:r>
            <a:r>
              <a:rPr>
                <a:latin typeface="Courier"/>
              </a:rPr>
              <a:t> w</a:t>
            </a:r>
            <a:br>
              <a:rPr/>
            </a:br>
            <a:r>
              <a:rPr>
                <a:latin typeface="Courier"/>
              </a:rPr>
              <a:t>    w2 </a:t>
            </a:r>
            <a:r>
              <a:rPr>
                <a:solidFill>
                  <a:srgbClr val="666666"/>
                </a:solidFill>
                <a:latin typeface="Courier"/>
              </a:rPr>
              <a:t>=</a:t>
            </a:r>
            <a:r>
              <a:rPr>
                <a:latin typeface="Courier"/>
              </a:rPr>
              <a:t> </a:t>
            </a:r>
            <a:r>
              <a:rPr>
                <a:solidFill>
                  <a:srgbClr val="40A070"/>
                </a:solidFill>
                <a:latin typeface="Courier"/>
              </a:rPr>
              <a:t>1.0</a:t>
            </a:r>
            <a:r>
              <a:rPr>
                <a:latin typeface="Courier"/>
              </a:rPr>
              <a:t> </a:t>
            </a:r>
            <a:r>
              <a:rPr>
                <a:solidFill>
                  <a:srgbClr val="666666"/>
                </a:solidFill>
                <a:latin typeface="Courier"/>
              </a:rPr>
              <a:t>-</a:t>
            </a:r>
            <a:r>
              <a:rPr>
                <a:latin typeface="Courier"/>
              </a:rPr>
              <a:t> w</a:t>
            </a:r>
            <a:br>
              <a:rPr/>
            </a:br>
            <a:br>
              <a:rPr/>
            </a:br>
            <a:r>
              <a:rPr>
                <a:latin typeface="Courier"/>
              </a:rPr>
              <a:t>    </a:t>
            </a:r>
            <a:r>
              <a:rPr b="1">
                <a:solidFill>
                  <a:srgbClr val="007020"/>
                </a:solidFill>
                <a:latin typeface="Courier"/>
              </a:rPr>
              <a:t>return</a:t>
            </a:r>
            <a:r>
              <a:rPr>
                <a:latin typeface="Courier"/>
              </a:rPr>
              <a:t> </a:t>
            </a:r>
            <a:r>
              <a:rPr err="1">
                <a:latin typeface="Courier"/>
              </a:rPr>
              <a:t>np.sqrt</a:t>
            </a:r>
            <a:r>
              <a:rPr>
                <a:latin typeface="Courier"/>
              </a:rPr>
              <a:t>((w1 </a:t>
            </a:r>
            <a:r>
              <a:rPr>
                <a:solidFill>
                  <a:srgbClr val="666666"/>
                </a:solidFill>
                <a:latin typeface="Courier"/>
              </a:rPr>
              <a:t>*</a:t>
            </a:r>
            <a:r>
              <a:rPr>
                <a:latin typeface="Courier"/>
              </a:rPr>
              <a:t> dx1) </a:t>
            </a:r>
            <a:r>
              <a:rPr>
                <a:solidFill>
                  <a:srgbClr val="666666"/>
                </a:solidFill>
                <a:latin typeface="Courier"/>
              </a:rPr>
              <a:t>**</a:t>
            </a:r>
            <a:r>
              <a:rPr>
                <a:latin typeface="Courier"/>
              </a:rPr>
              <a:t> </a:t>
            </a:r>
            <a:r>
              <a:rPr>
                <a:solidFill>
                  <a:srgbClr val="40A070"/>
                </a:solidFill>
                <a:latin typeface="Courier"/>
              </a:rPr>
              <a:t>2</a:t>
            </a:r>
            <a:r>
              <a:rPr>
                <a:latin typeface="Courier"/>
              </a:rPr>
              <a:t> </a:t>
            </a:r>
            <a:r>
              <a:rPr>
                <a:solidFill>
                  <a:srgbClr val="666666"/>
                </a:solidFill>
                <a:latin typeface="Courier"/>
              </a:rPr>
              <a:t>+</a:t>
            </a:r>
            <a:r>
              <a:rPr>
                <a:latin typeface="Courier"/>
              </a:rPr>
              <a:t> (w2 </a:t>
            </a:r>
            <a:r>
              <a:rPr>
                <a:solidFill>
                  <a:srgbClr val="666666"/>
                </a:solidFill>
                <a:latin typeface="Courier"/>
              </a:rPr>
              <a:t>*</a:t>
            </a:r>
            <a:r>
              <a:rPr>
                <a:latin typeface="Courier"/>
              </a:rPr>
              <a:t> dx2) </a:t>
            </a:r>
            <a:r>
              <a:rPr>
                <a:solidFill>
                  <a:srgbClr val="666666"/>
                </a:solidFill>
                <a:latin typeface="Courier"/>
              </a:rPr>
              <a:t>**</a:t>
            </a:r>
            <a:r>
              <a:rPr>
                <a:latin typeface="Courier"/>
              </a:rPr>
              <a:t> </a:t>
            </a:r>
            <a:r>
              <a:rPr>
                <a:solidFill>
                  <a:srgbClr val="40A070"/>
                </a:solidFill>
                <a:latin typeface="Courier"/>
              </a:rPr>
              <a:t>2</a:t>
            </a:r>
            <a:r>
              <a:rPr>
                <a:latin typeface="Courier"/>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Predicting Entire Dataset</a:t>
            </a:r>
          </a:p>
        </p:txBody>
      </p:sp>
      <p:sp>
        <p:nvSpPr>
          <p:cNvPr id="3" name="Content Placeholder 2"/>
          <p:cNvSpPr>
            <a:spLocks noGrp="1"/>
          </p:cNvSpPr>
          <p:nvPr>
            <p:ph idx="1"/>
          </p:nvPr>
        </p:nvSpPr>
        <p:spPr>
          <a:xfrm>
            <a:off x="529390" y="1914646"/>
            <a:ext cx="11133221" cy="2087860"/>
          </a:xfrm>
        </p:spPr>
        <p:txBody>
          <a:bodyPr>
            <a:normAutofit fontScale="92500" lnSpcReduction="10000"/>
          </a:bodyPr>
          <a:lstStyle/>
          <a:p>
            <a:pPr indent="0">
              <a:buNone/>
            </a:pPr>
            <a:r>
              <a:rPr b="1">
                <a:solidFill>
                  <a:srgbClr val="007020"/>
                </a:solidFill>
                <a:latin typeface="Courier"/>
              </a:rPr>
              <a:t>def</a:t>
            </a:r>
            <a:r>
              <a:rPr>
                <a:latin typeface="Courier"/>
              </a:rPr>
              <a:t> </a:t>
            </a:r>
            <a:r>
              <a:rPr err="1">
                <a:latin typeface="Courier"/>
              </a:rPr>
              <a:t>knn_predict_dataset</a:t>
            </a:r>
            <a:r>
              <a:rPr>
                <a:latin typeface="Courier"/>
              </a:rPr>
              <a:t>(</a:t>
            </a:r>
            <a:r>
              <a:rPr err="1">
                <a:latin typeface="Courier"/>
              </a:rPr>
              <a:t>df</a:t>
            </a:r>
            <a:r>
              <a:rPr>
                <a:latin typeface="Courier"/>
              </a:rPr>
              <a:t>, </a:t>
            </a:r>
            <a:r>
              <a:rPr err="1">
                <a:latin typeface="Courier"/>
              </a:rPr>
              <a:t>train_df</a:t>
            </a:r>
            <a:r>
              <a:rPr>
                <a:latin typeface="Courier"/>
              </a:rPr>
              <a:t>, k, w):</a:t>
            </a:r>
            <a:br>
              <a:rPr/>
            </a:br>
            <a:r>
              <a:rPr>
                <a:latin typeface="Courier"/>
              </a:rPr>
              <a:t>    preds </a:t>
            </a:r>
            <a:r>
              <a:rPr>
                <a:solidFill>
                  <a:srgbClr val="666666"/>
                </a:solidFill>
                <a:latin typeface="Courier"/>
              </a:rPr>
              <a:t>=</a:t>
            </a:r>
            <a:r>
              <a:rPr>
                <a:latin typeface="Courier"/>
              </a:rPr>
              <a:t> []</a:t>
            </a:r>
            <a:br>
              <a:rPr/>
            </a:br>
            <a:r>
              <a:rPr>
                <a:latin typeface="Courier"/>
              </a:rPr>
              <a:t>    </a:t>
            </a:r>
            <a:r>
              <a:rPr b="1">
                <a:solidFill>
                  <a:srgbClr val="007020"/>
                </a:solidFill>
                <a:latin typeface="Courier"/>
              </a:rPr>
              <a:t>for</a:t>
            </a:r>
            <a:r>
              <a:rPr>
                <a:latin typeface="Courier"/>
              </a:rPr>
              <a:t> _, row </a:t>
            </a:r>
            <a:r>
              <a:rPr b="1">
                <a:solidFill>
                  <a:srgbClr val="007020"/>
                </a:solidFill>
                <a:latin typeface="Courier"/>
              </a:rPr>
              <a:t>in</a:t>
            </a:r>
            <a:r>
              <a:rPr>
                <a:latin typeface="Courier"/>
              </a:rPr>
              <a:t> </a:t>
            </a:r>
            <a:r>
              <a:rPr err="1">
                <a:latin typeface="Courier"/>
              </a:rPr>
              <a:t>df.iterrows</a:t>
            </a:r>
            <a:r>
              <a:rPr>
                <a:latin typeface="Courier"/>
              </a:rPr>
              <a:t>():</a:t>
            </a:r>
            <a:br>
              <a:rPr/>
            </a:br>
            <a:r>
              <a:rPr>
                <a:latin typeface="Courier"/>
              </a:rPr>
              <a:t>        </a:t>
            </a:r>
            <a:r>
              <a:rPr err="1">
                <a:latin typeface="Courier"/>
              </a:rPr>
              <a:t>y_hat</a:t>
            </a:r>
            <a:r>
              <a:rPr>
                <a:latin typeface="Courier"/>
              </a:rPr>
              <a:t> </a:t>
            </a:r>
            <a:r>
              <a:rPr>
                <a:solidFill>
                  <a:srgbClr val="666666"/>
                </a:solidFill>
                <a:latin typeface="Courier"/>
              </a:rPr>
              <a:t>=</a:t>
            </a:r>
            <a:r>
              <a:rPr>
                <a:latin typeface="Courier"/>
              </a:rPr>
              <a:t> </a:t>
            </a:r>
            <a:r>
              <a:rPr err="1">
                <a:latin typeface="Courier"/>
              </a:rPr>
              <a:t>knn_predict_one</a:t>
            </a:r>
            <a:r>
              <a:rPr>
                <a:latin typeface="Courier"/>
              </a:rPr>
              <a:t>(row, </a:t>
            </a:r>
            <a:r>
              <a:rPr err="1">
                <a:latin typeface="Courier"/>
              </a:rPr>
              <a:t>train_df</a:t>
            </a:r>
            <a:r>
              <a:rPr>
                <a:latin typeface="Courier"/>
              </a:rPr>
              <a:t>, k, w)</a:t>
            </a:r>
            <a:br>
              <a:rPr/>
            </a:br>
            <a:r>
              <a:rPr>
                <a:latin typeface="Courier"/>
              </a:rPr>
              <a:t>        </a:t>
            </a:r>
            <a:r>
              <a:rPr err="1">
                <a:latin typeface="Courier"/>
              </a:rPr>
              <a:t>preds.append</a:t>
            </a:r>
            <a:r>
              <a:rPr>
                <a:latin typeface="Courier"/>
              </a:rPr>
              <a:t>(</a:t>
            </a:r>
            <a:r>
              <a:rPr err="1">
                <a:latin typeface="Courier"/>
              </a:rPr>
              <a:t>y_hat</a:t>
            </a:r>
            <a:r>
              <a:rPr>
                <a:latin typeface="Courier"/>
              </a:rPr>
              <a:t>)</a:t>
            </a:r>
            <a:br>
              <a:rPr/>
            </a:br>
            <a:r>
              <a:rPr>
                <a:latin typeface="Courier"/>
              </a:rPr>
              <a:t>    </a:t>
            </a:r>
            <a:r>
              <a:rPr b="1">
                <a:solidFill>
                  <a:srgbClr val="007020"/>
                </a:solidFill>
                <a:latin typeface="Courier"/>
              </a:rPr>
              <a:t>return</a:t>
            </a:r>
            <a:r>
              <a:rPr>
                <a:latin typeface="Courier"/>
              </a:rPr>
              <a:t> </a:t>
            </a:r>
            <a:r>
              <a:rPr err="1">
                <a:latin typeface="Courier"/>
              </a:rPr>
              <a:t>np.array</a:t>
            </a:r>
            <a:r>
              <a:rPr>
                <a:latin typeface="Courier"/>
              </a:rPr>
              <a:t>(preds, </a:t>
            </a:r>
            <a:r>
              <a:rPr err="1">
                <a:latin typeface="Courier"/>
              </a:rPr>
              <a:t>dtype</a:t>
            </a:r>
            <a:r>
              <a:rPr>
                <a:solidFill>
                  <a:srgbClr val="666666"/>
                </a:solidFill>
                <a:latin typeface="Courier"/>
              </a:rPr>
              <a:t>=</a:t>
            </a:r>
            <a:r>
              <a:rPr>
                <a:solidFill>
                  <a:srgbClr val="008000"/>
                </a:solidFill>
                <a:latin typeface="Courier"/>
              </a:rPr>
              <a:t>float</a:t>
            </a:r>
            <a:r>
              <a:rPr>
                <a:latin typeface="Courier"/>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Tuning Parameters</a:t>
            </a:r>
          </a:p>
        </p:txBody>
      </p:sp>
      <p:sp>
        <p:nvSpPr>
          <p:cNvPr id="3" name="Content Placeholder 2"/>
          <p:cNvSpPr>
            <a:spLocks noGrp="1"/>
          </p:cNvSpPr>
          <p:nvPr>
            <p:ph idx="1"/>
          </p:nvPr>
        </p:nvSpPr>
        <p:spPr>
          <a:xfrm>
            <a:off x="609600" y="3080951"/>
            <a:ext cx="10972800" cy="3613623"/>
          </a:xfrm>
        </p:spPr>
        <p:txBody>
          <a:bodyPr>
            <a:normAutofit fontScale="62500" lnSpcReduction="20000"/>
          </a:bodyPr>
          <a:lstStyle/>
          <a:p>
            <a:pPr indent="0">
              <a:buNone/>
            </a:pPr>
            <a:r>
              <a:rPr b="1">
                <a:solidFill>
                  <a:srgbClr val="007020"/>
                </a:solidFill>
                <a:latin typeface="Courier"/>
              </a:rPr>
              <a:t>def</a:t>
            </a:r>
            <a:r>
              <a:rPr>
                <a:latin typeface="Courier"/>
              </a:rPr>
              <a:t> </a:t>
            </a:r>
            <a:r>
              <a:rPr err="1">
                <a:latin typeface="Courier"/>
              </a:rPr>
              <a:t>tune_knn</a:t>
            </a:r>
            <a:r>
              <a:rPr>
                <a:latin typeface="Courier"/>
              </a:rPr>
              <a:t>(</a:t>
            </a:r>
            <a:r>
              <a:rPr err="1">
                <a:latin typeface="Courier"/>
              </a:rPr>
              <a:t>train_df</a:t>
            </a:r>
            <a:r>
              <a:rPr>
                <a:latin typeface="Courier"/>
              </a:rPr>
              <a:t>, </a:t>
            </a:r>
            <a:r>
              <a:rPr err="1">
                <a:latin typeface="Courier"/>
              </a:rPr>
              <a:t>val_df</a:t>
            </a:r>
            <a:r>
              <a:rPr>
                <a:latin typeface="Courier"/>
              </a:rPr>
              <a:t>, </a:t>
            </a:r>
            <a:r>
              <a:rPr err="1">
                <a:latin typeface="Courier"/>
              </a:rPr>
              <a:t>k_values</a:t>
            </a:r>
            <a:r>
              <a:rPr>
                <a:latin typeface="Courier"/>
              </a:rPr>
              <a:t>, </a:t>
            </a:r>
            <a:r>
              <a:rPr err="1">
                <a:latin typeface="Courier"/>
              </a:rPr>
              <a:t>w_values</a:t>
            </a:r>
            <a:r>
              <a:rPr>
                <a:latin typeface="Courier"/>
              </a:rPr>
              <a:t>):</a:t>
            </a:r>
            <a:br>
              <a:rPr/>
            </a:br>
            <a:r>
              <a:rPr>
                <a:latin typeface="Courier"/>
              </a:rPr>
              <a:t>    results </a:t>
            </a:r>
            <a:r>
              <a:rPr>
                <a:solidFill>
                  <a:srgbClr val="666666"/>
                </a:solidFill>
                <a:latin typeface="Courier"/>
              </a:rPr>
              <a:t>=</a:t>
            </a:r>
            <a:r>
              <a:rPr>
                <a:latin typeface="Courier"/>
              </a:rPr>
              <a:t> []</a:t>
            </a:r>
            <a:br>
              <a:rPr/>
            </a:br>
            <a:r>
              <a:rPr>
                <a:latin typeface="Courier"/>
              </a:rPr>
              <a:t>    </a:t>
            </a:r>
            <a:r>
              <a:rPr err="1">
                <a:latin typeface="Courier"/>
              </a:rPr>
              <a:t>y_val_true</a:t>
            </a:r>
            <a:r>
              <a:rPr>
                <a:latin typeface="Courier"/>
              </a:rPr>
              <a:t> </a:t>
            </a:r>
            <a:r>
              <a:rPr>
                <a:solidFill>
                  <a:srgbClr val="666666"/>
                </a:solidFill>
                <a:latin typeface="Courier"/>
              </a:rPr>
              <a:t>=</a:t>
            </a:r>
            <a:r>
              <a:rPr>
                <a:latin typeface="Courier"/>
              </a:rPr>
              <a:t> </a:t>
            </a:r>
            <a:r>
              <a:rPr err="1">
                <a:latin typeface="Courier"/>
              </a:rPr>
              <a:t>val_df</a:t>
            </a:r>
            <a:r>
              <a:rPr>
                <a:latin typeface="Courier"/>
              </a:rPr>
              <a:t>[</a:t>
            </a:r>
            <a:r>
              <a:rPr>
                <a:solidFill>
                  <a:srgbClr val="4070A0"/>
                </a:solidFill>
                <a:latin typeface="Courier"/>
              </a:rPr>
              <a:t>"TT_DW_CRM"</a:t>
            </a:r>
            <a:r>
              <a:rPr>
                <a:latin typeface="Courier"/>
              </a:rPr>
              <a:t>].</a:t>
            </a:r>
            <a:r>
              <a:rPr err="1">
                <a:latin typeface="Courier"/>
              </a:rPr>
              <a:t>to_numpy</a:t>
            </a:r>
            <a:r>
              <a:rPr>
                <a:latin typeface="Courier"/>
              </a:rPr>
              <a:t>(</a:t>
            </a:r>
            <a:r>
              <a:rPr err="1">
                <a:latin typeface="Courier"/>
              </a:rPr>
              <a:t>dtype</a:t>
            </a:r>
            <a:r>
              <a:rPr>
                <a:solidFill>
                  <a:srgbClr val="666666"/>
                </a:solidFill>
                <a:latin typeface="Courier"/>
              </a:rPr>
              <a:t>=</a:t>
            </a:r>
            <a:r>
              <a:rPr>
                <a:solidFill>
                  <a:srgbClr val="008000"/>
                </a:solidFill>
                <a:latin typeface="Courier"/>
              </a:rPr>
              <a:t>float</a:t>
            </a:r>
            <a:r>
              <a:rPr>
                <a:latin typeface="Courier"/>
              </a:rPr>
              <a:t>)</a:t>
            </a:r>
            <a:br>
              <a:rPr/>
            </a:br>
            <a:br>
              <a:rPr/>
            </a:br>
            <a:r>
              <a:rPr>
                <a:latin typeface="Courier"/>
              </a:rPr>
              <a:t>    </a:t>
            </a:r>
            <a:r>
              <a:rPr b="1">
                <a:solidFill>
                  <a:srgbClr val="007020"/>
                </a:solidFill>
                <a:latin typeface="Courier"/>
              </a:rPr>
              <a:t>for</a:t>
            </a:r>
            <a:r>
              <a:rPr>
                <a:latin typeface="Courier"/>
              </a:rPr>
              <a:t> k </a:t>
            </a:r>
            <a:r>
              <a:rPr b="1">
                <a:solidFill>
                  <a:srgbClr val="007020"/>
                </a:solidFill>
                <a:latin typeface="Courier"/>
              </a:rPr>
              <a:t>in</a:t>
            </a:r>
            <a:r>
              <a:rPr>
                <a:latin typeface="Courier"/>
              </a:rPr>
              <a:t> </a:t>
            </a:r>
            <a:r>
              <a:rPr err="1">
                <a:latin typeface="Courier"/>
              </a:rPr>
              <a:t>k_values</a:t>
            </a:r>
            <a:r>
              <a:rPr>
                <a:latin typeface="Courier"/>
              </a:rPr>
              <a:t>:</a:t>
            </a:r>
            <a:br>
              <a:rPr/>
            </a:br>
            <a:r>
              <a:rPr>
                <a:latin typeface="Courier"/>
              </a:rPr>
              <a:t>        </a:t>
            </a:r>
            <a:r>
              <a:rPr b="1">
                <a:solidFill>
                  <a:srgbClr val="007020"/>
                </a:solidFill>
                <a:latin typeface="Courier"/>
              </a:rPr>
              <a:t>for</a:t>
            </a:r>
            <a:r>
              <a:rPr>
                <a:latin typeface="Courier"/>
              </a:rPr>
              <a:t> w </a:t>
            </a:r>
            <a:r>
              <a:rPr b="1">
                <a:solidFill>
                  <a:srgbClr val="007020"/>
                </a:solidFill>
                <a:latin typeface="Courier"/>
              </a:rPr>
              <a:t>in</a:t>
            </a:r>
            <a:r>
              <a:rPr>
                <a:latin typeface="Courier"/>
              </a:rPr>
              <a:t> </a:t>
            </a:r>
            <a:r>
              <a:rPr err="1">
                <a:latin typeface="Courier"/>
              </a:rPr>
              <a:t>w_values</a:t>
            </a:r>
            <a:r>
              <a:rPr>
                <a:latin typeface="Courier"/>
              </a:rPr>
              <a:t>:</a:t>
            </a:r>
            <a:br>
              <a:rPr/>
            </a:br>
            <a:r>
              <a:rPr>
                <a:latin typeface="Courier"/>
              </a:rPr>
              <a:t>            </a:t>
            </a:r>
            <a:r>
              <a:rPr err="1">
                <a:latin typeface="Courier"/>
              </a:rPr>
              <a:t>val_preds</a:t>
            </a:r>
            <a:r>
              <a:rPr>
                <a:latin typeface="Courier"/>
              </a:rPr>
              <a:t> </a:t>
            </a:r>
            <a:r>
              <a:rPr>
                <a:solidFill>
                  <a:srgbClr val="666666"/>
                </a:solidFill>
                <a:latin typeface="Courier"/>
              </a:rPr>
              <a:t>=</a:t>
            </a:r>
            <a:r>
              <a:rPr>
                <a:latin typeface="Courier"/>
              </a:rPr>
              <a:t> </a:t>
            </a:r>
            <a:r>
              <a:rPr err="1">
                <a:latin typeface="Courier"/>
              </a:rPr>
              <a:t>knn_predict_dataset</a:t>
            </a:r>
            <a:r>
              <a:rPr>
                <a:latin typeface="Courier"/>
              </a:rPr>
              <a:t>(</a:t>
            </a:r>
            <a:r>
              <a:rPr err="1">
                <a:latin typeface="Courier"/>
              </a:rPr>
              <a:t>val_df</a:t>
            </a:r>
            <a:r>
              <a:rPr>
                <a:latin typeface="Courier"/>
              </a:rPr>
              <a:t>, </a:t>
            </a:r>
            <a:r>
              <a:rPr err="1">
                <a:latin typeface="Courier"/>
              </a:rPr>
              <a:t>train_df</a:t>
            </a:r>
            <a:r>
              <a:rPr>
                <a:latin typeface="Courier"/>
              </a:rPr>
              <a:t>, k, w)</a:t>
            </a:r>
            <a:br>
              <a:rPr/>
            </a:br>
            <a:r>
              <a:rPr>
                <a:latin typeface="Courier"/>
              </a:rPr>
              <a:t>            </a:t>
            </a:r>
            <a:r>
              <a:rPr err="1">
                <a:latin typeface="Courier"/>
              </a:rPr>
              <a:t>val_mse</a:t>
            </a:r>
            <a:r>
              <a:rPr>
                <a:latin typeface="Courier"/>
              </a:rPr>
              <a:t> </a:t>
            </a:r>
            <a:r>
              <a:rPr>
                <a:solidFill>
                  <a:srgbClr val="666666"/>
                </a:solidFill>
                <a:latin typeface="Courier"/>
              </a:rPr>
              <a:t>=</a:t>
            </a:r>
            <a:r>
              <a:rPr>
                <a:latin typeface="Courier"/>
              </a:rPr>
              <a:t> </a:t>
            </a:r>
            <a:r>
              <a:rPr err="1">
                <a:latin typeface="Courier"/>
              </a:rPr>
              <a:t>rmse</a:t>
            </a:r>
            <a:r>
              <a:rPr>
                <a:latin typeface="Courier"/>
              </a:rPr>
              <a:t>(</a:t>
            </a:r>
            <a:r>
              <a:rPr err="1">
                <a:latin typeface="Courier"/>
              </a:rPr>
              <a:t>y_val_true</a:t>
            </a:r>
            <a:r>
              <a:rPr>
                <a:latin typeface="Courier"/>
              </a:rPr>
              <a:t>, </a:t>
            </a:r>
            <a:r>
              <a:rPr err="1">
                <a:latin typeface="Courier"/>
              </a:rPr>
              <a:t>val_preds</a:t>
            </a:r>
            <a:r>
              <a:rPr>
                <a:latin typeface="Courier"/>
              </a:rPr>
              <a:t>)</a:t>
            </a:r>
            <a:br>
              <a:rPr/>
            </a:br>
            <a:r>
              <a:rPr>
                <a:latin typeface="Courier"/>
              </a:rPr>
              <a:t>            </a:t>
            </a:r>
            <a:r>
              <a:rPr err="1">
                <a:latin typeface="Courier"/>
              </a:rPr>
              <a:t>results.append</a:t>
            </a:r>
            <a:r>
              <a:rPr>
                <a:latin typeface="Courier"/>
              </a:rPr>
              <a:t>({</a:t>
            </a:r>
            <a:r>
              <a:rPr>
                <a:solidFill>
                  <a:srgbClr val="4070A0"/>
                </a:solidFill>
                <a:latin typeface="Courier"/>
              </a:rPr>
              <a:t>"k"</a:t>
            </a:r>
            <a:r>
              <a:rPr>
                <a:latin typeface="Courier"/>
              </a:rPr>
              <a:t>: </a:t>
            </a:r>
            <a:r>
              <a:rPr>
                <a:solidFill>
                  <a:srgbClr val="008000"/>
                </a:solidFill>
                <a:latin typeface="Courier"/>
              </a:rPr>
              <a:t>int</a:t>
            </a:r>
            <a:r>
              <a:rPr>
                <a:latin typeface="Courier"/>
              </a:rPr>
              <a:t>(k), </a:t>
            </a:r>
            <a:r>
              <a:rPr>
                <a:solidFill>
                  <a:srgbClr val="4070A0"/>
                </a:solidFill>
                <a:latin typeface="Courier"/>
              </a:rPr>
              <a:t>"w"</a:t>
            </a:r>
            <a:r>
              <a:rPr>
                <a:latin typeface="Courier"/>
              </a:rPr>
              <a:t>: </a:t>
            </a:r>
            <a:r>
              <a:rPr>
                <a:solidFill>
                  <a:srgbClr val="008000"/>
                </a:solidFill>
                <a:latin typeface="Courier"/>
              </a:rPr>
              <a:t>float</a:t>
            </a:r>
            <a:r>
              <a:rPr>
                <a:latin typeface="Courier"/>
              </a:rPr>
              <a:t>(w), </a:t>
            </a:r>
            <a:r>
              <a:rPr>
                <a:solidFill>
                  <a:srgbClr val="4070A0"/>
                </a:solidFill>
                <a:latin typeface="Courier"/>
              </a:rPr>
              <a:t>"</a:t>
            </a:r>
            <a:r>
              <a:rPr err="1">
                <a:solidFill>
                  <a:srgbClr val="4070A0"/>
                </a:solidFill>
                <a:latin typeface="Courier"/>
              </a:rPr>
              <a:t>val_mse</a:t>
            </a:r>
            <a:r>
              <a:rPr>
                <a:solidFill>
                  <a:srgbClr val="4070A0"/>
                </a:solidFill>
                <a:latin typeface="Courier"/>
              </a:rPr>
              <a:t>"</a:t>
            </a:r>
            <a:r>
              <a:rPr>
                <a:latin typeface="Courier"/>
              </a:rPr>
              <a:t>: </a:t>
            </a:r>
            <a:r>
              <a:rPr err="1">
                <a:latin typeface="Courier"/>
              </a:rPr>
              <a:t>val_mse</a:t>
            </a:r>
            <a:r>
              <a:rPr>
                <a:latin typeface="Courier"/>
              </a:rPr>
              <a:t>})</a:t>
            </a:r>
            <a:br>
              <a:rPr/>
            </a:br>
            <a:r>
              <a:rPr>
                <a:latin typeface="Courier"/>
              </a:rPr>
              <a:t>            </a:t>
            </a:r>
            <a:r>
              <a:rPr>
                <a:solidFill>
                  <a:srgbClr val="008000"/>
                </a:solidFill>
                <a:latin typeface="Courier"/>
              </a:rPr>
              <a:t>print</a:t>
            </a:r>
            <a:r>
              <a:rPr>
                <a:latin typeface="Courier"/>
              </a:rPr>
              <a:t>(</a:t>
            </a:r>
            <a:r>
              <a:rPr>
                <a:solidFill>
                  <a:srgbClr val="BB6688"/>
                </a:solidFill>
                <a:latin typeface="Courier"/>
              </a:rPr>
              <a:t>f"[tuning] k=</a:t>
            </a:r>
            <a:r>
              <a:rPr>
                <a:solidFill>
                  <a:srgbClr val="4070A0"/>
                </a:solidFill>
                <a:latin typeface="Courier"/>
              </a:rPr>
              <a:t>{</a:t>
            </a:r>
            <a:r>
              <a:rPr>
                <a:latin typeface="Courier"/>
              </a:rPr>
              <a:t>k</a:t>
            </a:r>
            <a:r>
              <a:rPr>
                <a:solidFill>
                  <a:srgbClr val="4070A0"/>
                </a:solidFill>
                <a:latin typeface="Courier"/>
              </a:rPr>
              <a:t>:2d}</a:t>
            </a:r>
            <a:r>
              <a:rPr>
                <a:solidFill>
                  <a:srgbClr val="BB6688"/>
                </a:solidFill>
                <a:latin typeface="Courier"/>
              </a:rPr>
              <a:t>, w=</a:t>
            </a:r>
            <a:r>
              <a:rPr>
                <a:solidFill>
                  <a:srgbClr val="4070A0"/>
                </a:solidFill>
                <a:latin typeface="Courier"/>
              </a:rPr>
              <a:t>{</a:t>
            </a:r>
            <a:r>
              <a:rPr>
                <a:latin typeface="Courier"/>
              </a:rPr>
              <a:t>w</a:t>
            </a:r>
            <a:r>
              <a:rPr>
                <a:solidFill>
                  <a:srgbClr val="4070A0"/>
                </a:solidFill>
                <a:latin typeface="Courier"/>
              </a:rPr>
              <a:t>:.2f}</a:t>
            </a:r>
            <a:r>
              <a:rPr>
                <a:solidFill>
                  <a:srgbClr val="BB6688"/>
                </a:solidFill>
                <a:latin typeface="Courier"/>
              </a:rPr>
              <a:t>, </a:t>
            </a:r>
            <a:r>
              <a:rPr err="1">
                <a:solidFill>
                  <a:srgbClr val="BB6688"/>
                </a:solidFill>
                <a:latin typeface="Courier"/>
              </a:rPr>
              <a:t>val</a:t>
            </a:r>
            <a:r>
              <a:rPr>
                <a:solidFill>
                  <a:srgbClr val="BB6688"/>
                </a:solidFill>
                <a:latin typeface="Courier"/>
              </a:rPr>
              <a:t> RMSE=</a:t>
            </a:r>
            <a:r>
              <a:rPr>
                <a:solidFill>
                  <a:srgbClr val="4070A0"/>
                </a:solidFill>
                <a:latin typeface="Courier"/>
              </a:rPr>
              <a:t>{</a:t>
            </a:r>
            <a:r>
              <a:rPr>
                <a:latin typeface="Courier"/>
              </a:rPr>
              <a:t>val_mse</a:t>
            </a:r>
            <a:r>
              <a:rPr>
                <a:solidFill>
                  <a:srgbClr val="4070A0"/>
                </a:solidFill>
                <a:latin typeface="Courier"/>
              </a:rPr>
              <a:t>:.4f}</a:t>
            </a:r>
            <a:r>
              <a:rPr>
                <a:solidFill>
                  <a:srgbClr val="BB6688"/>
                </a:solidFill>
                <a:latin typeface="Courier"/>
              </a:rPr>
              <a:t>"</a:t>
            </a:r>
            <a:r>
              <a:rPr>
                <a:latin typeface="Courier"/>
              </a:rPr>
              <a:t>)</a:t>
            </a:r>
            <a:br>
              <a:rPr/>
            </a:br>
            <a:br>
              <a:rPr/>
            </a:br>
            <a:r>
              <a:rPr>
                <a:latin typeface="Courier"/>
              </a:rPr>
              <a:t>    </a:t>
            </a:r>
            <a:r>
              <a:rPr err="1">
                <a:latin typeface="Courier"/>
              </a:rPr>
              <a:t>results_df</a:t>
            </a:r>
            <a:r>
              <a:rPr>
                <a:latin typeface="Courier"/>
              </a:rPr>
              <a:t> </a:t>
            </a:r>
            <a:r>
              <a:rPr>
                <a:solidFill>
                  <a:srgbClr val="666666"/>
                </a:solidFill>
                <a:latin typeface="Courier"/>
              </a:rPr>
              <a:t>=</a:t>
            </a:r>
            <a:r>
              <a:rPr>
                <a:latin typeface="Courier"/>
              </a:rPr>
              <a:t> </a:t>
            </a:r>
            <a:r>
              <a:rPr err="1">
                <a:latin typeface="Courier"/>
              </a:rPr>
              <a:t>pd.DataFrame</a:t>
            </a:r>
            <a:r>
              <a:rPr>
                <a:latin typeface="Courier"/>
              </a:rPr>
              <a:t>(results)</a:t>
            </a:r>
            <a:br>
              <a:rPr/>
            </a:br>
            <a:r>
              <a:rPr>
                <a:latin typeface="Courier"/>
              </a:rPr>
              <a:t>    </a:t>
            </a:r>
            <a:r>
              <a:rPr err="1">
                <a:latin typeface="Courier"/>
              </a:rPr>
              <a:t>best_row</a:t>
            </a:r>
            <a:r>
              <a:rPr>
                <a:latin typeface="Courier"/>
              </a:rPr>
              <a:t> </a:t>
            </a:r>
            <a:r>
              <a:rPr>
                <a:solidFill>
                  <a:srgbClr val="666666"/>
                </a:solidFill>
                <a:latin typeface="Courier"/>
              </a:rPr>
              <a:t>=</a:t>
            </a:r>
            <a:r>
              <a:rPr>
                <a:latin typeface="Courier"/>
              </a:rPr>
              <a:t> </a:t>
            </a:r>
            <a:r>
              <a:rPr err="1">
                <a:latin typeface="Courier"/>
              </a:rPr>
              <a:t>results_df.loc</a:t>
            </a:r>
            <a:r>
              <a:rPr>
                <a:latin typeface="Courier"/>
              </a:rPr>
              <a:t>[</a:t>
            </a:r>
            <a:r>
              <a:rPr err="1">
                <a:latin typeface="Courier"/>
              </a:rPr>
              <a:t>results_df</a:t>
            </a:r>
            <a:r>
              <a:rPr>
                <a:latin typeface="Courier"/>
              </a:rPr>
              <a:t>[</a:t>
            </a:r>
            <a:r>
              <a:rPr>
                <a:solidFill>
                  <a:srgbClr val="4070A0"/>
                </a:solidFill>
                <a:latin typeface="Courier"/>
              </a:rPr>
              <a:t>"</a:t>
            </a:r>
            <a:r>
              <a:rPr err="1">
                <a:solidFill>
                  <a:srgbClr val="4070A0"/>
                </a:solidFill>
                <a:latin typeface="Courier"/>
              </a:rPr>
              <a:t>val_mse</a:t>
            </a:r>
            <a:r>
              <a:rPr>
                <a:solidFill>
                  <a:srgbClr val="4070A0"/>
                </a:solidFill>
                <a:latin typeface="Courier"/>
              </a:rPr>
              <a:t>"</a:t>
            </a:r>
            <a:r>
              <a:rPr>
                <a:latin typeface="Courier"/>
              </a:rPr>
              <a:t>].</a:t>
            </a:r>
            <a:r>
              <a:rPr err="1">
                <a:latin typeface="Courier"/>
              </a:rPr>
              <a:t>idxmin</a:t>
            </a:r>
            <a:r>
              <a:rPr>
                <a:latin typeface="Courier"/>
              </a:rPr>
              <a:t>()]</a:t>
            </a:r>
            <a:br>
              <a:rPr/>
            </a:br>
            <a:r>
              <a:rPr>
                <a:latin typeface="Courier"/>
              </a:rPr>
              <a:t>    </a:t>
            </a:r>
            <a:r>
              <a:rPr err="1">
                <a:latin typeface="Courier"/>
              </a:rPr>
              <a:t>best_k</a:t>
            </a:r>
            <a:r>
              <a:rPr>
                <a:latin typeface="Courier"/>
              </a:rPr>
              <a:t> </a:t>
            </a:r>
            <a:r>
              <a:rPr>
                <a:solidFill>
                  <a:srgbClr val="666666"/>
                </a:solidFill>
                <a:latin typeface="Courier"/>
              </a:rPr>
              <a:t>=</a:t>
            </a:r>
            <a:r>
              <a:rPr>
                <a:latin typeface="Courier"/>
              </a:rPr>
              <a:t> </a:t>
            </a:r>
            <a:r>
              <a:rPr>
                <a:solidFill>
                  <a:srgbClr val="008000"/>
                </a:solidFill>
                <a:latin typeface="Courier"/>
              </a:rPr>
              <a:t>int</a:t>
            </a:r>
            <a:r>
              <a:rPr>
                <a:latin typeface="Courier"/>
              </a:rPr>
              <a:t>(</a:t>
            </a:r>
            <a:r>
              <a:rPr err="1">
                <a:latin typeface="Courier"/>
              </a:rPr>
              <a:t>best_row</a:t>
            </a:r>
            <a:r>
              <a:rPr>
                <a:latin typeface="Courier"/>
              </a:rPr>
              <a:t>[</a:t>
            </a:r>
            <a:r>
              <a:rPr>
                <a:solidFill>
                  <a:srgbClr val="4070A0"/>
                </a:solidFill>
                <a:latin typeface="Courier"/>
              </a:rPr>
              <a:t>"k"</a:t>
            </a:r>
            <a:r>
              <a:rPr>
                <a:latin typeface="Courier"/>
              </a:rPr>
              <a:t>])</a:t>
            </a:r>
            <a:br>
              <a:rPr/>
            </a:br>
            <a:r>
              <a:rPr>
                <a:latin typeface="Courier"/>
              </a:rPr>
              <a:t>    </a:t>
            </a:r>
            <a:r>
              <a:rPr err="1">
                <a:latin typeface="Courier"/>
              </a:rPr>
              <a:t>best_w</a:t>
            </a:r>
            <a:r>
              <a:rPr>
                <a:latin typeface="Courier"/>
              </a:rPr>
              <a:t> </a:t>
            </a:r>
            <a:r>
              <a:rPr>
                <a:solidFill>
                  <a:srgbClr val="666666"/>
                </a:solidFill>
                <a:latin typeface="Courier"/>
              </a:rPr>
              <a:t>=</a:t>
            </a:r>
            <a:r>
              <a:rPr>
                <a:latin typeface="Courier"/>
              </a:rPr>
              <a:t> </a:t>
            </a:r>
            <a:r>
              <a:rPr>
                <a:solidFill>
                  <a:srgbClr val="008000"/>
                </a:solidFill>
                <a:latin typeface="Courier"/>
              </a:rPr>
              <a:t>float</a:t>
            </a:r>
            <a:r>
              <a:rPr>
                <a:latin typeface="Courier"/>
              </a:rPr>
              <a:t>(</a:t>
            </a:r>
            <a:r>
              <a:rPr err="1">
                <a:latin typeface="Courier"/>
              </a:rPr>
              <a:t>best_row</a:t>
            </a:r>
            <a:r>
              <a:rPr>
                <a:latin typeface="Courier"/>
              </a:rPr>
              <a:t>[</a:t>
            </a:r>
            <a:r>
              <a:rPr>
                <a:solidFill>
                  <a:srgbClr val="4070A0"/>
                </a:solidFill>
                <a:latin typeface="Courier"/>
              </a:rPr>
              <a:t>"w"</a:t>
            </a:r>
            <a:r>
              <a:rPr>
                <a:latin typeface="Courier"/>
              </a:rPr>
              <a:t>])</a:t>
            </a:r>
            <a:br>
              <a:rPr/>
            </a:br>
            <a:r>
              <a:rPr>
                <a:latin typeface="Courier"/>
              </a:rPr>
              <a:t>    </a:t>
            </a:r>
            <a:r>
              <a:rPr b="1">
                <a:solidFill>
                  <a:srgbClr val="007020"/>
                </a:solidFill>
                <a:latin typeface="Courier"/>
              </a:rPr>
              <a:t>return</a:t>
            </a:r>
            <a:r>
              <a:rPr>
                <a:latin typeface="Courier"/>
              </a:rPr>
              <a:t> </a:t>
            </a:r>
            <a:r>
              <a:rPr err="1">
                <a:latin typeface="Courier"/>
              </a:rPr>
              <a:t>best_k</a:t>
            </a:r>
            <a:r>
              <a:rPr>
                <a:latin typeface="Courier"/>
              </a:rPr>
              <a:t>, </a:t>
            </a:r>
            <a:r>
              <a:rPr err="1">
                <a:latin typeface="Courier"/>
              </a:rPr>
              <a:t>best_w</a:t>
            </a:r>
            <a:r>
              <a:rPr>
                <a:latin typeface="Courier"/>
              </a:rPr>
              <a:t>, </a:t>
            </a:r>
            <a:r>
              <a:rPr err="1">
                <a:latin typeface="Courier"/>
              </a:rPr>
              <a:t>results_df</a:t>
            </a:r>
            <a:endParaRPr>
              <a:latin typeface="Courier"/>
            </a:endParaRPr>
          </a:p>
        </p:txBody>
      </p:sp>
      <p:sp>
        <p:nvSpPr>
          <p:cNvPr id="4" name="TextBox 3">
            <a:extLst>
              <a:ext uri="{FF2B5EF4-FFF2-40B4-BE49-F238E27FC236}">
                <a16:creationId xmlns:a16="http://schemas.microsoft.com/office/drawing/2014/main" id="{E9D05D33-704C-E46F-6F59-EE4635A23720}"/>
              </a:ext>
            </a:extLst>
          </p:cNvPr>
          <p:cNvSpPr txBox="1"/>
          <p:nvPr/>
        </p:nvSpPr>
        <p:spPr>
          <a:xfrm>
            <a:off x="1453844" y="1418370"/>
            <a:ext cx="9284313" cy="1405256"/>
          </a:xfrm>
          <a:prstGeom prst="rect">
            <a:avLst/>
          </a:prstGeom>
          <a:noFill/>
        </p:spPr>
        <p:txBody>
          <a:bodyPr wrap="square" rtlCol="0">
            <a:spAutoFit/>
          </a:bodyPr>
          <a:lstStyle/>
          <a:p>
            <a:r>
              <a:rPr lang="en-US" sz="2133"/>
              <a:t>This function tunes our </a:t>
            </a:r>
            <a:r>
              <a:rPr lang="en-US" sz="2133" err="1"/>
              <a:t>knn</a:t>
            </a:r>
            <a:r>
              <a:rPr lang="en-US" sz="2133"/>
              <a:t> model parameters, k and w. They describe the number of neighbors gathered by the model and the distance weights, respectively. This function specifically parses through each possible pair given some pair of lists provided, and finds the best set.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Error Metric (RMSE)</a:t>
            </a:r>
          </a:p>
        </p:txBody>
      </p:sp>
      <p:sp>
        <p:nvSpPr>
          <p:cNvPr id="3" name="Content Placeholder 2"/>
          <p:cNvSpPr>
            <a:spLocks noGrp="1"/>
          </p:cNvSpPr>
          <p:nvPr>
            <p:ph idx="1"/>
          </p:nvPr>
        </p:nvSpPr>
        <p:spPr>
          <a:xfrm>
            <a:off x="741948" y="1756613"/>
            <a:ext cx="10708105" cy="1672388"/>
          </a:xfrm>
        </p:spPr>
        <p:txBody>
          <a:bodyPr>
            <a:normAutofit fontScale="92500" lnSpcReduction="20000"/>
          </a:bodyPr>
          <a:lstStyle/>
          <a:p>
            <a:pPr indent="0">
              <a:buNone/>
            </a:pPr>
            <a:r>
              <a:rPr b="1">
                <a:solidFill>
                  <a:srgbClr val="007020"/>
                </a:solidFill>
                <a:latin typeface="Courier"/>
              </a:rPr>
              <a:t>def</a:t>
            </a:r>
            <a:r>
              <a:rPr>
                <a:latin typeface="Courier"/>
              </a:rPr>
              <a:t> </a:t>
            </a:r>
            <a:r>
              <a:rPr err="1">
                <a:latin typeface="Courier"/>
              </a:rPr>
              <a:t>rmse</a:t>
            </a:r>
            <a:r>
              <a:rPr>
                <a:latin typeface="Courier"/>
              </a:rPr>
              <a:t>(</a:t>
            </a:r>
            <a:r>
              <a:rPr err="1">
                <a:latin typeface="Courier"/>
              </a:rPr>
              <a:t>y_true</a:t>
            </a:r>
            <a:r>
              <a:rPr>
                <a:latin typeface="Courier"/>
              </a:rPr>
              <a:t>, </a:t>
            </a:r>
            <a:r>
              <a:rPr err="1">
                <a:latin typeface="Courier"/>
              </a:rPr>
              <a:t>y_pred</a:t>
            </a:r>
            <a:r>
              <a:rPr>
                <a:latin typeface="Courier"/>
              </a:rPr>
              <a:t>):</a:t>
            </a:r>
            <a:br>
              <a:rPr/>
            </a:br>
            <a:r>
              <a:rPr>
                <a:latin typeface="Courier"/>
              </a:rPr>
              <a:t>    </a:t>
            </a:r>
            <a:r>
              <a:rPr err="1">
                <a:latin typeface="Courier"/>
              </a:rPr>
              <a:t>y_true</a:t>
            </a:r>
            <a:r>
              <a:rPr>
                <a:latin typeface="Courier"/>
              </a:rPr>
              <a:t> </a:t>
            </a:r>
            <a:r>
              <a:rPr>
                <a:solidFill>
                  <a:srgbClr val="666666"/>
                </a:solidFill>
                <a:latin typeface="Courier"/>
              </a:rPr>
              <a:t>=</a:t>
            </a:r>
            <a:r>
              <a:rPr>
                <a:latin typeface="Courier"/>
              </a:rPr>
              <a:t> </a:t>
            </a:r>
            <a:r>
              <a:rPr err="1">
                <a:latin typeface="Courier"/>
              </a:rPr>
              <a:t>np.asarray</a:t>
            </a:r>
            <a:r>
              <a:rPr>
                <a:latin typeface="Courier"/>
              </a:rPr>
              <a:t>(</a:t>
            </a:r>
            <a:r>
              <a:rPr err="1">
                <a:latin typeface="Courier"/>
              </a:rPr>
              <a:t>y_true</a:t>
            </a:r>
            <a:r>
              <a:rPr>
                <a:latin typeface="Courier"/>
              </a:rPr>
              <a:t>, </a:t>
            </a:r>
            <a:r>
              <a:rPr err="1">
                <a:latin typeface="Courier"/>
              </a:rPr>
              <a:t>dtype</a:t>
            </a:r>
            <a:r>
              <a:rPr>
                <a:solidFill>
                  <a:srgbClr val="666666"/>
                </a:solidFill>
                <a:latin typeface="Courier"/>
              </a:rPr>
              <a:t>=</a:t>
            </a:r>
            <a:r>
              <a:rPr>
                <a:solidFill>
                  <a:srgbClr val="008000"/>
                </a:solidFill>
                <a:latin typeface="Courier"/>
              </a:rPr>
              <a:t>float</a:t>
            </a:r>
            <a:r>
              <a:rPr>
                <a:latin typeface="Courier"/>
              </a:rPr>
              <a:t>)</a:t>
            </a:r>
            <a:br>
              <a:rPr/>
            </a:br>
            <a:r>
              <a:rPr>
                <a:latin typeface="Courier"/>
              </a:rPr>
              <a:t>    </a:t>
            </a:r>
            <a:r>
              <a:rPr err="1">
                <a:latin typeface="Courier"/>
              </a:rPr>
              <a:t>y_pred</a:t>
            </a:r>
            <a:r>
              <a:rPr>
                <a:latin typeface="Courier"/>
              </a:rPr>
              <a:t> </a:t>
            </a:r>
            <a:r>
              <a:rPr>
                <a:solidFill>
                  <a:srgbClr val="666666"/>
                </a:solidFill>
                <a:latin typeface="Courier"/>
              </a:rPr>
              <a:t>=</a:t>
            </a:r>
            <a:r>
              <a:rPr>
                <a:latin typeface="Courier"/>
              </a:rPr>
              <a:t> </a:t>
            </a:r>
            <a:r>
              <a:rPr err="1">
                <a:latin typeface="Courier"/>
              </a:rPr>
              <a:t>np.asarray</a:t>
            </a:r>
            <a:r>
              <a:rPr>
                <a:latin typeface="Courier"/>
              </a:rPr>
              <a:t>(</a:t>
            </a:r>
            <a:r>
              <a:rPr err="1">
                <a:latin typeface="Courier"/>
              </a:rPr>
              <a:t>y_pred</a:t>
            </a:r>
            <a:r>
              <a:rPr>
                <a:latin typeface="Courier"/>
              </a:rPr>
              <a:t>, </a:t>
            </a:r>
            <a:r>
              <a:rPr err="1">
                <a:latin typeface="Courier"/>
              </a:rPr>
              <a:t>dtype</a:t>
            </a:r>
            <a:r>
              <a:rPr>
                <a:solidFill>
                  <a:srgbClr val="666666"/>
                </a:solidFill>
                <a:latin typeface="Courier"/>
              </a:rPr>
              <a:t>=</a:t>
            </a:r>
            <a:r>
              <a:rPr>
                <a:solidFill>
                  <a:srgbClr val="008000"/>
                </a:solidFill>
                <a:latin typeface="Courier"/>
              </a:rPr>
              <a:t>float</a:t>
            </a:r>
            <a:r>
              <a:rPr>
                <a:latin typeface="Courier"/>
              </a:rPr>
              <a:t>)</a:t>
            </a:r>
            <a:br>
              <a:rPr/>
            </a:br>
            <a:r>
              <a:rPr>
                <a:latin typeface="Courier"/>
              </a:rPr>
              <a:t>    </a:t>
            </a:r>
            <a:r>
              <a:rPr b="1">
                <a:solidFill>
                  <a:srgbClr val="007020"/>
                </a:solidFill>
                <a:latin typeface="Courier"/>
              </a:rPr>
              <a:t>return</a:t>
            </a:r>
            <a:r>
              <a:rPr>
                <a:latin typeface="Courier"/>
              </a:rPr>
              <a:t> </a:t>
            </a:r>
            <a:r>
              <a:rPr>
                <a:solidFill>
                  <a:srgbClr val="008000"/>
                </a:solidFill>
                <a:latin typeface="Courier"/>
              </a:rPr>
              <a:t>float</a:t>
            </a:r>
            <a:r>
              <a:rPr>
                <a:latin typeface="Courier"/>
              </a:rPr>
              <a:t>(</a:t>
            </a:r>
            <a:r>
              <a:rPr err="1">
                <a:latin typeface="Courier"/>
              </a:rPr>
              <a:t>np.mean</a:t>
            </a:r>
            <a:r>
              <a:rPr>
                <a:latin typeface="Courier"/>
              </a:rPr>
              <a:t>((</a:t>
            </a:r>
            <a:r>
              <a:rPr err="1">
                <a:latin typeface="Courier"/>
              </a:rPr>
              <a:t>y_true</a:t>
            </a:r>
            <a:r>
              <a:rPr>
                <a:latin typeface="Courier"/>
              </a:rPr>
              <a:t> </a:t>
            </a:r>
            <a:r>
              <a:rPr>
                <a:solidFill>
                  <a:srgbClr val="666666"/>
                </a:solidFill>
                <a:latin typeface="Courier"/>
              </a:rPr>
              <a:t>-</a:t>
            </a:r>
            <a:r>
              <a:rPr>
                <a:latin typeface="Courier"/>
              </a:rPr>
              <a:t> </a:t>
            </a:r>
            <a:r>
              <a:rPr err="1">
                <a:latin typeface="Courier"/>
              </a:rPr>
              <a:t>y_pred</a:t>
            </a:r>
            <a:r>
              <a:rPr>
                <a:latin typeface="Courier"/>
              </a:rPr>
              <a:t>) </a:t>
            </a:r>
            <a:r>
              <a:rPr>
                <a:solidFill>
                  <a:srgbClr val="666666"/>
                </a:solidFill>
                <a:latin typeface="Courier"/>
              </a:rPr>
              <a:t>**</a:t>
            </a:r>
            <a:r>
              <a:rPr>
                <a:latin typeface="Courier"/>
              </a:rPr>
              <a:t> </a:t>
            </a:r>
            <a:r>
              <a:rPr>
                <a:solidFill>
                  <a:srgbClr val="40A070"/>
                </a:solidFill>
                <a:latin typeface="Courier"/>
              </a:rPr>
              <a:t>2</a:t>
            </a:r>
            <a:r>
              <a:rPr>
                <a:latin typeface="Courier"/>
              </a:rPr>
              <a:t>)</a:t>
            </a:r>
            <a:r>
              <a:rPr>
                <a:solidFill>
                  <a:srgbClr val="666666"/>
                </a:solidFill>
                <a:latin typeface="Courier"/>
              </a:rPr>
              <a:t>**</a:t>
            </a:r>
            <a:r>
              <a:rPr>
                <a:latin typeface="Courier"/>
              </a:rPr>
              <a:t>(</a:t>
            </a:r>
            <a:r>
              <a:rPr>
                <a:solidFill>
                  <a:srgbClr val="40A070"/>
                </a:solidFill>
                <a:latin typeface="Courier"/>
              </a:rPr>
              <a:t>1</a:t>
            </a:r>
            <a:r>
              <a:rPr>
                <a:solidFill>
                  <a:srgbClr val="666666"/>
                </a:solidFill>
                <a:latin typeface="Courier"/>
              </a:rPr>
              <a:t>/</a:t>
            </a:r>
            <a:r>
              <a:rPr>
                <a:solidFill>
                  <a:srgbClr val="40A070"/>
                </a:solidFill>
                <a:latin typeface="Courier"/>
              </a:rPr>
              <a:t>2</a:t>
            </a:r>
            <a:r>
              <a:rPr>
                <a:latin typeface="Courier"/>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Putting It All Together</a:t>
            </a:r>
          </a:p>
        </p:txBody>
      </p:sp>
      <p:sp>
        <p:nvSpPr>
          <p:cNvPr id="3" name="Content Placeholder 2"/>
          <p:cNvSpPr>
            <a:spLocks noGrp="1"/>
          </p:cNvSpPr>
          <p:nvPr>
            <p:ph idx="1"/>
          </p:nvPr>
        </p:nvSpPr>
        <p:spPr>
          <a:xfrm>
            <a:off x="2606842" y="1417639"/>
            <a:ext cx="6978316" cy="5073315"/>
          </a:xfrm>
        </p:spPr>
        <p:txBody>
          <a:bodyPr>
            <a:noAutofit/>
          </a:bodyPr>
          <a:lstStyle/>
          <a:p>
            <a:pPr indent="0">
              <a:buNone/>
            </a:pPr>
            <a:r>
              <a:rPr sz="933" b="1">
                <a:solidFill>
                  <a:srgbClr val="007020"/>
                </a:solidFill>
                <a:latin typeface="Courier"/>
              </a:rPr>
              <a:t>def</a:t>
            </a:r>
            <a:r>
              <a:rPr sz="933">
                <a:latin typeface="Courier"/>
              </a:rPr>
              <a:t> main():</a:t>
            </a:r>
            <a:br>
              <a:rPr sz="933"/>
            </a:br>
            <a:r>
              <a:rPr sz="933">
                <a:latin typeface="Courier"/>
              </a:rPr>
              <a:t>    </a:t>
            </a:r>
            <a:r>
              <a:rPr sz="933" err="1">
                <a:latin typeface="Courier"/>
              </a:rPr>
              <a:t>train_df</a:t>
            </a:r>
            <a:r>
              <a:rPr sz="933">
                <a:latin typeface="Courier"/>
              </a:rPr>
              <a:t> </a:t>
            </a:r>
            <a:r>
              <a:rPr sz="933">
                <a:solidFill>
                  <a:srgbClr val="666666"/>
                </a:solidFill>
                <a:latin typeface="Courier"/>
              </a:rPr>
              <a:t>=</a:t>
            </a:r>
            <a:r>
              <a:rPr sz="933">
                <a:latin typeface="Courier"/>
              </a:rPr>
              <a:t> </a:t>
            </a:r>
            <a:r>
              <a:rPr sz="933" err="1">
                <a:latin typeface="Courier"/>
              </a:rPr>
              <a:t>pd.read_csv</a:t>
            </a:r>
            <a:r>
              <a:rPr sz="933">
                <a:latin typeface="Courier"/>
              </a:rPr>
              <a:t>(TRAIN_CSV)</a:t>
            </a:r>
            <a:br>
              <a:rPr sz="933"/>
            </a:br>
            <a:r>
              <a:rPr sz="933">
                <a:latin typeface="Courier"/>
              </a:rPr>
              <a:t>    </a:t>
            </a:r>
            <a:r>
              <a:rPr sz="933" err="1">
                <a:latin typeface="Courier"/>
              </a:rPr>
              <a:t>val_df</a:t>
            </a:r>
            <a:r>
              <a:rPr sz="933">
                <a:latin typeface="Courier"/>
              </a:rPr>
              <a:t>   </a:t>
            </a:r>
            <a:r>
              <a:rPr sz="933">
                <a:solidFill>
                  <a:srgbClr val="666666"/>
                </a:solidFill>
                <a:latin typeface="Courier"/>
              </a:rPr>
              <a:t>=</a:t>
            </a:r>
            <a:r>
              <a:rPr sz="933">
                <a:latin typeface="Courier"/>
              </a:rPr>
              <a:t> </a:t>
            </a:r>
            <a:r>
              <a:rPr sz="933" err="1">
                <a:latin typeface="Courier"/>
              </a:rPr>
              <a:t>pd.read_csv</a:t>
            </a:r>
            <a:r>
              <a:rPr sz="933">
                <a:latin typeface="Courier"/>
              </a:rPr>
              <a:t>(VAL_CSV)</a:t>
            </a:r>
            <a:br>
              <a:rPr sz="933"/>
            </a:br>
            <a:r>
              <a:rPr sz="933">
                <a:latin typeface="Courier"/>
              </a:rPr>
              <a:t>    </a:t>
            </a:r>
            <a:r>
              <a:rPr sz="933" err="1">
                <a:latin typeface="Courier"/>
              </a:rPr>
              <a:t>test_df</a:t>
            </a:r>
            <a:r>
              <a:rPr sz="933">
                <a:latin typeface="Courier"/>
              </a:rPr>
              <a:t>  </a:t>
            </a:r>
            <a:r>
              <a:rPr sz="933">
                <a:solidFill>
                  <a:srgbClr val="666666"/>
                </a:solidFill>
                <a:latin typeface="Courier"/>
              </a:rPr>
              <a:t>=</a:t>
            </a:r>
            <a:r>
              <a:rPr sz="933">
                <a:latin typeface="Courier"/>
              </a:rPr>
              <a:t> </a:t>
            </a:r>
            <a:r>
              <a:rPr sz="933" err="1">
                <a:latin typeface="Courier"/>
              </a:rPr>
              <a:t>pd.read_csv</a:t>
            </a:r>
            <a:r>
              <a:rPr sz="933">
                <a:latin typeface="Courier"/>
              </a:rPr>
              <a:t>(TEST_CSV)</a:t>
            </a:r>
            <a:br>
              <a:rPr sz="933"/>
            </a:br>
            <a:br>
              <a:rPr sz="933"/>
            </a:br>
            <a:r>
              <a:rPr sz="933">
                <a:latin typeface="Courier"/>
              </a:rPr>
              <a:t>    </a:t>
            </a:r>
            <a:r>
              <a:rPr sz="933" err="1">
                <a:latin typeface="Courier"/>
              </a:rPr>
              <a:t>required_cols</a:t>
            </a:r>
            <a:r>
              <a:rPr sz="933">
                <a:latin typeface="Courier"/>
              </a:rPr>
              <a:t> </a:t>
            </a:r>
            <a:r>
              <a:rPr sz="933">
                <a:solidFill>
                  <a:srgbClr val="666666"/>
                </a:solidFill>
                <a:latin typeface="Courier"/>
              </a:rPr>
              <a:t>=</a:t>
            </a:r>
            <a:r>
              <a:rPr sz="933">
                <a:latin typeface="Courier"/>
              </a:rPr>
              <a:t> {</a:t>
            </a:r>
            <a:r>
              <a:rPr sz="933">
                <a:solidFill>
                  <a:srgbClr val="4070A0"/>
                </a:solidFill>
                <a:latin typeface="Courier"/>
              </a:rPr>
              <a:t>"SPCD"</a:t>
            </a:r>
            <a:r>
              <a:rPr sz="933">
                <a:latin typeface="Courier"/>
              </a:rPr>
              <a:t>, </a:t>
            </a:r>
            <a:r>
              <a:rPr sz="933">
                <a:solidFill>
                  <a:srgbClr val="4070A0"/>
                </a:solidFill>
                <a:latin typeface="Courier"/>
              </a:rPr>
              <a:t>"DO_BH"</a:t>
            </a:r>
            <a:r>
              <a:rPr sz="933">
                <a:latin typeface="Courier"/>
              </a:rPr>
              <a:t>, </a:t>
            </a:r>
            <a:r>
              <a:rPr sz="933">
                <a:solidFill>
                  <a:srgbClr val="4070A0"/>
                </a:solidFill>
                <a:latin typeface="Courier"/>
              </a:rPr>
              <a:t>"HT_TOT"</a:t>
            </a:r>
            <a:r>
              <a:rPr sz="933">
                <a:latin typeface="Courier"/>
              </a:rPr>
              <a:t>, </a:t>
            </a:r>
            <a:r>
              <a:rPr sz="933">
                <a:solidFill>
                  <a:srgbClr val="4070A0"/>
                </a:solidFill>
                <a:latin typeface="Courier"/>
              </a:rPr>
              <a:t>"TT_DW_CRM"</a:t>
            </a:r>
            <a:r>
              <a:rPr sz="933">
                <a:latin typeface="Courier"/>
              </a:rPr>
              <a:t>}</a:t>
            </a:r>
            <a:br>
              <a:rPr sz="933"/>
            </a:br>
            <a:r>
              <a:rPr sz="933">
                <a:latin typeface="Courier"/>
              </a:rPr>
              <a:t>    </a:t>
            </a:r>
            <a:r>
              <a:rPr sz="933" b="1">
                <a:solidFill>
                  <a:srgbClr val="007020"/>
                </a:solidFill>
                <a:latin typeface="Courier"/>
              </a:rPr>
              <a:t>for</a:t>
            </a:r>
            <a:r>
              <a:rPr sz="933">
                <a:latin typeface="Courier"/>
              </a:rPr>
              <a:t> name, </a:t>
            </a:r>
            <a:r>
              <a:rPr sz="933" err="1">
                <a:latin typeface="Courier"/>
              </a:rPr>
              <a:t>df</a:t>
            </a:r>
            <a:r>
              <a:rPr sz="933">
                <a:latin typeface="Courier"/>
              </a:rPr>
              <a:t> </a:t>
            </a:r>
            <a:r>
              <a:rPr sz="933" b="1">
                <a:solidFill>
                  <a:srgbClr val="007020"/>
                </a:solidFill>
                <a:latin typeface="Courier"/>
              </a:rPr>
              <a:t>in</a:t>
            </a:r>
            <a:r>
              <a:rPr sz="933">
                <a:latin typeface="Courier"/>
              </a:rPr>
              <a:t> [(</a:t>
            </a:r>
            <a:r>
              <a:rPr sz="933">
                <a:solidFill>
                  <a:srgbClr val="4070A0"/>
                </a:solidFill>
                <a:latin typeface="Courier"/>
              </a:rPr>
              <a:t>"train"</a:t>
            </a:r>
            <a:r>
              <a:rPr sz="933">
                <a:latin typeface="Courier"/>
              </a:rPr>
              <a:t>, </a:t>
            </a:r>
            <a:r>
              <a:rPr sz="933" err="1">
                <a:latin typeface="Courier"/>
              </a:rPr>
              <a:t>train_df</a:t>
            </a:r>
            <a:r>
              <a:rPr sz="933">
                <a:latin typeface="Courier"/>
              </a:rPr>
              <a:t>), (</a:t>
            </a:r>
            <a:r>
              <a:rPr sz="933">
                <a:solidFill>
                  <a:srgbClr val="4070A0"/>
                </a:solidFill>
                <a:latin typeface="Courier"/>
              </a:rPr>
              <a:t>"</a:t>
            </a:r>
            <a:r>
              <a:rPr sz="933" err="1">
                <a:solidFill>
                  <a:srgbClr val="4070A0"/>
                </a:solidFill>
                <a:latin typeface="Courier"/>
              </a:rPr>
              <a:t>val</a:t>
            </a:r>
            <a:r>
              <a:rPr sz="933">
                <a:solidFill>
                  <a:srgbClr val="4070A0"/>
                </a:solidFill>
                <a:latin typeface="Courier"/>
              </a:rPr>
              <a:t>"</a:t>
            </a:r>
            <a:r>
              <a:rPr sz="933">
                <a:latin typeface="Courier"/>
              </a:rPr>
              <a:t>, </a:t>
            </a:r>
            <a:r>
              <a:rPr sz="933" err="1">
                <a:latin typeface="Courier"/>
              </a:rPr>
              <a:t>val_df</a:t>
            </a:r>
            <a:r>
              <a:rPr sz="933">
                <a:latin typeface="Courier"/>
              </a:rPr>
              <a:t>), (</a:t>
            </a:r>
            <a:r>
              <a:rPr sz="933">
                <a:solidFill>
                  <a:srgbClr val="4070A0"/>
                </a:solidFill>
                <a:latin typeface="Courier"/>
              </a:rPr>
              <a:t>"test"</a:t>
            </a:r>
            <a:r>
              <a:rPr sz="933">
                <a:latin typeface="Courier"/>
              </a:rPr>
              <a:t>, </a:t>
            </a:r>
            <a:r>
              <a:rPr sz="933" err="1">
                <a:latin typeface="Courier"/>
              </a:rPr>
              <a:t>test_df</a:t>
            </a:r>
            <a:r>
              <a:rPr sz="933">
                <a:latin typeface="Courier"/>
              </a:rPr>
              <a:t>)]:</a:t>
            </a:r>
            <a:br>
              <a:rPr sz="933"/>
            </a:br>
            <a:r>
              <a:rPr sz="933">
                <a:latin typeface="Courier"/>
              </a:rPr>
              <a:t>        missing </a:t>
            </a:r>
            <a:r>
              <a:rPr sz="933">
                <a:solidFill>
                  <a:srgbClr val="666666"/>
                </a:solidFill>
                <a:latin typeface="Courier"/>
              </a:rPr>
              <a:t>=</a:t>
            </a:r>
            <a:r>
              <a:rPr sz="933">
                <a:latin typeface="Courier"/>
              </a:rPr>
              <a:t> </a:t>
            </a:r>
            <a:r>
              <a:rPr sz="933" err="1">
                <a:latin typeface="Courier"/>
              </a:rPr>
              <a:t>required_cols.difference</a:t>
            </a:r>
            <a:r>
              <a:rPr sz="933">
                <a:latin typeface="Courier"/>
              </a:rPr>
              <a:t>(</a:t>
            </a:r>
            <a:r>
              <a:rPr sz="933" err="1">
                <a:latin typeface="Courier"/>
              </a:rPr>
              <a:t>df.columns</a:t>
            </a:r>
            <a:r>
              <a:rPr sz="933">
                <a:latin typeface="Courier"/>
              </a:rPr>
              <a:t>)</a:t>
            </a:r>
            <a:br>
              <a:rPr sz="933"/>
            </a:br>
            <a:r>
              <a:rPr sz="933">
                <a:latin typeface="Courier"/>
              </a:rPr>
              <a:t>        </a:t>
            </a:r>
            <a:r>
              <a:rPr sz="933" b="1">
                <a:solidFill>
                  <a:srgbClr val="007020"/>
                </a:solidFill>
                <a:latin typeface="Courier"/>
              </a:rPr>
              <a:t>if</a:t>
            </a:r>
            <a:r>
              <a:rPr sz="933">
                <a:latin typeface="Courier"/>
              </a:rPr>
              <a:t> missing:</a:t>
            </a:r>
            <a:br>
              <a:rPr sz="933"/>
            </a:br>
            <a:r>
              <a:rPr sz="933">
                <a:latin typeface="Courier"/>
              </a:rPr>
              <a:t>            </a:t>
            </a:r>
            <a:r>
              <a:rPr sz="933" b="1">
                <a:solidFill>
                  <a:srgbClr val="007020"/>
                </a:solidFill>
                <a:latin typeface="Courier"/>
              </a:rPr>
              <a:t>raise</a:t>
            </a:r>
            <a:r>
              <a:rPr sz="933">
                <a:latin typeface="Courier"/>
              </a:rPr>
              <a:t> </a:t>
            </a:r>
            <a:r>
              <a:rPr sz="933" err="1">
                <a:solidFill>
                  <a:srgbClr val="BC7A00"/>
                </a:solidFill>
                <a:latin typeface="Courier"/>
              </a:rPr>
              <a:t>ValueError</a:t>
            </a:r>
            <a:r>
              <a:rPr sz="933">
                <a:latin typeface="Courier"/>
              </a:rPr>
              <a:t>(</a:t>
            </a:r>
            <a:br>
              <a:rPr sz="933"/>
            </a:br>
            <a:r>
              <a:rPr sz="933">
                <a:latin typeface="Courier"/>
              </a:rPr>
              <a:t>                </a:t>
            </a:r>
            <a:r>
              <a:rPr sz="933">
                <a:solidFill>
                  <a:srgbClr val="BB6688"/>
                </a:solidFill>
                <a:latin typeface="Courier"/>
              </a:rPr>
              <a:t>f"</a:t>
            </a:r>
            <a:r>
              <a:rPr sz="933">
                <a:solidFill>
                  <a:srgbClr val="4070A0"/>
                </a:solidFill>
                <a:latin typeface="Courier"/>
              </a:rPr>
              <a:t>{</a:t>
            </a:r>
            <a:r>
              <a:rPr sz="933">
                <a:latin typeface="Courier"/>
              </a:rPr>
              <a:t>name</a:t>
            </a:r>
            <a:r>
              <a:rPr sz="933">
                <a:solidFill>
                  <a:srgbClr val="4070A0"/>
                </a:solidFill>
                <a:latin typeface="Courier"/>
              </a:rPr>
              <a:t>}</a:t>
            </a:r>
            <a:r>
              <a:rPr sz="933">
                <a:solidFill>
                  <a:srgbClr val="BB6688"/>
                </a:solidFill>
                <a:latin typeface="Courier"/>
              </a:rPr>
              <a:t> dataset is missing columns: </a:t>
            </a:r>
            <a:r>
              <a:rPr sz="933">
                <a:solidFill>
                  <a:srgbClr val="4070A0"/>
                </a:solidFill>
                <a:latin typeface="Courier"/>
              </a:rPr>
              <a:t>{</a:t>
            </a:r>
            <a:r>
              <a:rPr sz="933">
                <a:solidFill>
                  <a:srgbClr val="008000"/>
                </a:solidFill>
                <a:latin typeface="Courier"/>
              </a:rPr>
              <a:t>sorted</a:t>
            </a:r>
            <a:r>
              <a:rPr sz="933">
                <a:latin typeface="Courier"/>
              </a:rPr>
              <a:t>(missing)</a:t>
            </a:r>
            <a:r>
              <a:rPr sz="933">
                <a:solidFill>
                  <a:srgbClr val="4070A0"/>
                </a:solidFill>
                <a:latin typeface="Courier"/>
              </a:rPr>
              <a:t>}</a:t>
            </a:r>
            <a:r>
              <a:rPr sz="933">
                <a:solidFill>
                  <a:srgbClr val="BB6688"/>
                </a:solidFill>
                <a:latin typeface="Courier"/>
              </a:rPr>
              <a:t>"</a:t>
            </a:r>
            <a:br>
              <a:rPr sz="933"/>
            </a:br>
            <a:r>
              <a:rPr sz="933">
                <a:latin typeface="Courier"/>
              </a:rPr>
              <a:t>            )</a:t>
            </a:r>
            <a:br>
              <a:rPr sz="933"/>
            </a:br>
            <a:br>
              <a:rPr sz="933"/>
            </a:br>
            <a:r>
              <a:rPr sz="933">
                <a:latin typeface="Courier"/>
              </a:rPr>
              <a:t>    </a:t>
            </a:r>
            <a:r>
              <a:rPr sz="933">
                <a:solidFill>
                  <a:srgbClr val="008000"/>
                </a:solidFill>
                <a:latin typeface="Courier"/>
              </a:rPr>
              <a:t>print</a:t>
            </a:r>
            <a:r>
              <a:rPr sz="933">
                <a:latin typeface="Courier"/>
              </a:rPr>
              <a:t>(</a:t>
            </a:r>
            <a:r>
              <a:rPr sz="933" err="1">
                <a:solidFill>
                  <a:srgbClr val="BB6688"/>
                </a:solidFill>
                <a:latin typeface="Courier"/>
              </a:rPr>
              <a:t>f"Loaded</a:t>
            </a:r>
            <a:r>
              <a:rPr sz="933">
                <a:solidFill>
                  <a:srgbClr val="BB6688"/>
                </a:solidFill>
                <a:latin typeface="Courier"/>
              </a:rPr>
              <a:t> train: </a:t>
            </a:r>
            <a:r>
              <a:rPr sz="933">
                <a:solidFill>
                  <a:srgbClr val="4070A0"/>
                </a:solidFill>
                <a:latin typeface="Courier"/>
              </a:rPr>
              <a:t>{</a:t>
            </a:r>
            <a:r>
              <a:rPr sz="933" err="1">
                <a:solidFill>
                  <a:srgbClr val="008000"/>
                </a:solidFill>
                <a:latin typeface="Courier"/>
              </a:rPr>
              <a:t>len</a:t>
            </a:r>
            <a:r>
              <a:rPr sz="933">
                <a:latin typeface="Courier"/>
              </a:rPr>
              <a:t>(</a:t>
            </a:r>
            <a:r>
              <a:rPr sz="933" err="1">
                <a:latin typeface="Courier"/>
              </a:rPr>
              <a:t>train_df</a:t>
            </a:r>
            <a:r>
              <a:rPr sz="933">
                <a:latin typeface="Courier"/>
              </a:rPr>
              <a:t>)</a:t>
            </a:r>
            <a:r>
              <a:rPr sz="933">
                <a:solidFill>
                  <a:srgbClr val="4070A0"/>
                </a:solidFill>
                <a:latin typeface="Courier"/>
              </a:rPr>
              <a:t>}</a:t>
            </a:r>
            <a:r>
              <a:rPr sz="933">
                <a:solidFill>
                  <a:srgbClr val="BB6688"/>
                </a:solidFill>
                <a:latin typeface="Courier"/>
              </a:rPr>
              <a:t> rows"</a:t>
            </a:r>
            <a:r>
              <a:rPr sz="933">
                <a:latin typeface="Courier"/>
              </a:rPr>
              <a:t>)</a:t>
            </a:r>
            <a:br>
              <a:rPr sz="933"/>
            </a:br>
            <a:r>
              <a:rPr sz="933">
                <a:latin typeface="Courier"/>
              </a:rPr>
              <a:t>    </a:t>
            </a:r>
            <a:r>
              <a:rPr sz="933">
                <a:solidFill>
                  <a:srgbClr val="008000"/>
                </a:solidFill>
                <a:latin typeface="Courier"/>
              </a:rPr>
              <a:t>print</a:t>
            </a:r>
            <a:r>
              <a:rPr sz="933">
                <a:latin typeface="Courier"/>
              </a:rPr>
              <a:t>(</a:t>
            </a:r>
            <a:r>
              <a:rPr sz="933" err="1">
                <a:solidFill>
                  <a:srgbClr val="BB6688"/>
                </a:solidFill>
                <a:latin typeface="Courier"/>
              </a:rPr>
              <a:t>f"Loaded</a:t>
            </a:r>
            <a:r>
              <a:rPr sz="933">
                <a:solidFill>
                  <a:srgbClr val="BB6688"/>
                </a:solidFill>
                <a:latin typeface="Courier"/>
              </a:rPr>
              <a:t> </a:t>
            </a:r>
            <a:r>
              <a:rPr sz="933" err="1">
                <a:solidFill>
                  <a:srgbClr val="BB6688"/>
                </a:solidFill>
                <a:latin typeface="Courier"/>
              </a:rPr>
              <a:t>val</a:t>
            </a:r>
            <a:r>
              <a:rPr sz="933">
                <a:solidFill>
                  <a:srgbClr val="BB6688"/>
                </a:solidFill>
                <a:latin typeface="Courier"/>
              </a:rPr>
              <a:t>  : </a:t>
            </a:r>
            <a:r>
              <a:rPr sz="933">
                <a:solidFill>
                  <a:srgbClr val="4070A0"/>
                </a:solidFill>
                <a:latin typeface="Courier"/>
              </a:rPr>
              <a:t>{</a:t>
            </a:r>
            <a:r>
              <a:rPr sz="933" err="1">
                <a:solidFill>
                  <a:srgbClr val="008000"/>
                </a:solidFill>
                <a:latin typeface="Courier"/>
              </a:rPr>
              <a:t>len</a:t>
            </a:r>
            <a:r>
              <a:rPr sz="933">
                <a:latin typeface="Courier"/>
              </a:rPr>
              <a:t>(</a:t>
            </a:r>
            <a:r>
              <a:rPr sz="933" err="1">
                <a:latin typeface="Courier"/>
              </a:rPr>
              <a:t>val_df</a:t>
            </a:r>
            <a:r>
              <a:rPr sz="933">
                <a:latin typeface="Courier"/>
              </a:rPr>
              <a:t>)</a:t>
            </a:r>
            <a:r>
              <a:rPr sz="933">
                <a:solidFill>
                  <a:srgbClr val="4070A0"/>
                </a:solidFill>
                <a:latin typeface="Courier"/>
              </a:rPr>
              <a:t>}</a:t>
            </a:r>
            <a:r>
              <a:rPr sz="933">
                <a:solidFill>
                  <a:srgbClr val="BB6688"/>
                </a:solidFill>
                <a:latin typeface="Courier"/>
              </a:rPr>
              <a:t> rows"</a:t>
            </a:r>
            <a:r>
              <a:rPr sz="933">
                <a:latin typeface="Courier"/>
              </a:rPr>
              <a:t>)</a:t>
            </a:r>
            <a:br>
              <a:rPr sz="933"/>
            </a:br>
            <a:r>
              <a:rPr sz="933">
                <a:latin typeface="Courier"/>
              </a:rPr>
              <a:t>    </a:t>
            </a:r>
            <a:r>
              <a:rPr sz="933">
                <a:solidFill>
                  <a:srgbClr val="008000"/>
                </a:solidFill>
                <a:latin typeface="Courier"/>
              </a:rPr>
              <a:t>print</a:t>
            </a:r>
            <a:r>
              <a:rPr sz="933">
                <a:latin typeface="Courier"/>
              </a:rPr>
              <a:t>(</a:t>
            </a:r>
            <a:r>
              <a:rPr sz="933" err="1">
                <a:solidFill>
                  <a:srgbClr val="BB6688"/>
                </a:solidFill>
                <a:latin typeface="Courier"/>
              </a:rPr>
              <a:t>f"Loaded</a:t>
            </a:r>
            <a:r>
              <a:rPr sz="933">
                <a:solidFill>
                  <a:srgbClr val="BB6688"/>
                </a:solidFill>
                <a:latin typeface="Courier"/>
              </a:rPr>
              <a:t> test : </a:t>
            </a:r>
            <a:r>
              <a:rPr sz="933">
                <a:solidFill>
                  <a:srgbClr val="4070A0"/>
                </a:solidFill>
                <a:latin typeface="Courier"/>
              </a:rPr>
              <a:t>{</a:t>
            </a:r>
            <a:r>
              <a:rPr sz="933" err="1">
                <a:solidFill>
                  <a:srgbClr val="008000"/>
                </a:solidFill>
                <a:latin typeface="Courier"/>
              </a:rPr>
              <a:t>len</a:t>
            </a:r>
            <a:r>
              <a:rPr sz="933">
                <a:latin typeface="Courier"/>
              </a:rPr>
              <a:t>(</a:t>
            </a:r>
            <a:r>
              <a:rPr sz="933" err="1">
                <a:latin typeface="Courier"/>
              </a:rPr>
              <a:t>test_df</a:t>
            </a:r>
            <a:r>
              <a:rPr sz="933">
                <a:latin typeface="Courier"/>
              </a:rPr>
              <a:t>)</a:t>
            </a:r>
            <a:r>
              <a:rPr sz="933">
                <a:solidFill>
                  <a:srgbClr val="4070A0"/>
                </a:solidFill>
                <a:latin typeface="Courier"/>
              </a:rPr>
              <a:t>}</a:t>
            </a:r>
            <a:r>
              <a:rPr sz="933">
                <a:solidFill>
                  <a:srgbClr val="BB6688"/>
                </a:solidFill>
                <a:latin typeface="Courier"/>
              </a:rPr>
              <a:t> rows"</a:t>
            </a:r>
            <a:r>
              <a:rPr sz="933">
                <a:latin typeface="Courier"/>
              </a:rPr>
              <a:t>)</a:t>
            </a:r>
            <a:br>
              <a:rPr sz="933"/>
            </a:br>
            <a:br>
              <a:rPr sz="933"/>
            </a:br>
            <a:r>
              <a:rPr sz="933">
                <a:latin typeface="Courier"/>
              </a:rPr>
              <a:t>    </a:t>
            </a:r>
            <a:r>
              <a:rPr sz="933" err="1">
                <a:latin typeface="Courier"/>
              </a:rPr>
              <a:t>k_values</a:t>
            </a:r>
            <a:r>
              <a:rPr sz="933">
                <a:latin typeface="Courier"/>
              </a:rPr>
              <a:t> </a:t>
            </a:r>
            <a:r>
              <a:rPr sz="933">
                <a:solidFill>
                  <a:srgbClr val="666666"/>
                </a:solidFill>
                <a:latin typeface="Courier"/>
              </a:rPr>
              <a:t>=</a:t>
            </a:r>
            <a:r>
              <a:rPr sz="933">
                <a:latin typeface="Courier"/>
              </a:rPr>
              <a:t> </a:t>
            </a:r>
            <a:r>
              <a:rPr sz="933">
                <a:solidFill>
                  <a:srgbClr val="008000"/>
                </a:solidFill>
                <a:latin typeface="Courier"/>
              </a:rPr>
              <a:t>list</a:t>
            </a:r>
            <a:r>
              <a:rPr sz="933">
                <a:latin typeface="Courier"/>
              </a:rPr>
              <a:t>(</a:t>
            </a:r>
            <a:r>
              <a:rPr sz="933">
                <a:solidFill>
                  <a:srgbClr val="008000"/>
                </a:solidFill>
                <a:latin typeface="Courier"/>
              </a:rPr>
              <a:t>range</a:t>
            </a:r>
            <a:r>
              <a:rPr sz="933">
                <a:latin typeface="Courier"/>
              </a:rPr>
              <a:t>(</a:t>
            </a:r>
            <a:r>
              <a:rPr sz="933">
                <a:solidFill>
                  <a:srgbClr val="40A070"/>
                </a:solidFill>
                <a:latin typeface="Courier"/>
              </a:rPr>
              <a:t>1</a:t>
            </a:r>
            <a:r>
              <a:rPr sz="933">
                <a:latin typeface="Courier"/>
              </a:rPr>
              <a:t>, </a:t>
            </a:r>
            <a:r>
              <a:rPr sz="933">
                <a:solidFill>
                  <a:srgbClr val="40A070"/>
                </a:solidFill>
                <a:latin typeface="Courier"/>
              </a:rPr>
              <a:t>20</a:t>
            </a:r>
            <a:r>
              <a:rPr sz="933">
                <a:latin typeface="Courier"/>
              </a:rPr>
              <a:t>, </a:t>
            </a:r>
            <a:r>
              <a:rPr sz="933">
                <a:solidFill>
                  <a:srgbClr val="40A070"/>
                </a:solidFill>
                <a:latin typeface="Courier"/>
              </a:rPr>
              <a:t>2</a:t>
            </a:r>
            <a:r>
              <a:rPr sz="933">
                <a:latin typeface="Courier"/>
              </a:rPr>
              <a:t>))</a:t>
            </a:r>
            <a:br>
              <a:rPr sz="933"/>
            </a:br>
            <a:r>
              <a:rPr sz="933">
                <a:latin typeface="Courier"/>
              </a:rPr>
              <a:t>    </a:t>
            </a:r>
            <a:r>
              <a:rPr sz="933" err="1">
                <a:latin typeface="Courier"/>
              </a:rPr>
              <a:t>w_values</a:t>
            </a:r>
            <a:r>
              <a:rPr sz="933">
                <a:latin typeface="Courier"/>
              </a:rPr>
              <a:t> </a:t>
            </a:r>
            <a:r>
              <a:rPr sz="933">
                <a:solidFill>
                  <a:srgbClr val="666666"/>
                </a:solidFill>
                <a:latin typeface="Courier"/>
              </a:rPr>
              <a:t>=</a:t>
            </a:r>
            <a:r>
              <a:rPr sz="933">
                <a:latin typeface="Courier"/>
              </a:rPr>
              <a:t> [</a:t>
            </a:r>
            <a:r>
              <a:rPr sz="933">
                <a:solidFill>
                  <a:srgbClr val="40A070"/>
                </a:solidFill>
                <a:latin typeface="Courier"/>
              </a:rPr>
              <a:t>0.1</a:t>
            </a:r>
            <a:r>
              <a:rPr sz="933">
                <a:latin typeface="Courier"/>
              </a:rPr>
              <a:t>, </a:t>
            </a:r>
            <a:r>
              <a:rPr sz="933">
                <a:solidFill>
                  <a:srgbClr val="40A070"/>
                </a:solidFill>
                <a:latin typeface="Courier"/>
              </a:rPr>
              <a:t>0.2</a:t>
            </a:r>
            <a:r>
              <a:rPr sz="933">
                <a:latin typeface="Courier"/>
              </a:rPr>
              <a:t>, </a:t>
            </a:r>
            <a:r>
              <a:rPr sz="933">
                <a:solidFill>
                  <a:srgbClr val="40A070"/>
                </a:solidFill>
                <a:latin typeface="Courier"/>
              </a:rPr>
              <a:t>0.3</a:t>
            </a:r>
            <a:r>
              <a:rPr sz="933">
                <a:latin typeface="Courier"/>
              </a:rPr>
              <a:t>, </a:t>
            </a:r>
            <a:r>
              <a:rPr sz="933">
                <a:solidFill>
                  <a:srgbClr val="40A070"/>
                </a:solidFill>
                <a:latin typeface="Courier"/>
              </a:rPr>
              <a:t>0.4</a:t>
            </a:r>
            <a:r>
              <a:rPr sz="933">
                <a:latin typeface="Courier"/>
              </a:rPr>
              <a:t>, </a:t>
            </a:r>
            <a:r>
              <a:rPr sz="933">
                <a:solidFill>
                  <a:srgbClr val="40A070"/>
                </a:solidFill>
                <a:latin typeface="Courier"/>
              </a:rPr>
              <a:t>0.5</a:t>
            </a:r>
            <a:r>
              <a:rPr sz="933">
                <a:latin typeface="Courier"/>
              </a:rPr>
              <a:t>, </a:t>
            </a:r>
            <a:r>
              <a:rPr sz="933">
                <a:solidFill>
                  <a:srgbClr val="40A070"/>
                </a:solidFill>
                <a:latin typeface="Courier"/>
              </a:rPr>
              <a:t>0.6</a:t>
            </a:r>
            <a:r>
              <a:rPr sz="933">
                <a:latin typeface="Courier"/>
              </a:rPr>
              <a:t>, </a:t>
            </a:r>
            <a:r>
              <a:rPr sz="933">
                <a:solidFill>
                  <a:srgbClr val="40A070"/>
                </a:solidFill>
                <a:latin typeface="Courier"/>
              </a:rPr>
              <a:t>0.7</a:t>
            </a:r>
            <a:r>
              <a:rPr sz="933">
                <a:latin typeface="Courier"/>
              </a:rPr>
              <a:t>, </a:t>
            </a:r>
            <a:r>
              <a:rPr sz="933">
                <a:solidFill>
                  <a:srgbClr val="40A070"/>
                </a:solidFill>
                <a:latin typeface="Courier"/>
              </a:rPr>
              <a:t>0.8</a:t>
            </a:r>
            <a:r>
              <a:rPr sz="933">
                <a:latin typeface="Courier"/>
              </a:rPr>
              <a:t>, </a:t>
            </a:r>
            <a:r>
              <a:rPr sz="933">
                <a:solidFill>
                  <a:srgbClr val="40A070"/>
                </a:solidFill>
                <a:latin typeface="Courier"/>
              </a:rPr>
              <a:t>0.9</a:t>
            </a:r>
            <a:r>
              <a:rPr sz="933">
                <a:latin typeface="Courier"/>
              </a:rPr>
              <a:t>, </a:t>
            </a:r>
            <a:r>
              <a:rPr sz="933">
                <a:solidFill>
                  <a:srgbClr val="40A070"/>
                </a:solidFill>
                <a:latin typeface="Courier"/>
              </a:rPr>
              <a:t>1</a:t>
            </a:r>
            <a:r>
              <a:rPr sz="933">
                <a:latin typeface="Courier"/>
              </a:rPr>
              <a:t>]</a:t>
            </a:r>
            <a:br>
              <a:rPr sz="933"/>
            </a:br>
            <a:br>
              <a:rPr sz="933"/>
            </a:br>
            <a:r>
              <a:rPr sz="933">
                <a:latin typeface="Courier"/>
              </a:rPr>
              <a:t>    </a:t>
            </a:r>
            <a:r>
              <a:rPr sz="933">
                <a:solidFill>
                  <a:srgbClr val="008000"/>
                </a:solidFill>
                <a:latin typeface="Courier"/>
              </a:rPr>
              <a:t>print</a:t>
            </a:r>
            <a:r>
              <a:rPr sz="933">
                <a:latin typeface="Courier"/>
              </a:rPr>
              <a:t>(</a:t>
            </a:r>
            <a:r>
              <a:rPr sz="933">
                <a:solidFill>
                  <a:srgbClr val="4070A0"/>
                </a:solidFill>
                <a:latin typeface="Courier"/>
              </a:rPr>
              <a:t>"\n=== Tuning KNN on validation set ==="</a:t>
            </a:r>
            <a:r>
              <a:rPr sz="933">
                <a:latin typeface="Courier"/>
              </a:rPr>
              <a:t>)</a:t>
            </a:r>
            <a:br>
              <a:rPr sz="933"/>
            </a:br>
            <a:r>
              <a:rPr sz="933">
                <a:latin typeface="Courier"/>
              </a:rPr>
              <a:t>    </a:t>
            </a:r>
            <a:r>
              <a:rPr sz="933" err="1">
                <a:latin typeface="Courier"/>
              </a:rPr>
              <a:t>best_k</a:t>
            </a:r>
            <a:r>
              <a:rPr sz="933">
                <a:latin typeface="Courier"/>
              </a:rPr>
              <a:t>, </a:t>
            </a:r>
            <a:r>
              <a:rPr sz="933" err="1">
                <a:latin typeface="Courier"/>
              </a:rPr>
              <a:t>best_w</a:t>
            </a:r>
            <a:r>
              <a:rPr sz="933">
                <a:latin typeface="Courier"/>
              </a:rPr>
              <a:t>, </a:t>
            </a:r>
            <a:r>
              <a:rPr sz="933" err="1">
                <a:latin typeface="Courier"/>
              </a:rPr>
              <a:t>results_df</a:t>
            </a:r>
            <a:r>
              <a:rPr sz="933">
                <a:latin typeface="Courier"/>
              </a:rPr>
              <a:t> </a:t>
            </a:r>
            <a:r>
              <a:rPr sz="933">
                <a:solidFill>
                  <a:srgbClr val="666666"/>
                </a:solidFill>
                <a:latin typeface="Courier"/>
              </a:rPr>
              <a:t>=</a:t>
            </a:r>
            <a:r>
              <a:rPr sz="933">
                <a:latin typeface="Courier"/>
              </a:rPr>
              <a:t> </a:t>
            </a:r>
            <a:r>
              <a:rPr sz="933" err="1">
                <a:latin typeface="Courier"/>
              </a:rPr>
              <a:t>tune_knn</a:t>
            </a:r>
            <a:r>
              <a:rPr sz="933">
                <a:latin typeface="Courier"/>
              </a:rPr>
              <a:t>(</a:t>
            </a:r>
            <a:r>
              <a:rPr sz="933" err="1">
                <a:latin typeface="Courier"/>
              </a:rPr>
              <a:t>train_df</a:t>
            </a:r>
            <a:r>
              <a:rPr sz="933">
                <a:latin typeface="Courier"/>
              </a:rPr>
              <a:t>, </a:t>
            </a:r>
            <a:r>
              <a:rPr sz="933" err="1">
                <a:latin typeface="Courier"/>
              </a:rPr>
              <a:t>val_df</a:t>
            </a:r>
            <a:r>
              <a:rPr sz="933">
                <a:latin typeface="Courier"/>
              </a:rPr>
              <a:t>, </a:t>
            </a:r>
            <a:r>
              <a:rPr sz="933" err="1">
                <a:latin typeface="Courier"/>
              </a:rPr>
              <a:t>k_values</a:t>
            </a:r>
            <a:r>
              <a:rPr sz="933">
                <a:latin typeface="Courier"/>
              </a:rPr>
              <a:t>, </a:t>
            </a:r>
            <a:r>
              <a:rPr sz="933" err="1">
                <a:latin typeface="Courier"/>
              </a:rPr>
              <a:t>w_values</a:t>
            </a:r>
            <a:r>
              <a:rPr sz="933">
                <a:latin typeface="Courier"/>
              </a:rPr>
              <a:t>)</a:t>
            </a:r>
            <a:br>
              <a:rPr sz="933"/>
            </a:br>
            <a:br>
              <a:rPr sz="933"/>
            </a:br>
            <a:r>
              <a:rPr sz="933">
                <a:latin typeface="Courier"/>
              </a:rPr>
              <a:t>    </a:t>
            </a:r>
            <a:r>
              <a:rPr sz="933">
                <a:solidFill>
                  <a:srgbClr val="008000"/>
                </a:solidFill>
                <a:latin typeface="Courier"/>
              </a:rPr>
              <a:t>print</a:t>
            </a:r>
            <a:r>
              <a:rPr sz="933">
                <a:latin typeface="Courier"/>
              </a:rPr>
              <a:t>(</a:t>
            </a:r>
            <a:r>
              <a:rPr sz="933">
                <a:solidFill>
                  <a:srgbClr val="4070A0"/>
                </a:solidFill>
                <a:latin typeface="Courier"/>
              </a:rPr>
              <a:t>"\n=== Best hyperparameters from validation ==="</a:t>
            </a:r>
            <a:r>
              <a:rPr sz="933">
                <a:latin typeface="Courier"/>
              </a:rPr>
              <a:t>)</a:t>
            </a:r>
            <a:br>
              <a:rPr sz="933"/>
            </a:br>
            <a:r>
              <a:rPr sz="933">
                <a:latin typeface="Courier"/>
              </a:rPr>
              <a:t>    </a:t>
            </a:r>
            <a:r>
              <a:rPr sz="933">
                <a:solidFill>
                  <a:srgbClr val="008000"/>
                </a:solidFill>
                <a:latin typeface="Courier"/>
              </a:rPr>
              <a:t>print</a:t>
            </a:r>
            <a:r>
              <a:rPr sz="933">
                <a:latin typeface="Courier"/>
              </a:rPr>
              <a:t>(</a:t>
            </a:r>
            <a:r>
              <a:rPr sz="933" err="1">
                <a:solidFill>
                  <a:srgbClr val="BB6688"/>
                </a:solidFill>
                <a:latin typeface="Courier"/>
              </a:rPr>
              <a:t>f"best</a:t>
            </a:r>
            <a:r>
              <a:rPr sz="933">
                <a:solidFill>
                  <a:srgbClr val="BB6688"/>
                </a:solidFill>
                <a:latin typeface="Courier"/>
              </a:rPr>
              <a:t> k = </a:t>
            </a:r>
            <a:r>
              <a:rPr sz="933">
                <a:solidFill>
                  <a:srgbClr val="4070A0"/>
                </a:solidFill>
                <a:latin typeface="Courier"/>
              </a:rPr>
              <a:t>{</a:t>
            </a:r>
            <a:r>
              <a:rPr sz="933" err="1">
                <a:latin typeface="Courier"/>
              </a:rPr>
              <a:t>best_k</a:t>
            </a:r>
            <a:r>
              <a:rPr sz="933">
                <a:solidFill>
                  <a:srgbClr val="4070A0"/>
                </a:solidFill>
                <a:latin typeface="Courier"/>
              </a:rPr>
              <a:t>}</a:t>
            </a:r>
            <a:r>
              <a:rPr sz="933">
                <a:solidFill>
                  <a:srgbClr val="BB6688"/>
                </a:solidFill>
                <a:latin typeface="Courier"/>
              </a:rPr>
              <a:t>"</a:t>
            </a:r>
            <a:r>
              <a:rPr sz="933">
                <a:latin typeface="Courier"/>
              </a:rPr>
              <a:t>)</a:t>
            </a:r>
            <a:br>
              <a:rPr sz="933"/>
            </a:br>
            <a:r>
              <a:rPr sz="933">
                <a:latin typeface="Courier"/>
              </a:rPr>
              <a:t>    </a:t>
            </a:r>
            <a:r>
              <a:rPr sz="933">
                <a:solidFill>
                  <a:srgbClr val="008000"/>
                </a:solidFill>
                <a:latin typeface="Courier"/>
              </a:rPr>
              <a:t>print</a:t>
            </a:r>
            <a:r>
              <a:rPr sz="933">
                <a:latin typeface="Courier"/>
              </a:rPr>
              <a:t>(</a:t>
            </a:r>
            <a:r>
              <a:rPr sz="933" err="1">
                <a:solidFill>
                  <a:srgbClr val="BB6688"/>
                </a:solidFill>
                <a:latin typeface="Courier"/>
              </a:rPr>
              <a:t>f"best</a:t>
            </a:r>
            <a:r>
              <a:rPr sz="933">
                <a:solidFill>
                  <a:srgbClr val="BB6688"/>
                </a:solidFill>
                <a:latin typeface="Courier"/>
              </a:rPr>
              <a:t> w = </a:t>
            </a:r>
            <a:r>
              <a:rPr sz="933">
                <a:solidFill>
                  <a:srgbClr val="4070A0"/>
                </a:solidFill>
                <a:latin typeface="Courier"/>
              </a:rPr>
              <a:t>{</a:t>
            </a:r>
            <a:r>
              <a:rPr sz="933">
                <a:latin typeface="Courier"/>
              </a:rPr>
              <a:t>best_w</a:t>
            </a:r>
            <a:r>
              <a:rPr sz="933">
                <a:solidFill>
                  <a:srgbClr val="4070A0"/>
                </a:solidFill>
                <a:latin typeface="Courier"/>
              </a:rPr>
              <a:t>:.4f}</a:t>
            </a:r>
            <a:r>
              <a:rPr sz="933">
                <a:solidFill>
                  <a:srgbClr val="BB6688"/>
                </a:solidFill>
                <a:latin typeface="Courier"/>
              </a:rPr>
              <a:t>"</a:t>
            </a:r>
            <a:r>
              <a:rPr sz="933">
                <a:latin typeface="Courier"/>
              </a:rPr>
              <a:t>)</a:t>
            </a:r>
            <a:br>
              <a:rPr sz="933"/>
            </a:br>
            <a:br>
              <a:rPr sz="933"/>
            </a:br>
            <a:r>
              <a:rPr sz="933">
                <a:latin typeface="Courier"/>
              </a:rPr>
              <a:t>    </a:t>
            </a:r>
            <a:r>
              <a:rPr sz="933" err="1">
                <a:latin typeface="Courier"/>
              </a:rPr>
              <a:t>train_val_df</a:t>
            </a:r>
            <a:r>
              <a:rPr sz="933">
                <a:latin typeface="Courier"/>
              </a:rPr>
              <a:t> </a:t>
            </a:r>
            <a:r>
              <a:rPr sz="933">
                <a:solidFill>
                  <a:srgbClr val="666666"/>
                </a:solidFill>
                <a:latin typeface="Courier"/>
              </a:rPr>
              <a:t>=</a:t>
            </a:r>
            <a:r>
              <a:rPr sz="933">
                <a:latin typeface="Courier"/>
              </a:rPr>
              <a:t> </a:t>
            </a:r>
            <a:r>
              <a:rPr sz="933" err="1">
                <a:latin typeface="Courier"/>
              </a:rPr>
              <a:t>pd.concat</a:t>
            </a:r>
            <a:r>
              <a:rPr sz="933">
                <a:latin typeface="Courier"/>
              </a:rPr>
              <a:t>([</a:t>
            </a:r>
            <a:r>
              <a:rPr sz="933" err="1">
                <a:latin typeface="Courier"/>
              </a:rPr>
              <a:t>train_df</a:t>
            </a:r>
            <a:r>
              <a:rPr sz="933">
                <a:latin typeface="Courier"/>
              </a:rPr>
              <a:t>, </a:t>
            </a:r>
            <a:r>
              <a:rPr sz="933" err="1">
                <a:latin typeface="Courier"/>
              </a:rPr>
              <a:t>val_df</a:t>
            </a:r>
            <a:r>
              <a:rPr sz="933">
                <a:latin typeface="Courier"/>
              </a:rPr>
              <a:t>], </a:t>
            </a:r>
            <a:r>
              <a:rPr sz="933" err="1">
                <a:latin typeface="Courier"/>
              </a:rPr>
              <a:t>ignore_index</a:t>
            </a:r>
            <a:r>
              <a:rPr sz="933">
                <a:solidFill>
                  <a:srgbClr val="666666"/>
                </a:solidFill>
                <a:latin typeface="Courier"/>
              </a:rPr>
              <a:t>=</a:t>
            </a:r>
            <a:r>
              <a:rPr sz="933">
                <a:solidFill>
                  <a:srgbClr val="19177C"/>
                </a:solidFill>
                <a:latin typeface="Courier"/>
              </a:rPr>
              <a:t>True</a:t>
            </a:r>
            <a:r>
              <a:rPr sz="933">
                <a:latin typeface="Courier"/>
              </a:rPr>
              <a:t>)</a:t>
            </a:r>
            <a:br>
              <a:rPr sz="933"/>
            </a:br>
            <a:br>
              <a:rPr sz="933"/>
            </a:br>
            <a:r>
              <a:rPr sz="933">
                <a:latin typeface="Courier"/>
              </a:rPr>
              <a:t>    </a:t>
            </a:r>
            <a:r>
              <a:rPr sz="933">
                <a:solidFill>
                  <a:srgbClr val="008000"/>
                </a:solidFill>
                <a:latin typeface="Courier"/>
              </a:rPr>
              <a:t>print</a:t>
            </a:r>
            <a:r>
              <a:rPr sz="933">
                <a:latin typeface="Courier"/>
              </a:rPr>
              <a:t>(</a:t>
            </a:r>
            <a:r>
              <a:rPr sz="933">
                <a:solidFill>
                  <a:srgbClr val="4070A0"/>
                </a:solidFill>
                <a:latin typeface="Courier"/>
              </a:rPr>
              <a:t>"\n=== Evaluating on test set ==="</a:t>
            </a:r>
            <a:r>
              <a:rPr sz="933">
                <a:latin typeface="Courier"/>
              </a:rPr>
              <a:t>)</a:t>
            </a:r>
            <a:br>
              <a:rPr sz="933"/>
            </a:br>
            <a:r>
              <a:rPr sz="933">
                <a:latin typeface="Courier"/>
              </a:rPr>
              <a:t>    </a:t>
            </a:r>
            <a:r>
              <a:rPr sz="933" err="1">
                <a:latin typeface="Courier"/>
              </a:rPr>
              <a:t>y_test_true</a:t>
            </a:r>
            <a:r>
              <a:rPr sz="933">
                <a:latin typeface="Courier"/>
              </a:rPr>
              <a:t> </a:t>
            </a:r>
            <a:r>
              <a:rPr sz="933">
                <a:solidFill>
                  <a:srgbClr val="666666"/>
                </a:solidFill>
                <a:latin typeface="Courier"/>
              </a:rPr>
              <a:t>=</a:t>
            </a:r>
            <a:r>
              <a:rPr sz="933">
                <a:latin typeface="Courier"/>
              </a:rPr>
              <a:t> </a:t>
            </a:r>
            <a:r>
              <a:rPr sz="933" err="1">
                <a:latin typeface="Courier"/>
              </a:rPr>
              <a:t>test_df</a:t>
            </a:r>
            <a:r>
              <a:rPr sz="933">
                <a:latin typeface="Courier"/>
              </a:rPr>
              <a:t>[</a:t>
            </a:r>
            <a:r>
              <a:rPr sz="933">
                <a:solidFill>
                  <a:srgbClr val="4070A0"/>
                </a:solidFill>
                <a:latin typeface="Courier"/>
              </a:rPr>
              <a:t>"TT_DW_CRM"</a:t>
            </a:r>
            <a:r>
              <a:rPr sz="933">
                <a:latin typeface="Courier"/>
              </a:rPr>
              <a:t>].</a:t>
            </a:r>
            <a:r>
              <a:rPr sz="933" err="1">
                <a:latin typeface="Courier"/>
              </a:rPr>
              <a:t>to_numpy</a:t>
            </a:r>
            <a:r>
              <a:rPr sz="933">
                <a:latin typeface="Courier"/>
              </a:rPr>
              <a:t>(</a:t>
            </a:r>
            <a:r>
              <a:rPr sz="933" err="1">
                <a:latin typeface="Courier"/>
              </a:rPr>
              <a:t>dtype</a:t>
            </a:r>
            <a:r>
              <a:rPr sz="933">
                <a:solidFill>
                  <a:srgbClr val="666666"/>
                </a:solidFill>
                <a:latin typeface="Courier"/>
              </a:rPr>
              <a:t>=</a:t>
            </a:r>
            <a:r>
              <a:rPr sz="933">
                <a:solidFill>
                  <a:srgbClr val="008000"/>
                </a:solidFill>
                <a:latin typeface="Courier"/>
              </a:rPr>
              <a:t>float</a:t>
            </a:r>
            <a:r>
              <a:rPr sz="933">
                <a:latin typeface="Courier"/>
              </a:rPr>
              <a:t>)</a:t>
            </a:r>
            <a:br>
              <a:rPr sz="933"/>
            </a:br>
            <a:r>
              <a:rPr sz="933">
                <a:latin typeface="Courier"/>
              </a:rPr>
              <a:t>    </a:t>
            </a:r>
            <a:r>
              <a:rPr sz="933" err="1">
                <a:latin typeface="Courier"/>
              </a:rPr>
              <a:t>y_test_pred</a:t>
            </a:r>
            <a:r>
              <a:rPr sz="933">
                <a:latin typeface="Courier"/>
              </a:rPr>
              <a:t> </a:t>
            </a:r>
            <a:r>
              <a:rPr sz="933">
                <a:solidFill>
                  <a:srgbClr val="666666"/>
                </a:solidFill>
                <a:latin typeface="Courier"/>
              </a:rPr>
              <a:t>=</a:t>
            </a:r>
            <a:r>
              <a:rPr sz="933">
                <a:latin typeface="Courier"/>
              </a:rPr>
              <a:t> </a:t>
            </a:r>
            <a:r>
              <a:rPr sz="933" err="1">
                <a:latin typeface="Courier"/>
              </a:rPr>
              <a:t>knn_predict_dataset</a:t>
            </a:r>
            <a:r>
              <a:rPr sz="933">
                <a:latin typeface="Courier"/>
              </a:rPr>
              <a:t>(</a:t>
            </a:r>
            <a:r>
              <a:rPr sz="933" err="1">
                <a:latin typeface="Courier"/>
              </a:rPr>
              <a:t>test_df</a:t>
            </a:r>
            <a:r>
              <a:rPr sz="933">
                <a:latin typeface="Courier"/>
              </a:rPr>
              <a:t>, </a:t>
            </a:r>
            <a:r>
              <a:rPr sz="933" err="1">
                <a:latin typeface="Courier"/>
              </a:rPr>
              <a:t>train_val_df</a:t>
            </a:r>
            <a:r>
              <a:rPr sz="933">
                <a:latin typeface="Courier"/>
              </a:rPr>
              <a:t>, </a:t>
            </a:r>
            <a:r>
              <a:rPr sz="933" err="1">
                <a:latin typeface="Courier"/>
              </a:rPr>
              <a:t>best_k</a:t>
            </a:r>
            <a:r>
              <a:rPr sz="933">
                <a:latin typeface="Courier"/>
              </a:rPr>
              <a:t>, </a:t>
            </a:r>
            <a:r>
              <a:rPr sz="933" err="1">
                <a:latin typeface="Courier"/>
              </a:rPr>
              <a:t>best_w</a:t>
            </a:r>
            <a:r>
              <a:rPr sz="933">
                <a:latin typeface="Courier"/>
              </a:rPr>
              <a:t>)</a:t>
            </a:r>
            <a:br>
              <a:rPr sz="933"/>
            </a:br>
            <a:r>
              <a:rPr sz="933">
                <a:latin typeface="Courier"/>
              </a:rPr>
              <a:t>    </a:t>
            </a:r>
            <a:r>
              <a:rPr sz="933" err="1">
                <a:latin typeface="Courier"/>
              </a:rPr>
              <a:t>test_mse</a:t>
            </a:r>
            <a:r>
              <a:rPr sz="933">
                <a:latin typeface="Courier"/>
              </a:rPr>
              <a:t> </a:t>
            </a:r>
            <a:r>
              <a:rPr sz="933">
                <a:solidFill>
                  <a:srgbClr val="666666"/>
                </a:solidFill>
                <a:latin typeface="Courier"/>
              </a:rPr>
              <a:t>=</a:t>
            </a:r>
            <a:r>
              <a:rPr sz="933">
                <a:latin typeface="Courier"/>
              </a:rPr>
              <a:t> </a:t>
            </a:r>
            <a:r>
              <a:rPr sz="933" err="1">
                <a:latin typeface="Courier"/>
              </a:rPr>
              <a:t>rmse</a:t>
            </a:r>
            <a:r>
              <a:rPr sz="933">
                <a:latin typeface="Courier"/>
              </a:rPr>
              <a:t>(</a:t>
            </a:r>
            <a:r>
              <a:rPr sz="933" err="1">
                <a:latin typeface="Courier"/>
              </a:rPr>
              <a:t>y_test_true</a:t>
            </a:r>
            <a:r>
              <a:rPr sz="933">
                <a:latin typeface="Courier"/>
              </a:rPr>
              <a:t>, </a:t>
            </a:r>
            <a:r>
              <a:rPr sz="933" err="1">
                <a:latin typeface="Courier"/>
              </a:rPr>
              <a:t>y_test_pred</a:t>
            </a:r>
            <a:r>
              <a:rPr sz="933">
                <a:latin typeface="Courier"/>
              </a:rPr>
              <a:t>)</a:t>
            </a:r>
            <a:br>
              <a:rPr sz="933"/>
            </a:br>
            <a:br>
              <a:rPr sz="933"/>
            </a:br>
            <a:r>
              <a:rPr sz="933">
                <a:latin typeface="Courier"/>
              </a:rPr>
              <a:t>    </a:t>
            </a:r>
            <a:r>
              <a:rPr sz="933">
                <a:solidFill>
                  <a:srgbClr val="008000"/>
                </a:solidFill>
                <a:latin typeface="Courier"/>
              </a:rPr>
              <a:t>print</a:t>
            </a:r>
            <a:r>
              <a:rPr sz="933">
                <a:latin typeface="Courier"/>
              </a:rPr>
              <a:t>(</a:t>
            </a:r>
            <a:r>
              <a:rPr sz="933" err="1">
                <a:solidFill>
                  <a:srgbClr val="BB6688"/>
                </a:solidFill>
                <a:latin typeface="Courier"/>
              </a:rPr>
              <a:t>f"Test</a:t>
            </a:r>
            <a:r>
              <a:rPr sz="933">
                <a:solidFill>
                  <a:srgbClr val="BB6688"/>
                </a:solidFill>
                <a:latin typeface="Courier"/>
              </a:rPr>
              <a:t> RMSE with k=</a:t>
            </a:r>
            <a:r>
              <a:rPr sz="933">
                <a:solidFill>
                  <a:srgbClr val="4070A0"/>
                </a:solidFill>
                <a:latin typeface="Courier"/>
              </a:rPr>
              <a:t>{</a:t>
            </a:r>
            <a:r>
              <a:rPr sz="933" err="1">
                <a:latin typeface="Courier"/>
              </a:rPr>
              <a:t>best_k</a:t>
            </a:r>
            <a:r>
              <a:rPr sz="933">
                <a:solidFill>
                  <a:srgbClr val="4070A0"/>
                </a:solidFill>
                <a:latin typeface="Courier"/>
              </a:rPr>
              <a:t>}</a:t>
            </a:r>
            <a:r>
              <a:rPr sz="933">
                <a:solidFill>
                  <a:srgbClr val="BB6688"/>
                </a:solidFill>
                <a:latin typeface="Courier"/>
              </a:rPr>
              <a:t>, w=</a:t>
            </a:r>
            <a:r>
              <a:rPr sz="933">
                <a:solidFill>
                  <a:srgbClr val="4070A0"/>
                </a:solidFill>
                <a:latin typeface="Courier"/>
              </a:rPr>
              <a:t>{</a:t>
            </a:r>
            <a:r>
              <a:rPr sz="933">
                <a:latin typeface="Courier"/>
              </a:rPr>
              <a:t>best_w</a:t>
            </a:r>
            <a:r>
              <a:rPr sz="933">
                <a:solidFill>
                  <a:srgbClr val="4070A0"/>
                </a:solidFill>
                <a:latin typeface="Courier"/>
              </a:rPr>
              <a:t>:.4f}</a:t>
            </a:r>
            <a:r>
              <a:rPr sz="933">
                <a:solidFill>
                  <a:srgbClr val="BB6688"/>
                </a:solidFill>
                <a:latin typeface="Courier"/>
              </a:rPr>
              <a:t>: </a:t>
            </a:r>
            <a:r>
              <a:rPr sz="933">
                <a:solidFill>
                  <a:srgbClr val="4070A0"/>
                </a:solidFill>
                <a:latin typeface="Courier"/>
              </a:rPr>
              <a:t>{</a:t>
            </a:r>
            <a:r>
              <a:rPr sz="933">
                <a:latin typeface="Courier"/>
              </a:rPr>
              <a:t>test_mse</a:t>
            </a:r>
            <a:r>
              <a:rPr sz="933">
                <a:solidFill>
                  <a:srgbClr val="4070A0"/>
                </a:solidFill>
                <a:latin typeface="Courier"/>
              </a:rPr>
              <a:t>:.4f}</a:t>
            </a:r>
            <a:r>
              <a:rPr sz="933">
                <a:solidFill>
                  <a:srgbClr val="BB6688"/>
                </a:solidFill>
                <a:latin typeface="Courier"/>
              </a:rPr>
              <a:t>"</a:t>
            </a:r>
            <a:r>
              <a:rPr sz="933">
                <a:latin typeface="Courier"/>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p:sp>
        <p:nvSpPr>
          <p:cNvPr id="3" name="Content Placeholder 2"/>
          <p:cNvSpPr>
            <a:spLocks noGrp="1"/>
          </p:cNvSpPr>
          <p:nvPr>
            <p:ph idx="1"/>
          </p:nvPr>
        </p:nvSpPr>
        <p:spPr>
          <a:xfrm>
            <a:off x="3577390" y="1528013"/>
            <a:ext cx="5037221" cy="4720388"/>
          </a:xfrm>
        </p:spPr>
        <p:txBody>
          <a:bodyPr>
            <a:normAutofit fontScale="70000" lnSpcReduction="20000"/>
          </a:bodyPr>
          <a:lstStyle/>
          <a:p>
            <a:pPr marL="0" indent="0">
              <a:buNone/>
            </a:pPr>
            <a:r>
              <a:t>Loaded train: 45693 rows </a:t>
            </a:r>
            <a:endParaRPr lang="en-US"/>
          </a:p>
          <a:p>
            <a:pPr marL="0" indent="0">
              <a:buNone/>
            </a:pPr>
            <a:r>
              <a:t>Loaded </a:t>
            </a:r>
            <a:r>
              <a:rPr err="1"/>
              <a:t>val</a:t>
            </a:r>
            <a:r>
              <a:t> : 45693 rows </a:t>
            </a:r>
            <a:endParaRPr lang="en-US"/>
          </a:p>
          <a:p>
            <a:pPr marL="0" indent="0">
              <a:buNone/>
            </a:pPr>
            <a:r>
              <a:t>Loaded test : 45693 rows</a:t>
            </a:r>
          </a:p>
          <a:p>
            <a:pPr marL="0" indent="0">
              <a:buNone/>
            </a:pPr>
            <a:r>
              <a:t>…</a:t>
            </a:r>
          </a:p>
          <a:p>
            <a:pPr marL="0" indent="0">
              <a:buNone/>
            </a:pPr>
            <a:r>
              <a:t>[tuning] k= 5, w=0.60, </a:t>
            </a:r>
            <a:r>
              <a:rPr err="1"/>
              <a:t>val</a:t>
            </a:r>
            <a:r>
              <a:t> MSE=5831.4643 [tuning] k= 5, w=0.70, </a:t>
            </a:r>
            <a:r>
              <a:rPr err="1"/>
              <a:t>val</a:t>
            </a:r>
            <a:r>
              <a:t> MSE=5753.9214 [tuning] k= 5, w=0.80, </a:t>
            </a:r>
            <a:r>
              <a:rPr err="1"/>
              <a:t>val</a:t>
            </a:r>
            <a:r>
              <a:t> MSE=5792.6495 [tuning] k= 5, w=0.90, </a:t>
            </a:r>
            <a:r>
              <a:rPr err="1"/>
              <a:t>val</a:t>
            </a:r>
            <a:r>
              <a:t> MSE=5790.2028 [tuning] k= 5, w=1.00, </a:t>
            </a:r>
            <a:r>
              <a:rPr err="1"/>
              <a:t>val</a:t>
            </a:r>
            <a:r>
              <a:t> MSE=5806.9425 [tuning] k= 7, w=0.10, </a:t>
            </a:r>
            <a:r>
              <a:rPr err="1"/>
              <a:t>val</a:t>
            </a:r>
            <a:r>
              <a:t> MSE=10288.6802 [tuning] k= 7, w=0.20, </a:t>
            </a:r>
            <a:r>
              <a:rPr err="1"/>
              <a:t>val</a:t>
            </a:r>
            <a:r>
              <a:t> MSE=8747.6378 [tuning] k= 7, w=0.30, </a:t>
            </a:r>
            <a:r>
              <a:rPr err="1"/>
              <a:t>val</a:t>
            </a:r>
            <a:r>
              <a:t> MSE=8124.6907</a:t>
            </a:r>
          </a:p>
          <a:p>
            <a:pPr marL="0" indent="0">
              <a:buNone/>
            </a:pPr>
            <a:r>
              <a:t>…</a:t>
            </a:r>
          </a:p>
          <a:p>
            <a:pPr marL="0" indent="0">
              <a:buNone/>
            </a:pPr>
            <a:r>
              <a:t>=== Best hyperparameters from validation === best k = 1 best w = 0.7000</a:t>
            </a:r>
          </a:p>
          <a:p>
            <a:pPr marL="0" indent="0">
              <a:buNone/>
            </a:pPr>
            <a:r>
              <a:t>=== Evaluating on test set === Test MSE with k=1, w=0.7000: 1725.0147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Aiden Thakur model results</a:t>
            </a:r>
          </a:p>
        </p:txBody>
      </p:sp>
      <p:sp>
        <p:nvSpPr>
          <p:cNvPr id="3" name="Content Placeholder 2"/>
          <p:cNvSpPr>
            <a:spLocks noGrp="1"/>
          </p:cNvSpPr>
          <p:nvPr>
            <p:ph idx="1"/>
          </p:nvPr>
        </p:nvSpPr>
        <p:spPr/>
        <p:txBody>
          <a:bodyPr/>
          <a:lstStyle/>
          <a:p>
            <a:pPr marL="457189" indent="-457189">
              <a:buAutoNum type="arabicPeriod"/>
            </a:pPr>
            <a:r>
              <a:t>Standard with interaction 706.27 247.56 0.9986</a:t>
            </a:r>
          </a:p>
          <a:p>
            <a:pPr marL="457189" indent="-457189">
              <a:buAutoNum type="arabicPeriod"/>
            </a:pPr>
            <a:r>
              <a:t>Log transform response 342871.03 3473.56 -337.7092</a:t>
            </a:r>
          </a:p>
          <a:p>
            <a:pPr marL="457189" indent="-457189">
              <a:buAutoNum type="arabicPeriod"/>
            </a:pPr>
            <a:r>
              <a:t>Cube root transform response 7534.54 289.21 0.8364</a:t>
            </a:r>
          </a:p>
          <a:p>
            <a:pPr marL="457189" indent="-457189">
              <a:buAutoNum type="arabicPeriod"/>
            </a:pPr>
            <a:r>
              <a:t>Log-Log (simple allometric) 11210.67 429.72 0.6379</a:t>
            </a:r>
          </a:p>
          <a:p>
            <a:pPr marL="457189" indent="-457189">
              <a:buAutoNum type="arabicPeriod"/>
            </a:pPr>
            <a:r>
              <a:t>Log-Log with interaction 27691.32 803.40 -1.2093</a:t>
            </a:r>
          </a:p>
          <a:p>
            <a:pPr marL="457189" indent="-457189">
              <a:buAutoNum type="arabicPeriod"/>
            </a:pPr>
            <a:r>
              <a:t>Log-Log with polynomial 14082.93 549.61 0.4286</a:t>
            </a:r>
          </a:p>
          <a:p>
            <a:pPr marL="457189" indent="-457189">
              <a:buAutoNum type="arabicPeriod"/>
            </a:pPr>
            <a:r>
              <a:t>Log-Log full (poly + interaction) 12244.29 515.54 0.5681</a:t>
            </a:r>
          </a:p>
          <a:p>
            <a:pPr marL="0" indent="0">
              <a:buNone/>
            </a:pPr>
            <a:r>
              <a:t>Best Model by RMSE: Model 1 (Standard with interaction)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lstStyle/>
          <a:p>
            <a:r>
              <a:t>Final Model on Test</a:t>
            </a:r>
          </a:p>
        </p:txBody>
      </p:sp>
      <p:sp>
        <p:nvSpPr>
          <p:cNvPr id="4" name="Text Placeholder 3"/>
          <p:cNvSpPr>
            <a:spLocks noGrp="1"/>
          </p:cNvSpPr>
          <p:nvPr>
            <p:ph type="body" sz="half" idx="2"/>
          </p:nvPr>
        </p:nvSpPr>
        <p:spPr/>
        <p:txBody>
          <a:bodyPr>
            <a:normAutofit lnSpcReduction="10000"/>
          </a:bodyPr>
          <a:lstStyle/>
          <a:p>
            <a:r>
              <a:t>Biomass= β0 ​+ β1​⋅DBH+ β2​⋅Height+ β3​⋅DBH2+ β4​⋅(DBH×Height)+ β5​⋅(DBH2×Height)</a:t>
            </a:r>
          </a:p>
          <a:p>
            <a:r>
              <a:t>Test Set Performance: RMSE (main): 689.83 kg</a:t>
            </a:r>
          </a:p>
          <a:p>
            <a:r>
              <a:t>MAE: 259.86 kg</a:t>
            </a:r>
          </a:p>
          <a:p>
            <a:r>
              <a:t>R²: 0.9985</a:t>
            </a:r>
          </a:p>
          <a:p>
            <a:r>
              <a:t>Final Model Coefficients: Intercept: -414.305477</a:t>
            </a:r>
          </a:p>
          <a:p>
            <a:r>
              <a:t>HT_TOT : -5.552647 / DO_BH_sq : -1.423557 / DO_BH_x_HT : 0.252686 / DO_BH2_x_HT : 0.049973 /</a:t>
            </a:r>
          </a:p>
          <a:p>
            <a:r>
              <a:rPr>
                <a:latin typeface="Courier"/>
              </a:rPr>
              <a:t>Table: Compare Interval Widths and Coverage</a:t>
            </a:r>
          </a:p>
        </p:txBody>
      </p:sp>
      <p:graphicFrame>
        <p:nvGraphicFramePr>
          <p:cNvPr id="6" name="Content Placeholder 5"/>
          <p:cNvGraphicFramePr>
            <a:graphicFrameLocks noGrp="1"/>
          </p:cNvGraphicFramePr>
          <p:nvPr>
            <p:ph idx="1"/>
          </p:nvPr>
        </p:nvGraphicFramePr>
        <p:xfrm>
          <a:off x="4758267" y="270933"/>
          <a:ext cx="6773333" cy="228600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0000"/>
                    </a:ext>
                  </a:extLst>
                </a:gridCol>
                <a:gridCol w="1354667">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1354667">
                  <a:extLst>
                    <a:ext uri="{9D8B030D-6E8A-4147-A177-3AD203B41FA5}">
                      <a16:colId xmlns:a16="http://schemas.microsoft.com/office/drawing/2014/main" val="20003"/>
                    </a:ext>
                  </a:extLst>
                </a:gridCol>
                <a:gridCol w="1354667">
                  <a:extLst>
                    <a:ext uri="{9D8B030D-6E8A-4147-A177-3AD203B41FA5}">
                      <a16:colId xmlns:a16="http://schemas.microsoft.com/office/drawing/2014/main" val="20004"/>
                    </a:ext>
                  </a:extLst>
                </a:gridCol>
              </a:tblGrid>
              <a:tr h="853440">
                <a:tc>
                  <a:txBody>
                    <a:bodyPr/>
                    <a:lstStyle/>
                    <a:p>
                      <a:endParaRPr sz="2400"/>
                    </a:p>
                  </a:txBody>
                  <a:tcPr marL="121920" marR="121920" marT="60960" marB="60960"/>
                </a:tc>
                <a:tc>
                  <a:txBody>
                    <a:bodyPr/>
                    <a:lstStyle/>
                    <a:p>
                      <a:pPr marL="0" lvl="0" indent="0">
                        <a:buNone/>
                      </a:pPr>
                      <a:r>
                        <a:rPr sz="2400"/>
                        <a:t>Method</a:t>
                      </a:r>
                    </a:p>
                  </a:txBody>
                  <a:tcPr marL="121920" marR="121920" marT="60960" marB="60960"/>
                </a:tc>
                <a:tc>
                  <a:txBody>
                    <a:bodyPr/>
                    <a:lstStyle/>
                    <a:p>
                      <a:pPr marL="0" lvl="0" indent="0">
                        <a:buNone/>
                      </a:pPr>
                      <a:r>
                        <a:rPr sz="2400"/>
                        <a:t>Average Width</a:t>
                      </a:r>
                    </a:p>
                  </a:txBody>
                  <a:tcPr marL="121920" marR="121920" marT="60960" marB="60960"/>
                </a:tc>
                <a:tc>
                  <a:txBody>
                    <a:bodyPr/>
                    <a:lstStyle/>
                    <a:p>
                      <a:pPr marL="0" lvl="0" indent="0">
                        <a:buNone/>
                      </a:pPr>
                      <a:r>
                        <a:rPr sz="2400"/>
                        <a:t>Coverage (Full)</a:t>
                      </a:r>
                    </a:p>
                  </a:txBody>
                  <a:tcPr marL="121920" marR="121920" marT="60960" marB="60960"/>
                </a:tc>
                <a:tc>
                  <a:txBody>
                    <a:bodyPr/>
                    <a:lstStyle/>
                    <a:p>
                      <a:pPr marL="0" lvl="0" indent="0">
                        <a:buNone/>
                      </a:pPr>
                      <a:r>
                        <a:rPr sz="2400"/>
                        <a:t>Coverage (Cal)</a:t>
                      </a:r>
                    </a:p>
                  </a:txBody>
                  <a:tcPr marL="121920" marR="121920" marT="60960" marB="60960"/>
                </a:tc>
                <a:extLst>
                  <a:ext uri="{0D108BD9-81ED-4DB2-BD59-A6C34878D82A}">
                    <a16:rowId xmlns:a16="http://schemas.microsoft.com/office/drawing/2014/main" val="10000"/>
                  </a:ext>
                </a:extLst>
              </a:tr>
              <a:tr h="1584960">
                <a:tc>
                  <a:txBody>
                    <a:bodyPr/>
                    <a:lstStyle/>
                    <a:p>
                      <a:pPr marL="0" lvl="0" indent="0">
                        <a:buNone/>
                      </a:pPr>
                      <a:r>
                        <a:rPr sz="2400"/>
                        <a:t>0</a:t>
                      </a:r>
                    </a:p>
                  </a:txBody>
                  <a:tcPr marL="121920" marR="121920" marT="60960" marB="60960"/>
                </a:tc>
                <a:tc>
                  <a:txBody>
                    <a:bodyPr/>
                    <a:lstStyle/>
                    <a:p>
                      <a:pPr marL="0" lvl="0" indent="0">
                        <a:buNone/>
                      </a:pPr>
                      <a:r>
                        <a:rPr sz="2400"/>
                        <a:t>Linear Regression (t-based)</a:t>
                      </a:r>
                    </a:p>
                  </a:txBody>
                  <a:tcPr marL="121920" marR="121920" marT="60960" marB="60960"/>
                </a:tc>
                <a:tc>
                  <a:txBody>
                    <a:bodyPr/>
                    <a:lstStyle/>
                    <a:p>
                      <a:pPr marL="0" lvl="0" indent="0">
                        <a:buNone/>
                      </a:pPr>
                      <a:r>
                        <a:rPr sz="2400"/>
                        <a:t>2517.246608</a:t>
                      </a:r>
                    </a:p>
                  </a:txBody>
                  <a:tcPr marL="121920" marR="121920" marT="60960" marB="60960"/>
                </a:tc>
                <a:tc>
                  <a:txBody>
                    <a:bodyPr/>
                    <a:lstStyle/>
                    <a:p>
                      <a:pPr marL="0" lvl="0" indent="0">
                        <a:buNone/>
                      </a:pPr>
                      <a:r>
                        <a:rPr sz="2400"/>
                        <a:t>97.86%</a:t>
                      </a:r>
                    </a:p>
                  </a:txBody>
                  <a:tcPr marL="121920" marR="121920" marT="60960" marB="60960"/>
                </a:tc>
                <a:tc>
                  <a:txBody>
                    <a:bodyPr/>
                    <a:lstStyle/>
                    <a:p>
                      <a:pPr marL="0" lvl="0" indent="0">
                        <a:buNone/>
                      </a:pPr>
                      <a:r>
                        <a:rPr sz="2400"/>
                        <a:t>N/A</a:t>
                      </a:r>
                    </a:p>
                  </a:txBody>
                  <a:tcPr marL="121920" marR="121920" marT="60960" marB="60960"/>
                </a:tc>
                <a:extLst>
                  <a:ext uri="{0D108BD9-81ED-4DB2-BD59-A6C34878D82A}">
                    <a16:rowId xmlns:a16="http://schemas.microsoft.com/office/drawing/2014/main" val="10001"/>
                  </a:ext>
                </a:extLst>
              </a:tr>
              <a:tr h="1219200">
                <a:tc>
                  <a:txBody>
                    <a:bodyPr/>
                    <a:lstStyle/>
                    <a:p>
                      <a:pPr marL="0" lvl="0" indent="0">
                        <a:buNone/>
                      </a:pPr>
                      <a:r>
                        <a:rPr sz="2400"/>
                        <a:t>1</a:t>
                      </a:r>
                    </a:p>
                  </a:txBody>
                  <a:tcPr marL="121920" marR="121920" marT="60960" marB="60960"/>
                </a:tc>
                <a:tc>
                  <a:txBody>
                    <a:bodyPr/>
                    <a:lstStyle/>
                    <a:p>
                      <a:pPr marL="0" lvl="0" indent="0">
                        <a:buNone/>
                      </a:pPr>
                      <a:r>
                        <a:rPr sz="2400"/>
                        <a:t>Conformal (Split)</a:t>
                      </a:r>
                    </a:p>
                  </a:txBody>
                  <a:tcPr marL="121920" marR="121920" marT="60960" marB="60960"/>
                </a:tc>
                <a:tc>
                  <a:txBody>
                    <a:bodyPr/>
                    <a:lstStyle/>
                    <a:p>
                      <a:pPr marL="0" lvl="0" indent="0">
                        <a:buNone/>
                      </a:pPr>
                      <a:r>
                        <a:rPr sz="2400"/>
                        <a:t>1522.739503</a:t>
                      </a:r>
                    </a:p>
                  </a:txBody>
                  <a:tcPr marL="121920" marR="121920" marT="60960" marB="60960"/>
                </a:tc>
                <a:tc>
                  <a:txBody>
                    <a:bodyPr/>
                    <a:lstStyle/>
                    <a:p>
                      <a:pPr marL="0" lvl="0" indent="0">
                        <a:buNone/>
                      </a:pPr>
                      <a:r>
                        <a:rPr sz="2400"/>
                        <a:t>95.11%</a:t>
                      </a:r>
                    </a:p>
                  </a:txBody>
                  <a:tcPr marL="121920" marR="121920" marT="60960" marB="60960"/>
                </a:tc>
                <a:tc>
                  <a:txBody>
                    <a:bodyPr/>
                    <a:lstStyle/>
                    <a:p>
                      <a:pPr marL="0" lvl="0" indent="0">
                        <a:buNone/>
                      </a:pPr>
                      <a:r>
                        <a:rPr sz="2400"/>
                        <a:t>95.00%</a:t>
                      </a:r>
                    </a:p>
                  </a:txBody>
                  <a:tcPr marL="121920" marR="121920" marT="60960" marB="60960"/>
                </a:tc>
                <a:extLst>
                  <a:ext uri="{0D108BD9-81ED-4DB2-BD59-A6C34878D82A}">
                    <a16:rowId xmlns:a16="http://schemas.microsoft.com/office/drawing/2014/main" val="10002"/>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nal_model_files/figure-pptx/cell-11-output-1.png"/>
          <p:cNvPicPr>
            <a:picLocks noGrp="1" noChangeAspect="1"/>
          </p:cNvPicPr>
          <p:nvPr/>
        </p:nvPicPr>
        <p:blipFill>
          <a:blip r:embed="rId2"/>
          <a:stretch>
            <a:fillRect/>
          </a:stretch>
        </p:blipFill>
        <p:spPr bwMode="auto">
          <a:xfrm>
            <a:off x="1540933" y="1591733"/>
            <a:ext cx="9127067" cy="4521200"/>
          </a:xfrm>
          <a:prstGeom prst="rect">
            <a:avLst/>
          </a:prstGeom>
          <a:noFill/>
          <a:ln w="9525">
            <a:noFill/>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24</Slides>
  <Notes>0</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Thursday Thoroughbreds Biomass Prediction Project</vt:lpstr>
      <vt:lpstr>Data Overview</vt:lpstr>
      <vt:lpstr>Key Variables</vt:lpstr>
      <vt:lpstr>Elio Piccagli Simple Neural Network</vt:lpstr>
      <vt:lpstr>Modeling Strategy</vt:lpstr>
      <vt:lpstr>Modeling Architecture</vt:lpstr>
      <vt:lpstr>Training and Results</vt:lpstr>
      <vt:lpstr>Importance of Simple Model</vt:lpstr>
      <vt:lpstr>Emad Syed Linear Regression Model</vt:lpstr>
      <vt:lpstr>PowerPoint Presentation</vt:lpstr>
      <vt:lpstr>Feature Engineering: Predictors</vt:lpstr>
      <vt:lpstr>PowerPoint Presentation</vt:lpstr>
      <vt:lpstr>Validation/Test Performance</vt:lpstr>
      <vt:lpstr>Anthony Wolfe KNN Model</vt:lpstr>
      <vt:lpstr>Predicting a Single Point</vt:lpstr>
      <vt:lpstr>Weighted Distance Function</vt:lpstr>
      <vt:lpstr>Predicting Entire Dataset</vt:lpstr>
      <vt:lpstr>Tuning Parameters</vt:lpstr>
      <vt:lpstr>Error Metric (RMSE)</vt:lpstr>
      <vt:lpstr>Putting It All Together</vt:lpstr>
      <vt:lpstr>Results</vt:lpstr>
      <vt:lpstr>Aiden Thakur model results</vt:lpstr>
      <vt:lpstr>Final Model on Test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Tony Wolf</dc:creator>
  <cp:revision>2</cp:revision>
  <dcterms:created xsi:type="dcterms:W3CDTF">2025-12-15T17:32:46Z</dcterms:created>
  <dcterms:modified xsi:type="dcterms:W3CDTF">2025-12-16T02:52:59Z</dcterms:modified>
</cp:coreProperties>
</file>